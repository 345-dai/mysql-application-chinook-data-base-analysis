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5"/>
  </p:notesMasterIdLst>
  <p:sldIdLst>
    <p:sldId id="256" r:id="rId2"/>
    <p:sldId id="269" r:id="rId3"/>
    <p:sldId id="278" r:id="rId4"/>
    <p:sldId id="272" r:id="rId5"/>
    <p:sldId id="273" r:id="rId6"/>
    <p:sldId id="284" r:id="rId7"/>
    <p:sldId id="274" r:id="rId8"/>
    <p:sldId id="276" r:id="rId9"/>
    <p:sldId id="266" r:id="rId10"/>
    <p:sldId id="270" r:id="rId11"/>
    <p:sldId id="277" r:id="rId12"/>
    <p:sldId id="279" r:id="rId13"/>
    <p:sldId id="280" r:id="rId14"/>
    <p:sldId id="281" r:id="rId15"/>
    <p:sldId id="282" r:id="rId16"/>
    <p:sldId id="283" r:id="rId17"/>
    <p:sldId id="260" r:id="rId18"/>
    <p:sldId id="268" r:id="rId19"/>
    <p:sldId id="263" r:id="rId20"/>
    <p:sldId id="285" r:id="rId21"/>
    <p:sldId id="286" r:id="rId22"/>
    <p:sldId id="287" r:id="rId23"/>
    <p:sldId id="288" r:id="rId24"/>
  </p:sldIdLst>
  <p:sldSz cx="9144000" cy="6858000" type="screen4x3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0066"/>
    <a:srgbClr val="FF3300"/>
    <a:srgbClr val="FF3399"/>
    <a:srgbClr val="6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587" autoAdjust="0"/>
    <p:restoredTop sz="94660"/>
  </p:normalViewPr>
  <p:slideViewPr>
    <p:cSldViewPr>
      <p:cViewPr varScale="1">
        <p:scale>
          <a:sx n="66" d="100"/>
          <a:sy n="66" d="100"/>
        </p:scale>
        <p:origin x="-15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hmed%20Elashry\OneDrive\Desktop\&#1590;&#1610;\Book1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hmed%20Elashry\OneDrive\Desktop\&#1590;&#1610;\CHINOOK3COUNTRY.csv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hmed%20Elashry\OneDrive\Desktop\&#1590;&#1610;\CHINOOK4TOP10Tracks.csv" TargetMode="External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hmed%20Elashry\OneDrive\Desktop\&#1590;&#1610;\CHINOOK4bottom10Tracks.csv" TargetMode="External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ar-EG"/>
  <c:roundedCorners val="0"/>
  <mc:AlternateContent xmlns:mc="http://schemas.openxmlformats.org/markup-compatibility/2006">
    <mc:Choice xmlns:c14="http://schemas.microsoft.com/office/drawing/2007/8/2/chart" Requires="c14">
      <c14:style val="128"/>
    </mc:Choice>
    <mc:Fallback>
      <c:style val="2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>
                <a:solidFill>
                  <a:srgbClr val="FF0000"/>
                </a:solidFill>
              </a:defRPr>
            </a:pPr>
            <a:r>
              <a:rPr lang="en-US" sz="2400" dirty="0">
                <a:solidFill>
                  <a:srgbClr val="FF0000"/>
                </a:solidFill>
                <a:latin typeface="Constantia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nstantia" pitchFamily="18" charset="0"/>
              </a:rPr>
              <a:t>Sales by Year</a:t>
            </a:r>
            <a:endParaRPr lang="en-US" sz="2400" dirty="0">
              <a:solidFill>
                <a:srgbClr val="FF0000"/>
              </a:solidFill>
              <a:latin typeface="Constantia" pitchFamily="18" charset="0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3711714699967438E-2"/>
          <c:y val="0.188926284246171"/>
          <c:w val="0.89383771111494659"/>
          <c:h val="0.6967879677338609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TotalSales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dPt>
            <c:idx val="1"/>
            <c:bubble3D val="0"/>
          </c:dPt>
          <c:dLbls>
            <c:dLbl>
              <c:idx val="0"/>
              <c:layout>
                <c:manualLayout>
                  <c:x val="-7.2951443569553812E-2"/>
                  <c:y val="6.793999708369778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200" b="1">
                    <a:solidFill>
                      <a:srgbClr val="FF0000"/>
                    </a:solidFill>
                  </a:defRPr>
                </a:pPr>
                <a:endParaRPr lang="ar-EG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0.0</c:formatCode>
                <c:ptCount val="5"/>
                <c:pt idx="0">
                  <c:v>449.46</c:v>
                </c:pt>
                <c:pt idx="1">
                  <c:v>481.45</c:v>
                </c:pt>
                <c:pt idx="2">
                  <c:v>469.58</c:v>
                </c:pt>
                <c:pt idx="3">
                  <c:v>477.53</c:v>
                </c:pt>
                <c:pt idx="4">
                  <c:v>450.58</c:v>
                </c:pt>
              </c:numCache>
            </c:numRef>
          </c:val>
          <c:smooth val="0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8699264"/>
        <c:axId val="218700800"/>
      </c:lineChart>
      <c:catAx>
        <c:axId val="218699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95000"/>
              </a:schemeClr>
            </a:solidFill>
          </a:ln>
        </c:spPr>
        <c:txPr>
          <a:bodyPr/>
          <a:lstStyle/>
          <a:p>
            <a:pPr>
              <a:defRPr sz="1400" b="1">
                <a:solidFill>
                  <a:schemeClr val="bg1"/>
                </a:solidFill>
                <a:latin typeface="Constantia" pitchFamily="18" charset="0"/>
              </a:defRPr>
            </a:pPr>
            <a:endParaRPr lang="ar-EG"/>
          </a:p>
        </c:txPr>
        <c:crossAx val="218700800"/>
        <c:crosses val="autoZero"/>
        <c:auto val="1"/>
        <c:lblAlgn val="ctr"/>
        <c:lblOffset val="100"/>
        <c:noMultiLvlLbl val="0"/>
      </c:catAx>
      <c:valAx>
        <c:axId val="218700800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extTo"/>
        <c:spPr>
          <a:ln>
            <a:solidFill>
              <a:schemeClr val="bg1">
                <a:lumMod val="95000"/>
              </a:schemeClr>
            </a:solidFill>
          </a:ln>
        </c:spPr>
        <c:txPr>
          <a:bodyPr/>
          <a:lstStyle/>
          <a:p>
            <a:pPr>
              <a:defRPr b="1">
                <a:solidFill>
                  <a:schemeClr val="bg1"/>
                </a:solidFill>
                <a:latin typeface="Constantia" pitchFamily="18" charset="0"/>
              </a:defRPr>
            </a:pPr>
            <a:endParaRPr lang="ar-EG"/>
          </a:p>
        </c:txPr>
        <c:crossAx val="218699264"/>
        <c:crosses val="autoZero"/>
        <c:crossBetween val="between"/>
      </c:valAx>
      <c:spPr>
        <a:solidFill>
          <a:srgbClr val="ACCBF9">
            <a:lumMod val="10000"/>
          </a:srgbClr>
        </a:solidFill>
      </c:spPr>
    </c:plotArea>
    <c:plotVisOnly val="1"/>
    <c:dispBlanksAs val="gap"/>
    <c:showDLblsOverMax val="0"/>
  </c:chart>
  <c:spPr>
    <a:solidFill>
      <a:srgbClr val="ACCBF9">
        <a:lumMod val="10000"/>
      </a:srgbClr>
    </a:solidFill>
    <a:ln>
      <a:noFill/>
    </a:ln>
  </c:sp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ar-EG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2000">
                <a:solidFill>
                  <a:srgbClr val="FF0000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Sales</a:t>
            </a:r>
            <a:r>
              <a:rPr lang="ar-EG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by Country</a:t>
            </a:r>
          </a:p>
        </c:rich>
      </c:tx>
      <c:layout/>
      <c:overlay val="0"/>
      <c:spPr>
        <a:solidFill>
          <a:schemeClr val="tx2">
            <a:lumMod val="50000"/>
          </a:schemeClr>
        </a:solidFill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CHINOOK3COUNTRY!$B$1</c:f>
              <c:strCache>
                <c:ptCount val="1"/>
                <c:pt idx="0">
                  <c:v>TotalSales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CHINOOK3COUNTRY!$A$2:$A$25</c:f>
              <c:strCache>
                <c:ptCount val="24"/>
                <c:pt idx="0">
                  <c:v>Belgium</c:v>
                </c:pt>
                <c:pt idx="1">
                  <c:v>Australia</c:v>
                </c:pt>
                <c:pt idx="2">
                  <c:v>Spain</c:v>
                </c:pt>
                <c:pt idx="3">
                  <c:v>Denmark</c:v>
                </c:pt>
                <c:pt idx="4">
                  <c:v>Italy</c:v>
                </c:pt>
                <c:pt idx="5">
                  <c:v>Poland</c:v>
                </c:pt>
                <c:pt idx="6">
                  <c:v>Argentina</c:v>
                </c:pt>
                <c:pt idx="7">
                  <c:v>Sweden</c:v>
                </c:pt>
                <c:pt idx="8">
                  <c:v>Norway</c:v>
                </c:pt>
                <c:pt idx="9">
                  <c:v>Netherlands</c:v>
                </c:pt>
                <c:pt idx="10">
                  <c:v>Finland</c:v>
                </c:pt>
                <c:pt idx="11">
                  <c:v>Austria</c:v>
                </c:pt>
                <c:pt idx="12">
                  <c:v>Ireland</c:v>
                </c:pt>
                <c:pt idx="13">
                  <c:v>Hungary</c:v>
                </c:pt>
                <c:pt idx="14">
                  <c:v>Chile</c:v>
                </c:pt>
                <c:pt idx="15">
                  <c:v>India</c:v>
                </c:pt>
                <c:pt idx="16">
                  <c:v>Portugal</c:v>
                </c:pt>
                <c:pt idx="17">
                  <c:v>Czech Republic</c:v>
                </c:pt>
                <c:pt idx="18">
                  <c:v>United Kingdom</c:v>
                </c:pt>
                <c:pt idx="19">
                  <c:v>Germany</c:v>
                </c:pt>
                <c:pt idx="20">
                  <c:v>Brazil</c:v>
                </c:pt>
                <c:pt idx="21">
                  <c:v>France</c:v>
                </c:pt>
                <c:pt idx="22">
                  <c:v>Canada</c:v>
                </c:pt>
                <c:pt idx="23">
                  <c:v>USA</c:v>
                </c:pt>
              </c:strCache>
            </c:strRef>
          </c:cat>
          <c:val>
            <c:numRef>
              <c:f>CHINOOK3COUNTRY!$B$2:$B$25</c:f>
              <c:numCache>
                <c:formatCode>General</c:formatCode>
                <c:ptCount val="24"/>
                <c:pt idx="0">
                  <c:v>37.619999999999997</c:v>
                </c:pt>
                <c:pt idx="1">
                  <c:v>37.619999999999997</c:v>
                </c:pt>
                <c:pt idx="2">
                  <c:v>37.619999999999997</c:v>
                </c:pt>
                <c:pt idx="3">
                  <c:v>37.619999999999997</c:v>
                </c:pt>
                <c:pt idx="4">
                  <c:v>37.619999999999997</c:v>
                </c:pt>
                <c:pt idx="5">
                  <c:v>37.619999999999997</c:v>
                </c:pt>
                <c:pt idx="6">
                  <c:v>37.619999999999997</c:v>
                </c:pt>
                <c:pt idx="7">
                  <c:v>38.619999999999997</c:v>
                </c:pt>
                <c:pt idx="8">
                  <c:v>39.619999999999997</c:v>
                </c:pt>
                <c:pt idx="9">
                  <c:v>40.619999999999997</c:v>
                </c:pt>
                <c:pt idx="10">
                  <c:v>41.62</c:v>
                </c:pt>
                <c:pt idx="11">
                  <c:v>42.62</c:v>
                </c:pt>
                <c:pt idx="12">
                  <c:v>45.62</c:v>
                </c:pt>
                <c:pt idx="13">
                  <c:v>45.62</c:v>
                </c:pt>
                <c:pt idx="14">
                  <c:v>46.62</c:v>
                </c:pt>
                <c:pt idx="15">
                  <c:v>75.260000000000005</c:v>
                </c:pt>
                <c:pt idx="16">
                  <c:v>77.239999999999995</c:v>
                </c:pt>
                <c:pt idx="17">
                  <c:v>90.24</c:v>
                </c:pt>
                <c:pt idx="18">
                  <c:v>112.86</c:v>
                </c:pt>
                <c:pt idx="19">
                  <c:v>156.47999999999999</c:v>
                </c:pt>
                <c:pt idx="20">
                  <c:v>190.1</c:v>
                </c:pt>
                <c:pt idx="21">
                  <c:v>195.1</c:v>
                </c:pt>
                <c:pt idx="22">
                  <c:v>303.95999999999998</c:v>
                </c:pt>
                <c:pt idx="23">
                  <c:v>523.05999999999995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239680"/>
        <c:axId val="43261952"/>
      </c:barChart>
      <c:catAx>
        <c:axId val="4323968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 b="1">
                <a:solidFill>
                  <a:schemeClr val="bg1">
                    <a:lumMod val="95000"/>
                  </a:schemeClr>
                </a:solidFill>
              </a:defRPr>
            </a:pPr>
            <a:endParaRPr lang="ar-EG"/>
          </a:p>
        </c:txPr>
        <c:crossAx val="43261952"/>
        <c:crosses val="autoZero"/>
        <c:auto val="1"/>
        <c:lblAlgn val="ctr"/>
        <c:lblOffset val="100"/>
        <c:noMultiLvlLbl val="0"/>
      </c:catAx>
      <c:valAx>
        <c:axId val="43261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bg1">
                    <a:lumMod val="95000"/>
                  </a:schemeClr>
                </a:solidFill>
              </a:defRPr>
            </a:pPr>
            <a:endParaRPr lang="ar-EG"/>
          </a:p>
        </c:txPr>
        <c:crossAx val="43239680"/>
        <c:crosses val="autoZero"/>
        <c:crossBetween val="between"/>
      </c:valAx>
      <c:spPr>
        <a:solidFill>
          <a:schemeClr val="tx2">
            <a:lumMod val="50000"/>
          </a:schemeClr>
        </a:solidFill>
      </c:spPr>
    </c:plotArea>
    <c:plotVisOnly val="1"/>
    <c:dispBlanksAs val="gap"/>
    <c:showDLblsOverMax val="0"/>
  </c:chart>
  <c:spPr>
    <a:solidFill>
      <a:schemeClr val="tx2">
        <a:lumMod val="50000"/>
      </a:schemeClr>
    </a:solidFill>
  </c:spPr>
  <c:txPr>
    <a:bodyPr/>
    <a:lstStyle/>
    <a:p>
      <a:pPr>
        <a:defRPr>
          <a:latin typeface="+mj-lt"/>
        </a:defRPr>
      </a:pPr>
      <a:endParaRPr lang="ar-EG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ar-EG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pP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Top Revenue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Generator Tracks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CHINOOK4TOP10Tracks!$C$1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CHINOOK4TOP10Tracks!$B$2:$B$11</c:f>
              <c:strCache>
                <c:ptCount val="10"/>
                <c:pt idx="0">
                  <c:v>Hot Girl</c:v>
                </c:pt>
                <c:pt idx="1">
                  <c:v>Walkabout</c:v>
                </c:pt>
                <c:pt idx="2">
                  <c:v>Gay Witch Hunt</c:v>
                </c:pt>
                <c:pt idx="3">
                  <c:v>How to Stop an Exploding Man</c:v>
                </c:pt>
                <c:pt idx="4">
                  <c:v>Pilot</c:v>
                </c:pt>
                <c:pt idx="5">
                  <c:v>Phyllis's Wedding</c:v>
                </c:pt>
                <c:pt idx="6">
                  <c:v>The Fix</c:v>
                </c:pt>
                <c:pt idx="7">
                  <c:v>The Woman King</c:v>
                </c:pt>
                <c:pt idx="8">
                  <c:v>I Do</c:v>
                </c:pt>
                <c:pt idx="9">
                  <c:v>The Glass Ballerina</c:v>
                </c:pt>
              </c:strCache>
            </c:strRef>
          </c:cat>
          <c:val>
            <c:numRef>
              <c:f>CHINOOK4TOP10Tracks!$C$2:$C$11</c:f>
              <c:numCache>
                <c:formatCode>General</c:formatCode>
                <c:ptCount val="10"/>
                <c:pt idx="0">
                  <c:v>3.98</c:v>
                </c:pt>
                <c:pt idx="1">
                  <c:v>3.98</c:v>
                </c:pt>
                <c:pt idx="2">
                  <c:v>3.98</c:v>
                </c:pt>
                <c:pt idx="3">
                  <c:v>3.98</c:v>
                </c:pt>
                <c:pt idx="4">
                  <c:v>3.98</c:v>
                </c:pt>
                <c:pt idx="5">
                  <c:v>3.98</c:v>
                </c:pt>
                <c:pt idx="6">
                  <c:v>3.98</c:v>
                </c:pt>
                <c:pt idx="7">
                  <c:v>3.98</c:v>
                </c:pt>
                <c:pt idx="8">
                  <c:v>1.99</c:v>
                </c:pt>
                <c:pt idx="9">
                  <c:v>1.99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9826304"/>
        <c:axId val="249836672"/>
      </c:barChart>
      <c:catAx>
        <c:axId val="24982630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 b="1">
                <a:solidFill>
                  <a:schemeClr val="bg1">
                    <a:lumMod val="95000"/>
                  </a:schemeClr>
                </a:solidFill>
                <a:latin typeface="+mj-lt"/>
              </a:defRPr>
            </a:pPr>
            <a:endParaRPr lang="ar-EG"/>
          </a:p>
        </c:txPr>
        <c:crossAx val="249836672"/>
        <c:crosses val="autoZero"/>
        <c:auto val="1"/>
        <c:lblAlgn val="ctr"/>
        <c:lblOffset val="100"/>
        <c:noMultiLvlLbl val="0"/>
      </c:catAx>
      <c:valAx>
        <c:axId val="2498366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chemeClr val="bg1">
                    <a:lumMod val="95000"/>
                  </a:schemeClr>
                </a:solidFill>
                <a:latin typeface="+mj-lt"/>
              </a:defRPr>
            </a:pPr>
            <a:endParaRPr lang="ar-EG"/>
          </a:p>
        </c:txPr>
        <c:crossAx val="249826304"/>
        <c:crosses val="autoZero"/>
        <c:crossBetween val="between"/>
      </c:valAx>
      <c:spPr>
        <a:solidFill>
          <a:srgbClr val="ACCBF9">
            <a:lumMod val="10000"/>
          </a:srgbClr>
        </a:solidFill>
      </c:spPr>
    </c:plotArea>
    <c:plotVisOnly val="1"/>
    <c:dispBlanksAs val="gap"/>
    <c:showDLblsOverMax val="0"/>
  </c:chart>
  <c:spPr>
    <a:solidFill>
      <a:srgbClr val="ACCBF9">
        <a:lumMod val="10000"/>
      </a:srgbClr>
    </a:solidFill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ar-EG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algn="ctr">
              <a:defRPr>
                <a:solidFill>
                  <a:schemeClr val="tx1">
                    <a:lumMod val="95000"/>
                  </a:schemeClr>
                </a:solidFill>
                <a:latin typeface="+mj-lt"/>
              </a:defRPr>
            </a:pPr>
            <a:r>
              <a:rPr lang="en-US" sz="2000" b="1" i="0" baseline="0" dirty="0" smtClean="0">
                <a:solidFill>
                  <a:schemeClr val="bg1"/>
                </a:solidFill>
                <a:effectLst/>
              </a:rPr>
              <a:t>Bottom Revenue Generator Tracks</a:t>
            </a:r>
            <a:endParaRPr lang="ar-EG" sz="2000" dirty="0">
              <a:solidFill>
                <a:schemeClr val="bg1"/>
              </a:solidFill>
              <a:effectLst/>
            </a:endParaRPr>
          </a:p>
        </c:rich>
      </c:tx>
      <c:layout/>
      <c:overlay val="0"/>
      <c:spPr>
        <a:solidFill>
          <a:srgbClr val="ACCBF9">
            <a:lumMod val="10000"/>
          </a:srgbClr>
        </a:solidFill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CHINOOK4bottom10Tracks!$C$1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CHINOOK4bottom10Tracks!$B$2:$B$11</c:f>
              <c:strCache>
                <c:ptCount val="10"/>
                <c:pt idx="0">
                  <c:v>Bleed The Freak</c:v>
                </c:pt>
                <c:pt idx="1">
                  <c:v>Restless and Wild</c:v>
                </c:pt>
                <c:pt idx="2">
                  <c:v>Put The Finger On You</c:v>
                </c:pt>
                <c:pt idx="3">
                  <c:v>Samba pras moأ§as</c:v>
                </c:pt>
                <c:pt idx="4">
                  <c:v>Evil Walks</c:v>
                </c:pt>
                <c:pt idx="5">
                  <c:v>Breaking The Rules</c:v>
                </c:pt>
                <c:pt idx="6">
                  <c:v>Dog Eat Dog</c:v>
                </c:pt>
                <c:pt idx="7">
                  <c:v>Right Through You</c:v>
                </c:pt>
                <c:pt idx="8">
                  <c:v>Love In An Elevator</c:v>
                </c:pt>
                <c:pt idx="9">
                  <c:v>Janie's Got A Gun</c:v>
                </c:pt>
              </c:strCache>
            </c:strRef>
          </c:cat>
          <c:val>
            <c:numRef>
              <c:f>CHINOOK4bottom10Tracks!$C$2:$C$11</c:f>
              <c:numCache>
                <c:formatCode>General</c:formatCode>
                <c:ptCount val="10"/>
                <c:pt idx="0">
                  <c:v>0.99</c:v>
                </c:pt>
                <c:pt idx="1">
                  <c:v>0.99</c:v>
                </c:pt>
                <c:pt idx="2">
                  <c:v>0.99</c:v>
                </c:pt>
                <c:pt idx="3">
                  <c:v>0.99</c:v>
                </c:pt>
                <c:pt idx="4">
                  <c:v>0.99</c:v>
                </c:pt>
                <c:pt idx="5">
                  <c:v>0.99</c:v>
                </c:pt>
                <c:pt idx="6">
                  <c:v>0.99</c:v>
                </c:pt>
                <c:pt idx="7">
                  <c:v>0.99</c:v>
                </c:pt>
                <c:pt idx="8">
                  <c:v>0.99</c:v>
                </c:pt>
                <c:pt idx="9">
                  <c:v>0.99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279808"/>
        <c:axId val="206281344"/>
      </c:barChart>
      <c:catAx>
        <c:axId val="20627980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pPr>
            <a:endParaRPr lang="ar-EG"/>
          </a:p>
        </c:txPr>
        <c:crossAx val="206281344"/>
        <c:crosses val="autoZero"/>
        <c:auto val="1"/>
        <c:lblAlgn val="ctr"/>
        <c:lblOffset val="100"/>
        <c:noMultiLvlLbl val="0"/>
      </c:catAx>
      <c:valAx>
        <c:axId val="20628134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bg1">
                    <a:lumMod val="95000"/>
                  </a:schemeClr>
                </a:solidFill>
                <a:latin typeface="+mj-lt"/>
              </a:defRPr>
            </a:pPr>
            <a:endParaRPr lang="ar-EG"/>
          </a:p>
        </c:txPr>
        <c:crossAx val="206279808"/>
        <c:crosses val="autoZero"/>
        <c:crossBetween val="between"/>
      </c:valAx>
      <c:spPr>
        <a:solidFill>
          <a:srgbClr val="ACCBF9">
            <a:lumMod val="10000"/>
          </a:srgbClr>
        </a:solidFill>
      </c:spPr>
    </c:plotArea>
    <c:plotVisOnly val="1"/>
    <c:dispBlanksAs val="gap"/>
    <c:showDLblsOverMax val="0"/>
  </c:chart>
  <c:spPr>
    <a:solidFill>
      <a:srgbClr val="ACCBF9">
        <a:lumMod val="10000"/>
      </a:srgbClr>
    </a:solidFill>
  </c:sp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51F9937-D3C1-4191-A099-51CB1E89AABA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5797B5B-E6AE-4173-9C01-EEEEA4F12C82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0967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97B5B-E6AE-4173-9C01-EEEEA4F12C82}" type="slidenum">
              <a:rPr lang="ar-EG" smtClean="0"/>
              <a:t>16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1851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924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59363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5562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6673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4189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0373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1881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1044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7549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834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5069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874A2-F3F8-416B-B895-775A36B84F01}" type="datetimeFigureOut">
              <a:rPr lang="ar-EG" smtClean="0"/>
              <a:t>01/12/1447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D7787-D24F-4491-B6E8-A8E99CCB91C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025181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05501" y="797465"/>
            <a:ext cx="5400599" cy="2335454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 smtClean="0">
                <a:solidFill>
                  <a:schemeClr val="tx1">
                    <a:lumMod val="95000"/>
                  </a:schemeClr>
                </a:solidFill>
                <a:latin typeface="Constantia" pitchFamily="18" charset="0"/>
                <a:ea typeface="Cambria" pitchFamily="18" charset="0"/>
              </a:rPr>
              <a:t>Chinook </a:t>
            </a:r>
            <a:r>
              <a:rPr lang="en-US" sz="3600" b="1" dirty="0">
                <a:solidFill>
                  <a:schemeClr val="tx1">
                    <a:lumMod val="95000"/>
                  </a:schemeClr>
                </a:solidFill>
                <a:latin typeface="Constantia" pitchFamily="18" charset="0"/>
                <a:ea typeface="Cambria" pitchFamily="18" charset="0"/>
              </a:rPr>
              <a:t>Music Online </a:t>
            </a:r>
            <a:r>
              <a:rPr lang="en-US" sz="3600" b="1" dirty="0" smtClean="0">
                <a:solidFill>
                  <a:schemeClr val="tx1">
                    <a:lumMod val="95000"/>
                  </a:schemeClr>
                </a:solidFill>
                <a:latin typeface="Constantia" pitchFamily="18" charset="0"/>
                <a:ea typeface="Cambria" pitchFamily="18" charset="0"/>
              </a:rPr>
              <a:t>Store Performance Analysis </a:t>
            </a:r>
            <a:endParaRPr lang="ar-EG" sz="3600" b="1" dirty="0">
              <a:solidFill>
                <a:schemeClr val="tx1">
                  <a:lumMod val="95000"/>
                </a:schemeClr>
              </a:solidFill>
              <a:latin typeface="Constantia" pitchFamily="18" charset="0"/>
              <a:ea typeface="Cambria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1921"/>
            <a:ext cx="3772816" cy="6221996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251520" y="3537427"/>
            <a:ext cx="4642149" cy="376853"/>
            <a:chOff x="395536" y="3598585"/>
            <a:chExt cx="4642149" cy="376853"/>
          </a:xfrm>
        </p:grpSpPr>
        <p:sp>
          <p:nvSpPr>
            <p:cNvPr id="3" name="TextBox 2"/>
            <p:cNvSpPr txBox="1"/>
            <p:nvPr/>
          </p:nvSpPr>
          <p:spPr>
            <a:xfrm>
              <a:off x="395536" y="3598585"/>
              <a:ext cx="1038106" cy="369332"/>
            </a:xfrm>
            <a:prstGeom prst="rect">
              <a:avLst/>
            </a:prstGeom>
            <a:solidFill>
              <a:srgbClr val="6C0000"/>
            </a:solidFill>
          </p:spPr>
          <p:txBody>
            <a:bodyPr wrap="none" rtlCol="1">
              <a:spAutoFit/>
            </a:bodyPr>
            <a:lstStyle/>
            <a:p>
              <a:pPr algn="ctr"/>
              <a:r>
                <a:rPr lang="en-US" b="1" dirty="0" smtClean="0">
                  <a:latin typeface="Constantia" pitchFamily="18" charset="0"/>
                  <a:cs typeface="+mj-cs"/>
                </a:rPr>
                <a:t>Group 2</a:t>
              </a:r>
              <a:endParaRPr lang="ar-EG" b="1" dirty="0">
                <a:latin typeface="Constantia" pitchFamily="18" charset="0"/>
                <a:cs typeface="+mj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54814" y="3598585"/>
              <a:ext cx="1399870" cy="3693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none" rtlCol="1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C00000"/>
                  </a:solidFill>
                  <a:latin typeface="Constantia" pitchFamily="18" charset="0"/>
                  <a:cs typeface="+mj-cs"/>
                </a:rPr>
                <a:t>Dai Ahmed</a:t>
              </a:r>
              <a:endParaRPr lang="ar-EG" b="1" dirty="0">
                <a:solidFill>
                  <a:srgbClr val="C00000"/>
                </a:solidFill>
                <a:latin typeface="Constantia" pitchFamily="18" charset="0"/>
                <a:cs typeface="+mj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75856" y="3606106"/>
              <a:ext cx="1761829" cy="36933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none" rtlCol="1">
              <a:spAutoFit/>
            </a:bodyPr>
            <a:lstStyle/>
            <a:p>
              <a:pPr algn="ctr"/>
              <a:r>
                <a:rPr lang="en-US" b="1" dirty="0" err="1" smtClean="0">
                  <a:solidFill>
                    <a:srgbClr val="C00000"/>
                  </a:solidFill>
                  <a:latin typeface="Constantia" pitchFamily="18" charset="0"/>
                  <a:cs typeface="+mj-cs"/>
                </a:rPr>
                <a:t>Aya</a:t>
              </a:r>
              <a:r>
                <a:rPr lang="en-US" b="1" dirty="0" smtClean="0">
                  <a:solidFill>
                    <a:srgbClr val="C00000"/>
                  </a:solidFill>
                  <a:latin typeface="Constantia" pitchFamily="18" charset="0"/>
                  <a:cs typeface="+mj-cs"/>
                </a:rPr>
                <a:t> El-</a:t>
              </a:r>
              <a:r>
                <a:rPr lang="en-US" b="1" dirty="0" err="1" smtClean="0">
                  <a:solidFill>
                    <a:srgbClr val="C00000"/>
                  </a:solidFill>
                  <a:latin typeface="Constantia" pitchFamily="18" charset="0"/>
                  <a:cs typeface="+mj-cs"/>
                </a:rPr>
                <a:t>Mowafy</a:t>
              </a:r>
              <a:endParaRPr lang="ar-EG" b="1" dirty="0">
                <a:solidFill>
                  <a:srgbClr val="C00000"/>
                </a:solidFill>
                <a:latin typeface="Constantia" pitchFamily="18" charset="0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229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2946" y="2852936"/>
            <a:ext cx="4851054" cy="1296144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latin typeface="Cambria" pitchFamily="18" charset="0"/>
                <a:ea typeface="Cambria" pitchFamily="18" charset="0"/>
              </a:rPr>
              <a:t>Sales </a:t>
            </a:r>
            <a:r>
              <a:rPr lang="en-US" sz="2800" b="1" dirty="0" smtClean="0">
                <a:latin typeface="Constantia" pitchFamily="18" charset="0"/>
                <a:ea typeface="Cambria" pitchFamily="18" charset="0"/>
              </a:rPr>
              <a:t>Performance</a:t>
            </a:r>
            <a:r>
              <a:rPr lang="en-US" sz="2800" b="1" dirty="0" smtClean="0">
                <a:latin typeface="Cambria" pitchFamily="18" charset="0"/>
                <a:ea typeface="Cambria" pitchFamily="18" charset="0"/>
              </a:rPr>
              <a:t> Analysis</a:t>
            </a:r>
            <a:endParaRPr lang="ar-EG" sz="2800" b="1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83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1"/>
          <p:cNvSpPr>
            <a:spLocks noGrp="1"/>
          </p:cNvSpPr>
          <p:nvPr>
            <p:ph type="title"/>
          </p:nvPr>
        </p:nvSpPr>
        <p:spPr>
          <a:xfrm>
            <a:off x="457200" y="252152"/>
            <a:ext cx="8229600" cy="1143000"/>
          </a:xfrm>
        </p:spPr>
        <p:txBody>
          <a:bodyPr/>
          <a:lstStyle/>
          <a:p>
            <a:pPr algn="l"/>
            <a:r>
              <a:rPr lang="en-US" dirty="0" smtClean="0">
                <a:latin typeface="Constantia" pitchFamily="18" charset="0"/>
              </a:rPr>
              <a:t>1.Sales by Year</a:t>
            </a:r>
            <a:endParaRPr lang="en-US" dirty="0">
              <a:latin typeface="Constantia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60" y="5410471"/>
            <a:ext cx="78969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Constantia" pitchFamily="18" charset="0"/>
              </a:rPr>
              <a:t>Annual sales analysis reveals steady financial performance, with a notable peak in 2022.</a:t>
            </a:r>
            <a:endParaRPr lang="ar-EG" sz="2400" dirty="0">
              <a:latin typeface="Constantia" pitchFamily="18" charset="0"/>
            </a:endParaRP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7452693"/>
              </p:ext>
            </p:extLst>
          </p:nvPr>
        </p:nvGraphicFramePr>
        <p:xfrm>
          <a:off x="1448780" y="1484784"/>
          <a:ext cx="6222558" cy="3387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317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17667" y="26422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latin typeface="Constantia" pitchFamily="18" charset="0"/>
              </a:rPr>
              <a:t>2.Sales by Quarter  </a:t>
            </a:r>
            <a:endParaRPr lang="ar-EG" sz="3600" dirty="0">
              <a:latin typeface="Constantia" pitchFamily="18" charset="0"/>
            </a:endParaRPr>
          </a:p>
        </p:txBody>
      </p:sp>
      <p:pic>
        <p:nvPicPr>
          <p:cNvPr id="5" name="صورة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609721"/>
            <a:ext cx="2016224" cy="3885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صورة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67" y="1844824"/>
            <a:ext cx="3843983" cy="24348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540641" y="5687872"/>
            <a:ext cx="831267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000" dirty="0">
                <a:latin typeface="Constantia" pitchFamily="18" charset="0"/>
              </a:rPr>
              <a:t>Quarterly sales fluctuations indicate seasonal peaks that can be leveraged for intensified marketing campaigns.</a:t>
            </a:r>
            <a:endParaRPr lang="ar-EG" sz="2000" dirty="0"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31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latin typeface="Constantia" pitchFamily="18" charset="0"/>
              </a:rPr>
              <a:t>3.Sales by Country </a:t>
            </a:r>
            <a:endParaRPr lang="ar-EG" sz="3600" dirty="0">
              <a:latin typeface="Constantia" pitchFamily="18" charset="0"/>
            </a:endParaRPr>
          </a:p>
        </p:txBody>
      </p:sp>
      <p:pic>
        <p:nvPicPr>
          <p:cNvPr id="6" name="صورة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5" y="1988840"/>
            <a:ext cx="3044407" cy="247516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395536" y="5451742"/>
            <a:ext cx="795723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000" dirty="0">
                <a:latin typeface="Constantia" pitchFamily="18" charset="0"/>
              </a:rPr>
              <a:t>The USA and Canada dominate the majority of sales, clearly defining the primary target geographic markets.</a:t>
            </a:r>
            <a:endParaRPr lang="ar-EG" sz="2000" dirty="0">
              <a:latin typeface="Constantia" pitchFamily="18" charset="0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8741340"/>
              </p:ext>
            </p:extLst>
          </p:nvPr>
        </p:nvGraphicFramePr>
        <p:xfrm>
          <a:off x="3563888" y="1576786"/>
          <a:ext cx="5148064" cy="3436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7750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52153"/>
            <a:ext cx="7643192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925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smtClean="0">
                <a:latin typeface="Constantia" pitchFamily="18" charset="0"/>
              </a:rPr>
              <a:t>4.Average Price per Invoice (AOV):</a:t>
            </a:r>
            <a:endParaRPr lang="ar-EG" sz="4000" dirty="0">
              <a:latin typeface="Constantia" pitchFamily="18" charset="0"/>
            </a:endParaRPr>
          </a:p>
        </p:txBody>
      </p:sp>
      <p:pic>
        <p:nvPicPr>
          <p:cNvPr id="5" name="عنصر نائب للمحتوى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819" y="2242270"/>
            <a:ext cx="2702240" cy="7720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صورة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051622"/>
            <a:ext cx="3900813" cy="11533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287016" y="4061702"/>
            <a:ext cx="8029400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0"/>
            <a:r>
              <a:rPr lang="en-US" sz="2000" dirty="0">
                <a:latin typeface="Constantia" pitchFamily="18" charset="0"/>
              </a:rPr>
              <a:t>The Average Order Value reflects a preference for individual track purchases, presenting an opportunity for product bundling to increase revenue.</a:t>
            </a: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48670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06135"/>
            <a:ext cx="398569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 smtClean="0">
                <a:latin typeface="Constantia" pitchFamily="18" charset="0"/>
              </a:rPr>
              <a:t>5. Top </a:t>
            </a:r>
            <a:r>
              <a:rPr lang="en-US" sz="2000" b="1" dirty="0">
                <a:latin typeface="Constantia" pitchFamily="18" charset="0"/>
              </a:rPr>
              <a:t>Revenue-Generator </a:t>
            </a:r>
            <a:endParaRPr lang="en-US" sz="2000" b="1" dirty="0" smtClean="0">
              <a:latin typeface="Constantia" pitchFamily="18" charset="0"/>
            </a:endParaRPr>
          </a:p>
          <a:p>
            <a:pPr algn="ctr"/>
            <a:r>
              <a:rPr lang="en-US" sz="2000" b="1" dirty="0" smtClean="0">
                <a:latin typeface="Constantia" pitchFamily="18" charset="0"/>
              </a:rPr>
              <a:t>tracks</a:t>
            </a:r>
            <a:endParaRPr lang="ar-EG" sz="2000" b="1" dirty="0">
              <a:latin typeface="Constant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94456" y="506135"/>
            <a:ext cx="42674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Constantia" pitchFamily="18" charset="0"/>
              </a:rPr>
              <a:t>6. Bottom </a:t>
            </a:r>
            <a:r>
              <a:rPr lang="en-US" sz="2000" b="1" dirty="0">
                <a:latin typeface="Constantia" pitchFamily="18" charset="0"/>
              </a:rPr>
              <a:t>10 Revenue-Generator  </a:t>
            </a:r>
            <a:r>
              <a:rPr lang="en-US" sz="2000" b="1" dirty="0" smtClean="0">
                <a:latin typeface="Constantia" pitchFamily="18" charset="0"/>
              </a:rPr>
              <a:t>tracks </a:t>
            </a:r>
          </a:p>
        </p:txBody>
      </p:sp>
      <p:pic>
        <p:nvPicPr>
          <p:cNvPr id="7" name="صورة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99" y="1389253"/>
            <a:ext cx="3240360" cy="9914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صورة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052" y="1389254"/>
            <a:ext cx="3771573" cy="991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41610" y="5445224"/>
            <a:ext cx="804051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0"/>
            <a:r>
              <a:rPr lang="en-US" sz="2000" dirty="0">
                <a:latin typeface="Constantia" pitchFamily="18" charset="0"/>
              </a:rPr>
              <a:t>Top-selling tracks are concentrated in the Rock genre, while underperforming tracks require a re-evaluation of their place in the catalog.</a:t>
            </a:r>
            <a:endParaRPr lang="ar-EG" sz="2000" dirty="0">
              <a:latin typeface="Constantia" pitchFamily="18" charset="0"/>
            </a:endParaRP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378037"/>
              </p:ext>
            </p:extLst>
          </p:nvPr>
        </p:nvGraphicFramePr>
        <p:xfrm>
          <a:off x="365925" y="2564904"/>
          <a:ext cx="3433508" cy="2588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4598077"/>
              </p:ext>
            </p:extLst>
          </p:nvPr>
        </p:nvGraphicFramePr>
        <p:xfrm>
          <a:off x="4283969" y="2636912"/>
          <a:ext cx="4280240" cy="252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8775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9512" y="39169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sz="3200" dirty="0" smtClean="0">
                <a:latin typeface="Constantia" pitchFamily="18" charset="0"/>
              </a:rPr>
              <a:t>7. Dead-Stock Tracks : </a:t>
            </a:r>
            <a:br>
              <a:rPr lang="en-US" sz="3200" dirty="0" smtClean="0">
                <a:latin typeface="Constantia" pitchFamily="18" charset="0"/>
              </a:rPr>
            </a:br>
            <a:r>
              <a:rPr lang="en-US" sz="3200" dirty="0" smtClean="0">
                <a:latin typeface="Constantia" pitchFamily="18" charset="0"/>
              </a:rPr>
              <a:t>Tracks that have never been sold                    </a:t>
            </a:r>
            <a:endParaRPr lang="ar-EG" sz="3200" dirty="0">
              <a:latin typeface="Constantia" pitchFamily="18" charset="0"/>
            </a:endParaRPr>
          </a:p>
        </p:txBody>
      </p:sp>
      <p:pic>
        <p:nvPicPr>
          <p:cNvPr id="4" name="صورة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102487"/>
            <a:ext cx="3329235" cy="29826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صورة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345" y="2585723"/>
            <a:ext cx="4141767" cy="20162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7544" y="5305147"/>
            <a:ext cx="804615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000" dirty="0">
                <a:latin typeface="Constantia" pitchFamily="18" charset="0"/>
              </a:rPr>
              <a:t>Identifying non-selling tracks is a crucial first step toward streamlining the database and reducing digital management costs.</a:t>
            </a:r>
            <a:endParaRPr lang="ar-EG" sz="2000" dirty="0"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191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4688" y="2305323"/>
            <a:ext cx="6624736" cy="1470025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 smtClean="0">
                <a:latin typeface="Cambria" pitchFamily="18" charset="0"/>
                <a:ea typeface="Cambria" pitchFamily="18" charset="0"/>
              </a:rPr>
              <a:t>Customer </a:t>
            </a:r>
            <a:r>
              <a:rPr lang="en-US" sz="2800" b="1" dirty="0" smtClean="0">
                <a:latin typeface="Constantia" pitchFamily="18" charset="0"/>
                <a:ea typeface="Cambria" pitchFamily="18" charset="0"/>
              </a:rPr>
              <a:t>Behavior</a:t>
            </a:r>
            <a:r>
              <a:rPr lang="en-US" sz="2800" b="1" dirty="0" smtClean="0">
                <a:latin typeface="Cambria" pitchFamily="18" charset="0"/>
                <a:ea typeface="Cambria" pitchFamily="18" charset="0"/>
              </a:rPr>
              <a:t> Analysis</a:t>
            </a:r>
            <a:endParaRPr lang="ar-EG" sz="28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4688" y="4221088"/>
            <a:ext cx="5112568" cy="864096"/>
          </a:xfrm>
        </p:spPr>
        <p:txBody>
          <a:bodyPr/>
          <a:lstStyle/>
          <a:p>
            <a:pPr algn="l"/>
            <a:r>
              <a:rPr lang="en-US" sz="2000" b="1" i="1" dirty="0" smtClean="0">
                <a:solidFill>
                  <a:schemeClr val="tx1"/>
                </a:solidFill>
                <a:latin typeface="Cambria" pitchFamily="18" charset="0"/>
                <a:ea typeface="Cambria" pitchFamily="18" charset="0"/>
              </a:rPr>
              <a:t>Uncovering Global Trends and Audience Preferences</a:t>
            </a:r>
            <a:endParaRPr lang="en-US" sz="2000" b="1" dirty="0" smtClean="0">
              <a:solidFill>
                <a:schemeClr val="tx1"/>
              </a:solidFill>
              <a:latin typeface="Cambria" pitchFamily="18" charset="0"/>
              <a:ea typeface="Cambria" pitchFamily="18" charset="0"/>
            </a:endParaRPr>
          </a:p>
          <a:p>
            <a:endParaRPr lang="ar-EG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" y="0"/>
            <a:ext cx="3563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1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27" y="1764744"/>
            <a:ext cx="5608558" cy="5608558"/>
          </a:xfrm>
          <a:prstGeom prst="rect">
            <a:avLst/>
          </a:prstGeom>
        </p:spPr>
      </p:pic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575"/>
            <a:ext cx="9144000" cy="59492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2825" y="45926"/>
            <a:ext cx="6812161" cy="62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onstantia" pitchFamily="18" charset="0"/>
                <a:ea typeface="Cambria" pitchFamily="18" charset="0"/>
                <a:cs typeface="Kanit" pitchFamily="34" charset="-120"/>
              </a:rPr>
              <a:t>Customer Behavior: Key Topics</a:t>
            </a:r>
            <a:endParaRPr lang="en-US" sz="3200" b="1" dirty="0">
              <a:latin typeface="Constant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406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SAAAALmCAYAAABSAzo2AAAQAElEQVR4AezdCZzU8x/H8c9sW22lgy4JSSIJ4d+FnIUkR44IUbmJ5KwkiUrJFUJKrsiRCDkSSlKRVBIJuSK6dbe7/3n/9FuzszO7s7szu/P7zatHv/1d39/3eP6+85vffOb3+03aXrt0yGbAgD5AH6AP0AfoA/QB+gB9gD5AH6AP0AfoA77uA3z2J/5BH6APlFofSDP+IYAAAggggAACCCCAQAkJUAwCCCCAAAIIIJB6AgQgU2+f02IEEEAAAQQQQAABBBBAAAEEEEAAAQRKTIAAZIlRU1C4APMIIIAAAggggAACCCCAAAIIIOB/AVqIAAFI+gACCCCAAAIIIIAAAggg4H8BWogAAggggECpCRCALDV6CkYAAQQQQACB1BOgxQgggAACCCCAAAIIpJ4AAcjU2+e0GAEEEEAAAQQQQAABBBBAAAEEEEAAgRITKLUAZIm1kIIQQAABBBBAAAEEEEAAAQQQQKDUBCgYAQQQIABJH0AAAQQQQAABBBBAwP8CtBABBBBAAAEEECg1AQKQpUZPwQgggAACqSdAixFAAAEEEEAAAQQQQACB1BMgAJl6+5wWI4AAAggggAACCCCAAAIIIIAAAv4XoIVJI0AAMml2BRVBAAEEEEAAAQQQQAABBPwnQIsQQAABBBAgAEkfQAABBBBAAAEE/C9ACxFAAAEEEEAAAQQQKDUBApClRk/BCCCQegK0GAEEEEAAAQQQQAABBBBAAIHUE0i9AGTq7WNajAACCCCAAAIIIIAAAggggEDqCdBiBBBIGgECkEmzK6gIAggggAACCCCAAAL+E6BFCCCAAAIIIIAAAUj6AAIIIIAAAv4XoIUIIIAAAggggAACCCCAQKkJEIAsNXoKTj0BWowAAggggAACCCCAAAIIIIAAAv4XoIXhAgQgw0WYRwABBBBAAAEEEEAAAQQQ8L4ALUAAAQQQSBoBApBJsyuoCAIIIIAAAggg4D8BWoQAAggggAACCCCAAAFI+gACCCDgfwFaiAACCCCAAAIIIIAAAggggECpCRCALDF6CkIAAQQQQAABBBBAAAEEEEAAAf8L0EIEEAgXIAAZLsI8AggggAACCCCAAAIIeF+AFiCAAAIIIIBA0ggQgEyaXUFFEEAAAQQQ8J8ALUIAAQQQQAABBBBAAAEECEDSBxDwvwAtRAABBBBAAAEEEEAAAQQQQAAB/wskbQsJQCbtrqFiCCCAAAIIIIAAAggggAAC3hOgxggggAAC4QIEIMNFmEcAAQQQQAABBBDwvgAtQAABBBBAAAEEEEgaAQKQSbMrqAgCCCDgPwFahAACCCCAAAIIIIAAAggggAABSP/3AVqIAAIIIIAAAggggAACCCCAAAL+F6CFCCStAAHIpN01VAwBBBBAAAEEEEAAAQS8J0CNEUAAAQQQQCBcgABkuAjzCCCAAAIIIOB9AVqAAAIIIIAAAggggAACSSNAADJpdgUVQcB/ArQIAQQQQAABBBBAAAEEEEAAAQT8L1BQCwlAFiTEegQQQAABBBBAAAEEEEAAAQSSX4AaIoAAAkkrQAAyaXcNFUMAAQQQQAABBBDwngA1RgABBBBAAAEEEAgXIAAZLsI8AggggID3BWgBAggggAACCCCAAAIIIIBA0ggQgEyaXeG/itAiBBBAAAEEEEAAAQQQQAABBBDwvwAtRKAgAQKQBQmxHgEEEEAAAQQQQAABBBBIfgFqiAACCCCAQNIKEIBM2l1DxRBAAAEEEEDAewLUGAEEEEAAAQQQQAABBMIFCECGizCPAALeF6AFCCCAAAIIIIAAAggggAACCCCQNAIJC0AmTQupCAIlKFC7TnVrd2or63LJyXbX8CvsgSeut5ffHmSTpz9gsxaNsTnfjrUpn42wQ5s3KsFaeb8o1/WcC9rYgKGX5bi++dFwm7lwtM1e/JR9/t1Yu+K6jt5vLC2Iq0CLww+wDh1b2y39u9ig+6+0Z17pb6+9d49N//Jxm/3NUzZv6bPWf/AlcS2TzBBIpMCZ5x1no57v4/Rh9d8Fy8aZhi++e9renfGg3dTvAqtYKSORVSBvBBBAAAEE8giwAAEEEChIgABkQUKsRyBGAQU53vhgmA0d0cP5AHjaWUfZ8Sc2s0YH7GW771nL+UCYkVHOLBCwsullLJ7/9GGz94CL7JOvnrD5Pz1v8354zgmynNLxyHgWUyp5hbr2u7ubdex0TI5rvfp1bKfKFaxChfKWFkiz9Di7Win+O+Log+3FSXc5ATIFFxRovfu+K5x+VIrVSoqiFZDW60wBRNnMXfKMPT/xTmvWsnGu+o0a18eefKGvE3i8oNtJTiDykGb72T777WHVdqlsFSqWtzLBPpNWJnXfCmO1zAXLTKkIHNv2MJvw7j3BgHl3a3lkE1MfVv91K1OufFnbbfeadmH3dvbgE704VrgwqTWmtQgggAACCCCAQNIKePpTV4OGda3nLefaC28MdK4E0NVl+jAaOigYo6ujZswfZS++eZeT/qzOx9kHsx9xrhjQ1VRJu3eoGAIxCvQdeLF1urCtVa22UzC+GbAywYCKgix9BlxsumrQ+FegwMQpw5xjQujxozDT7rFGV7jqKrseN55tOkYVWHCEBK2PbWoD7rnEDjhob3MDDAq0Khib6oEFBdvvuvdyO6lDSyeAKL6y5dLtoEP2scEPXGmy07LSG7xTMpbe2VdX9jzThjx4tTVstIdzjN+0aYu9/so027RxS55GBAIBO/iwhqYvwfKsZAECCCCAAAIIIIAAAqUkkFZK5RarWH0If+mtQfbqu/dY96tOtSYHNzBdCeBcXRaWcyAQcK6OqlK1kh1w4N5Oet1uV6v2zmEpmfWNQCk1ZNKE6db5tH429M5n7celv1t2dnaJ1EQBF10tVyYYdAwvsHKVitb+tMPDF3tq3nUd/egb9uvPK0rMtbBIgcC/xxpdUaar7C7rcYZzjFJg8+LL2hcqu1POONJq7bpLnm0CgWBg4dCGduqZrfOsS5UFavvBQYNAIJCnyTKTnbvi0s6DrNcVD9gH786xLVu2uosZ7xAojOWOTRiVgoC+RNJVjQoYu8V/s+BHu+2Gx+yrL5e4i3KNA4GAZVQol2sZMwgggAACCCCAgC8FaJRnBNI8U9NgRXWFy9iXbjfdhrh/k72cq7yCi53/Gzdstvcnz3Y+bB5Yr7NpuLrrUHvpuSn2919rogYtdq2T90O+kyF/ECiCwNIlv9mzoyfbsIHP2aqV64qQQ+E3qbZzZSfIHm3LqsH10dZ5ZblcH7jnRbum2zDTdCLqfXqbm8w9Zvy5fGW+RUwY/5FzjNFxRsN5p/azpx5706lbZmZWzrYKCusqyF59Oju3TuoWypyV+UzsUqOKc5VTpCS6zbxGzWqRVqXEMrVdBpEaGwgETHah6/S+0POy++2dSZ9ZVlbJfCkQWn4yTxfWMpnb4te66fhx0aUnm75MctuYuT3T5s9b6sw+M+pti3S8WvX3Wvti1mInDX8QQACBkhCgDAQQQAABBAoS8EwA8oxzjrYRo2+0w1o0yvXBXFeZLfxqqV16/r9XuujDptvoaVPn2cC+Y6z90b1s4svTbNvW7e6qnHEqP/srB4GJuAtM/3Ce/bJsRdzzjZThunUbbPPm6Fd3rV29PtJmnlym4OPX839IWN3dY0avKx+033/9K+ZydAy6b/A4UxBzcP+xeYLPgUDAuXVy6MM9rPeAiwrMd82q6PtsezD4oC9VCswkTgn0mIpIt6LrR5V0NXqciok5m5XBwMr2zMyI6fV+sOrvyIH/L2Z9Y1vyeZ1EzNADC/Wcy0j7Z8qsh00/wJNfE4pqmV+erIuvQKcuba3uHrVyZZoZ/JJjwz+bnGV6r3lg6Hj7+ac/9EWrM6z4c7WNeWySzf/yeycNfwonkGzHvMLVntQIIIAAAggggEDyCngiAKnbj27qd6HtUr1KHskli38x3YaU34m2ro68/abH7bkx7xi34eUhZEGCBDZvzvtsrkQU9fGUufbJR/NMH0rD81+/bqO99fqn4Ys9PR+pnfFukI4nv/4SewDyv/LNxj87xTkmRboqSY+J6HRBG7tr+BWhm+SZfuPV6RGvalKA7au5S0zr82yUIgv03LuvvljiBFrCm7zij1X25mufhC925rdvz4q4jbMyRf8U1TJFuUq82fqRrVZHHpjrbg9VQl9C/BZyfHpzwifOF60H7XW+aTi++dXOcUhpGRBAAAEEEEAAAQQQSBaBpA9A6vl2l11zWq7bj1w8BVfGPf2ec9uju8zymdAVSp9NX8iH0HyMWOVNgbv7jQ1+4Hzf1q75x+nfCtJ9/+0vNqj/WOcxBN5sVenWOivrv1upC1sTXZX0xMOvm45R4dvqR2X0AyrX3twpfFXOvLbvf8uTpqs9M7f/e7XfP+s32aQJ0+26y+4zfamSkzjFJtT222583Lml2v0BDl3drqBx754jTXYpRlLk5mJZZLoS2bDpYQ2tZq3UfdxCiSBTCAIIIICA9wVoAQIIeEYgqQOQFStl2EWXtTf9qEMk0S8//85efWFqpFVRlz3x8ET7/de/o65nBQJeFFAgYXD/p+3Igy9zroBpuvcFdsYJt5iujPFie/xQZz1/9tNp852AcHh7ypcvZ+ecf7y1O7VV+Kqc+Rkff2XndrjNmja40HneZKsm3a1vr8dM+zonUYpO6OrSm3uMsOb7d3VsDm3Yxc4//Xab89miFBUperOxLLpdorfcs/6uVq5c2UQXQ/4IxEWATBBAAAEEEEAAgYIEkjoAed5FJ5h+7TRSIzZt2uLcdhppXX7LdJXMtA+/jHi7an7bsQ4BBBAorMCH738R8SpI5VO12k7W8dxjNcmAQDwEyMNnAvqRoLLl0n3WKpqDAAIIIIAAAgggkKoCSR2APOrYppaRUS7ivlm9cr0t2PErkBET5LNQV4Xpqo98krAKgSIIsAkCuQXemjjDfv0l+o8RNW5S39qffkTujZhDAAEEggK71tkl+Jf/CCCAAAIIIIAAAskpQK0KK5C0Acij2xxqezXYLWp79CuPC79aGnV9fit0FeS8KD9ikN92WtegYV3rO7CrTfpwuM1e/JTN/+l5W7BsnDPMW/qsTf/ycXt2wgC76NL2plvItU2sQ5ODG1i/u7vZxCnD7LOvR9u8H55z8lX+KkflvT3tfht8/1WmZ2PGmq+bTttoW+WhvJRnTt7fPGWvTB5s191ybtRb3t18NFZdO3RsbXqO3aD7r7RnXulvr713j9P+2cG8ZNF/8CVK6jgo33c+edC0XGV+/t1YG/V8HzvokH2cNJH+NGvZ2GnrG1Pvjeohb5V95nnHRcoiZ1l4fVX2q+8MsY++GGmzFo1x6vX4s7c66bXfVF/t4y++e9rZB7JSu2TU7coOTpucxMX8E1rWnG/HOmXJR07vznjQBtxzab77ozDtiqWqrnl4H1GdZCGvR8febMef2CyW7Jx0DzxxvU2e/kCe14tjGnwNFTbPb5lCQQAAEABJREFUmApOokSL5v8Y8TZsVbFylYrW4ogmmnQG9Ye27ZqbfnhLv8Q67OEeNv6tu+3Nj4bbzIWjHcNPFzxZYNBSj63o1fs851ii/i1r7UMN6lt63eg41fWKU5zX8Nwlz5jKUyVaHH6ATZn1cE5f7NjpGC3OM6iueu0rz9Bh1Lg+TlodKxVcveSqU03p8nvNaYOLL2tvr70/1NTPlJ/q+eKku+yIow/WamdQ3XTcuaV/FydPvfajHXecDQr5R8ejoSN6OMcF9/grO9nLK7/jjDzaBvfdGecc7bxHhO87vb7lqjaEVkvzUdsUfH1ouyuu65izidJqn8pIQ8uQ/pOTKDhRe9dd7MkX+ubsR6XVELqflVc8LNX2The2MR1D9XpWnVWWO2ifhvY59c9gFaP+V36ydF8HOoa8/PYg5ziitiv/KZ+NsEObN3LyUH69gv1dx2ytCy1Xx9Gb+l0Qt2O2U2DYH/Vz1VF1Cn1vVT3Uj2fMH2UvvnmX9Qy+v+p1EbZ5zqz2jbZxh8OPOihnXeiEfPSactO5Y20fmq4o07LU+5/qq2ON+zpQGZrWMq2L9D6otsmiyyUnOz+09ciYm0zvs3LRfpOFe3xw66a2tA2+btx9HfF1E7Kv3e3Cx6p3r2Af0PmTytLrVnXWoHJD+9+1N3eyRBzzwuvkzsskHv1D+ble+R1ntI/cx3vIRecReh3odSgPDZrW60X7UfmGDzrW6ZinY59rqf2v17f6nvZ1+DYFzStPvQ9oX2ifqB4alL9eNzrvGBw8v9V5SLS8VK484/m+El6W6qn3lkj1VN9SH9O5+gntWzjvlZoPz4P5EhagOAQQQAABzwikJWtN9UGwcuWKUau37MflUdfFsuKWax92npV3aedBsSR3AmWPPHWTEww4t0tb22vvOlahQnkLBAI52+vHJartUtn04Pgb+nYOBvSGWLQP7zkbBSf0AXvc6wPtuQl3OIEHnWBV2qlCrl++DAQCTnl71Kttp3Q80kaMvtGpi7YNZpHvf6VREEPbaFvlEVr3QCCYd8Xytl/jeqaTOn1Y0ElhpEEfoEc+fYu98MZAJwBw6dWnmT7EHtJsP9tnvz1M7a8QzEsWaWXSTCeSz0+807oHg3Z196hpWq7K6hl4LY9sYrcP6m76pU8tcwe3vvqgovrWDwaio3moPJXdf3B3J3ih8tx83LE+lIXXV2Xvu/+eVr1GVeeDqeql+upD9Fsf3+c4aB+XK1/WySYQCJjaJSN9iNSH4WPbHuasK+of9Q19OJO5ygq92lf12W33mqZbdMe82DdiwLkw7SqojuHm4X1E28tCXgpkD3/0WieArL6qdeGD2ibH+x/v6QQhd9+zltN/A4H/Xi+BQNA0+Bpy81Tap8b3s2h5hpfhlfmfl/1hW7Zsi1jdQCAQfN3t6axTIErB9vse6+l8ESHDkzq0Ml0lqdfITpUrOIZlgq+rtLToh+6bb7/QJgYDeV2v6OBY6gNrIPCfu/qWXjc6TvXq3Tn42jzVdJvnbrvXcOoRjz/X3HC2vfz2YBvy4NXOlxo6RkR7zWl/a7/36tPZ9tl3d1M/s+A/1fOAg/a2O4ZcYrLR8eDJYEBtUPALjwu6nZTvcSe4eaH+BwIB6zPwYhv94m3OcznVJ+WsTAKBgMleXjrO6Fga6TijY7j23Z3DLje9R5wUtu9CX9/KV0OBbQq+PsqkpVl6ehmL578Cyw05hudXrvqWgnvvBr9cuu2ubqaAmezC26p9GtrnJrw7xHoPuMg59obnr30d/jo4PviFR6MD9jIdR1Smk39wv5QNuuiY/eKkgab+vlfwfdlZtyNTlbtb8Dh6Yfd2zpdk6ms7VsVlpODN+zNH2OAHrnKOcwr2hL63qpAywTpWqVrJDjhwb+seDMa/EAyqK8ittFqfLIPqo3pN+vBe5/1P9dUXJO7rQPXUtJZpnd4HX5k8xDkf0Tq9xvUa0GtefeK0s46yo44/xPQ+q7y132ShtO4QaV9HfN3s2NfuduHjZDjmhddJ84noHzIu6Dij/ZSenm7ua0PnEXod6PWgemnQtF4v2o86/rqvDR3bdIzTsU7HPB37AoF/3z+Ur17f2tf6IlLnAsqroMF1UJ56H9CxILQvBAIB571N5x065xv5zM2mvqh+E5p3It5XQvNX2W9Pe8BUT51XRqqn+rGsFDAf9vC1Vqv2zs77g/pyaF5MI4AAAggggEBkgeifYiOnL7GlewYDbfpQHKnA7Oxs06+eRlqXiGU6Kblv5HV21HGHWPny/94Srjos/von63nZ/daicTd79P5XTb9S65YfCARsj3q1rPedF1uPG892F+cZX9nzTLv3kWvtwKYNLPSEbN3aDfb0qLesTcsezqD816xan7N9mTJpTmBC36rrg1zOirAJnSTd89DVTlpt465WXZWn6q42qC1qk7s+HuNdqlexwQ9eZVu3bgu25W3bvHlrnmwbNNw9V5BWHrJW0MWtb1ZWtn3y0Vd21cVD7cB6ne3ufk/Zrz/nvq01EAg4wYtb7+jiBF3yFBTDgvrBD68dzz3WHntwgrNPT29zk41/dkqeH/0IBAK251672sB7L3cCxjFknSfJcSf+z/kwOmXybFM5bYL7+eXnP4hopLIuveb0iB/W82RchAU9bjrHws2VjfrbiHtfdiyuvWS4/bVijRY7g/pqiyMOcK5y0Qm5s3DHH11toWCE6h0I/PvBRa/Xt1//1M47tZ+Tn/JV/js2cUaBQMAOa9HIbr0jcmDCSeTBP3+vWGtZmdF/Ubt68HXiXslVjOY5m9593xXW+eITnQ9EzoLgH/1ojfqx+pleP3odffDunGBQ9N/XY1rav/somNT5P+vTr61Ni2uc15rSTxj/kbM8/I/y7XP9yJx0Sqsh1i91lJ+Op8NH9nSu8n3y0Tds7Zp/tDjXULvOLtYx+LrMtTDOM8e2OdQa7ruH3XHLKKc96qfvvTUrz/tMIBBwjqWDH7gy4pcCca5WxOwmTZjuvIZkreGzGQsjpvvzj1V2yXl3O+1ROnfof/MTEdMXdqE+hOtqJgX39EHd3T47+P6suwz0vqIy1d/UpzJDXgMKyOkZz88Hv5xq1rKxu2mhxx3ObG1dL+9gb074JOc4+sq4qTl9280wEAg4gbB4HVt0zNPVfdfeeI7tulv1nC8i1fYfl/5ud9z6pOMeqR8pQKmr055/7Y6c4J1bT+0bmblDtH0b7bWn7d28CjPWl2lPjf83+K76udvquP3um5/l2H7+2TfuKqfNOse5+bYLTO3JWVHCE8l4zEtU/ygMbcsjD3BeG5Nene6cQ+r4P/W9zy30daj8AoF/33evv/U8pz/qi83lv/1t3c+92znO6DxR54tKGzoooHndzZ3yfIEcmkYOwx+9zsJfJ+q/LzzznlOvbp3uMv2gpF477rZ6XzipQ0t7ZMyNRTqf0/aFfV/RuXKfAReb+nQg8O97oqx07NIxTK9JGY59/E1btXKdU1W9dwYC/6Z1FvAHAQQQQAABBAoUSNoAZOgHmvBWbN+WaSv/Xhu+OCHz+oa3Z/Akq3ad6rny1y9pD+w7xvRBXidTIx941d5+fYYpWBaaUFdjnNvlBNPtMqHLNa3bgLpf1SFXsEDLdbL30LDxdu9dz5ueValh5AOv2ojhL9v6dRuVJGdQ/p0uaOMEgnIW7pjQN7K6QrFqtZ12LPl3pDqqrspTdVcbHhr2Us5J1b+p/v2r8tROnXxpUGDiyovucT7YRvqA/u9W//6V3Y/f/25dzxlo5TPKWrlyZf9dEfI3vWwZ27thXWeJ6nvmecfmCbTpJG/79kyb/uE8J92Lz7wfDGi+ZZs2bnHmQ/802Hd3O6vz8aGLTB/K9EH89Vem5QoS50oUnFkZPKns0/PRnKDj0iW/2V23jbHnx76b5wNtMLnJ9aJLTy70CXLNWjvbYc0bWe9gWcMHjTOVo318Z5/R9vGUuRFv123UuJ6dGvywrXLdQe3qdcUDwX73aZ4gqZumoLH6oNqgDwqhabXf1d+eGPGak3dWMKjgBoTddIFAwBo22sM6X3SCu8h01cuJp7R0rqjLWRicUMBy7dp/TI9NUJ9Tvgps6bUcXJ3zPxAI2MGHNbRzzs+9D3MSeHBiRTAQtH597tdtaDMyKpS3GjWrmj7oXH7BYHvgnhft++9+jdgPQrcLn9ZVd23btch15bTSvB8Mcqsfq59pXq8jBYfuH/xixICf0hR3eDh4rOpy1gB76bm8AfzQvPUjY5nB13aP7sOCx7YNweNEudDVznQgELC9GtSx6y69z2674TGbNnVensCgk7AYf+bM+sa6dhpob02c4eSifnrDVQ/axJc/zvOBXQn0fhD+4bvzaf2c+hXmyxwFa/Wh9omHJ+Z7bFKZ8RyKa6ngo65Q0p0KgUDuD+CzZy6yS88f5Lw3qs7qb/oCY05weWiQIRAIOF8a3TX88lzBXL0Ozj+9v/P+F/5Fk/Jzhxo1q9lewS+Nru461EKPowN6P+n0EQv7FwgEjy2HNsxzHA1LVuCsjpUPPtHLWh/X1HRcC91Ar7HrL7/fXn1hqrPY7UeTJ32apx+pD93av0uRv8RyCojDH71P9x14cTDwUjtXbgq+qN43Xv1QzntUetn0XGk0s3PwC5RTzmhtCozrNaAv8MK/XFK6SIP2tc4p9P78UfC9T2VGShdtWTId89w6Jrp/yFjH8++++Tnqe4Rzt8b+9UyvjfsGv2A6v1Df1DmHtnPr6o4DgYC1bN3EevXubGOfeNP5Yn3OZ4uc936dJ+p8UeeNbnp3rONy23bN3Nk8Y/Wr409qlut1on38+qvTbFC/sU69VM69dz1nCnqGZhAIBJwvDXR1q7s8Ee8rylt3GFzYvZ3p6l7Nu8PPP/1hOnbpGKZlMtSxpkf3e+3bRcui+istAwIIpIoA7UQAgcIKpBV2g5JKryBNSZUVrRydlOhDpj4ohKbRhyh9yNJVHqHL9WFjS4Sr/HS1R5tgYCA0rW4pO/PcY3OuqAxdt3D+UicIFrpM0/owH+mKCH0IUn663Ubp3EHPp6m16y7ubM5YdVRdcxYEJ3SCpZOr4GSu/zohO/fCtnm+5dYHB31Af/uNTy3Siaky0ZUgQ+542jmJLV++nCmQqOXhQ7ly/36oUV0rR7ntfo96uT8cKbC5bt2G8Kyc4Itu+QpfofoqeDH60dcjBhOVXledRjJ4aOh45xt6pQkfdt+ztnPrX/jy/ObXrl5vjz/0moX3H20z4+OvbPOmf69M07w76AOFnvfozrtjBZf0OIFRwQDGli15t3PTRRrrG3/tW+2b0PXq359Om+8Ej9zl/2uxv1WtWsmdzRlr2z322jVnXvupXLm8gWbt+/oNcj/TVUE2XR2bs/GOCV2Bo9v5d8z6flQ2+KFejmqo+t/oR9+w80+/3RZ/vUyLYh50G736SfgGO+9SJXyRM//8U++YvnhYv+NLjYyM8s7yeP3RMUZfXjw7enLUgOHff61xAtYThvMAABAASURBVK5qd6VKFaxMWuS3pLLp6c5xRF8i6EP1ay99FPW4U5T6uwbh2z496m37IfhFRPhyzTcIu3pbgXXV79brHrFflv2pJDENavuI4BdAn3w0L6b08Ujk1rWolrpSXV8+hNdlwz+bbNKr0519FbpO5en9K1Jgarfda9pFl7XP9cWTAia6A2DQ7WNNz3sOzcud1lVIj9z3ihMcc5e54wXzvo94NXlGhXK2XzAw46Yryviq6880HQ8DgdyBV10t+ME7cyLWZ8zISaYvLcPL05dYuhJUAd3wdSUxr3J73hL5uc+//bLCVG+3Hnou95575X4fdtfp8SqaVl/WPnks+P62adMWLYpp0PvzvcEvXH//9a+Y0ruJku2Yp3olun/otaQr2m/uMSLqcUbnEDq+a3+oTu6gbb+e/0PEwJneg8Lf993tdCzXeaM77461zcGH7evO5hrLQV9GlimT+5iuY/4Hk+fkSqtzoV9/ybvvA4GA6bynfcgPtakued5XcuVmpjL0RZ7aX9D7ijY97sTDnCuZNR06lC9f1vmSJHSZplVfnXctWfyLZq1s8D08o2J83z+djPmDAAIIIICADwVynxn4qIHX3HC26SHjC3b8QExhxroFRRQdOx1j+pCp6dBBHzQinSj/sXyV/RP8ABaa1p3er/GeznPM3HndUqhblN15d6y8dXLjzoePo32w2qlyBTv51MNzJd+z/q4Rg376YLAq5HZud6NoV5vow4WudHHThY7/+H2l6Qqm0GXutNqhE0DN69vtrRGeg6fg5bLgt8xKo/TRPmwWJrimZxQpv0jD1wt+tHVrN0Zale+yWZ8sjBi4TEsLWLOWjZ2T5HwzCFm5ddv2YB3yBk+VZPv2rIgfDrSudp1dNIo4LJi31Nasznv7asTEwYW6SkP9WwHm4Gyu/7pV/ovZi3MtUxBdge5cCyPMfDV3ia2LEBhWUn0o0jiWIb+2xrK919Pog+I3X/9UqGYouBJpgxZHNDb9IFTtsKu4lVZBoY8/mOsE8yL1BaUp7rDsxz9sW7DPR8rnh+9/y7myWV9YbIlwjNB2v4UFJvQjYpsLEeBQHkUZlv24PPjlw7eOT/j2unq7VesDcwXOlEbHvN9/+1uThRocp63bC7VNPBIX1lLBALU7EPgvAOfWQ8dvfSnizoeOtXz58pWhi3KmD2q6T8QrE/XF2PodAfKcxDsmsrKyoj7aINpjDwKBgO22e40dORR+pPfBtu2am/Z9+NZr1vxj4cdNN436xNIlv7qzucZ71a8TbPtRuZaV1EynLm2twb67RyxuUfC9cmlI8L1KlUqWkZH3CuVIG3//7S9R3+MipdcyvdbCX+dant+QbMe8kuwf2jfRjjP6ElHnEpHsdPdQ+J0HbjpdnehOh45///XvqO/rkfaBvrxvFzwfVYAyNB9Nr1uzwRRw1nTooHPE0Hl3Wu9LoT/U5i53jpdxel+JFqSsU7eG3XjbBc45nluuO5b/S89Pca5c1+tCrw93HWMEEEAAAQQQiC6QtAHIaB861BQFfcrHeCKs9EUZKlbKMH3IivRBQ7cD/xbh21o9500fiiKVV7lyRdMVflqnW54OOKi+JvMM+qD+09LleZa7C1b8sdqinTzqg4SuenTTJtNY36yHPkPQrZtOOt+c8Ikzqw8gj494zTR2T4Qzt2c6t7o89sAEJ01x/+S3j/LLe8l3v9qGfzZHTLJz9crOMzwjriyZhYUuRVfLqr9E2nD1yvWmgGbour/+XG0Kjocu07Rug/9m4Y+adAYFDJ567E3nqiV9CNLCLVu22txgQFNXaWqeIbdAVlZ2MMAV/RmRuVMXfk4fAs/qfJzpxyWen3in8+xRXfnk5vT265/a6lXr3NlSG3/4/hfOaz+8AmuDgR3dAhi+vKTmdaWu+nCk8hTMOvKYgyOt8u0yPQtZQYFIDdRzJxU8j7ROyyJdAanlunJXV7NpOtGDfmysqGXoToNatSN/EaQr6GdOXxA1679XrIn45ZLOMXT7a9QNE7RCV5YdfdyhFn6FmorTl1CLQo7rWrYiyqMkdJzX7ahKkyxDaR3z/NQ/irMv27ZrZnXqVo+YxcqVayMud8/5wlcGAoGoeYWnjTRfnPeVQCBgh/xvX9OPdr350XDnx+H0qCC3HF2J+t03hbtTwd2WMQIIIIAAAsUU8OzmSRuA3Lw5+u07ZdLLmK7Iyk9dz4rRswpHPfK66URagaxo6XUCrav/FDjRs4j0bD19qNSHy0jbKDg56P4rLfyqyidf6Gu1I9zybMF/ukWjXv1/b1XdZ7/drdJOFYJL8/7Xif+6KFeQKbU+xGzYsEmTeYadgnke2HSfnOXLf1sZ8QOPPuztFvxmNyfhjond96y1Yyr3SFdMrln93w/g5F4b25yubtRtM86+yMxy6qXn6zx838u5bkVWMPKUY26wpntfYHrmZNMGF9pZ7XqbTiJVkk7+9OMvdw2/wvn1QS0riWHlX2sj3hqtsvVhp/4+uW8v1vJkHvQjPxlRgvi6jVK3OYXWX68n3dKlW5v0etGgwNArL0w1PZMzNK1unTy++dV20F7nO/vwf/tebBedfWfOftYVRPrhpZv7XWDqi6Hb+nFaAY+0tOiHWr2e9boubtt1BaGCmdHy0a3tukJHt1y++u499t6nD5mu9tbV3MccdqXzQxPRti2J5QpcDbp9rH32yUIn2K0+pv426uHXbfIbM0uiChHL0BVDka7eVmKZ7r1PXU2mzLBXgzrOD5BEanC0AKObVncJuNPhYwXF69WvE744qeb1vGIFDCNVan2UKzXdtOpH0b483LVOddMtzm7akhgf2LSB6cuzSGWpniuCX3aGrtNVa7qtVbeduudTCswr6Kpn+oamLanpZDvm+al/FGcf6rZsnRdFyqPlEU3ynDvrXFp3ZERKr2XFeSRTLO8r3y3+2TZujPwFs8pXkF7HJj22RsHIGfNH2ePP3mrHn9jMObfRjzlOmjBdSRlSToAGI4AAAggUViD6p+LC5hTn9L8uW+EEqaJlu2s+t6O62+iEWc/v69S+rz331Dumk2p3XehYz5LSB9/7Bo/LuTVEt/GWK182NFncpnepXtXKBoOokTLUFZCbI/y4ipt2w4bNlrk98tVS4YFZ/aDJ6gi3WivwdMRRB7lZOmMF9urtCJA6C3b8URBg4bylpivbdiwq8kjPN9S+UHBRwan2R/eyN3dc/Rgt09rBD2ZdrzjFdOXWZ1+Pdr6JPv3so53n9QQCgWibxX25AnIKxEbKOC0tYBUrZkRalbTLdt2tRtS6RbtCQQ9fP/Z/VzmBRe2/Iw++zIbe+WzUfNwVCiwo6PXK5ME2e/FTdt9jPU3Phqq2S+WogQx3Wz+Ma9SsZpUqRe8f0W5JK2zb9VpaHuOtv/pApdvL9KHvudfutN4DLjJ9sVLYMuOdXl9U6AdMDm3Yxeln6m8KaMe7nMLkt3b1PxGfJ6g8AoFAnh9c0nK/DvWCAUJdzR+tfRvzee/SNgpYRQuS6/02lvd15VNaQ7WdK0ctOr8vTbWRvmjIzIr83p0R/DKopG/h3G33mlaubLqqlmdQXSN9KaJjTMcTbzF9MagvCPXl0uUXDon43Ms8mSZggeqzPImOeX7qH8XZXfk5FCffom5b0PuKflBx3uff5fuZwy07EAg4F0AcHjyHHv7otTbq+T6mL/bc9YwRQAABBBBAIH+BpA1A6hvJzRF+0MVtjoIX7nQs428X/WyRfvBC2+rZeeEBNgUg08uU0eo8g75R7XP9SOfqLp2ExzLoA7WuIlNmunpTwUJNF3bILxAWnpd+3Vq/aKhf1Q5dFwj8+4uH7nPh9C3ujbedn+eKQgUf9YuJ9w95IXTzhE8rENLtyg722vtD7d1PHnB+mVEneO5Vo3punK5WjXRLd8IrF6WA2jEExKNsWiqLo91CGa/K1A4Gjnv1Ps/enfGQ6Wq77ledavs1rme6YkxXz6gfax/qFu54lZms+dTdo6alR/nCQa+xJd/++yD74tZfH7Ief2hCxF+zzy/vnSpXMP0Qxv3BwLBee/mljbQulZeVLZduNWpWSxkCBQgVKCxqg9et2RD8Ai2zqJuX+nbFOW7+vWJt1GdWlkbDinMeUhr1jVRmsh3z/NQ/InnHuiw/B/2QYiznzKFpTm9zU6xFFzmdznOj/UBPtEzLBN/XWx7ZxIY93MP0aKVo6ViOAAIIIIAAAv8JJG0A8tNpC+zvFWv+q2nYlG7J0DMawxbHbda5XSoz8gelQCBg6elFp9OzohSEKUpl9dwmBXFCts13UkGeG69+yLkNXcEON3H58uVMz4Wb8tkIe+CJ663RAXvluhpNV6q8M+kzu7rbvSV6dYOeTfjWx/fZ9bee5/z6YJngCZ7qrLr/smyF3XHLKDvt+JtMV1NmRbmaROnjPSgwoysdo+Vb0K2H0bYrreXrC7hdsDj16nHTOTYxGDzuekUH2233GjnPGNM+1C346lPnndrPFHjTsuKU5YVt9WiDclGuptYP83z5+bdxa8ZrL31sPbrf69zGXJhjTCAQMP2YUrfgPotbZXySUVqZNEtLi3y813NRdZu4T5paYDN0C3W029EL3DiYoEq1SuYe04OznvtfnONmjVpVTX0pWRpdnPOQZGmD6pFMxzw/9Q/ZFnXIzyHasbSoZcVrO/2oTPfz7rYXnn7P+WGZwuS72+41rculJxdmE9IigAACxRVgewQ8KxD5U1USNEc/RDJz+gLLysqOWJtq1Xayw5o3irguHgsVgIz2QSs9GBTbvV7tIhezauVa27Y9M+L2OjnL70OKbuUsEyX4qQ/D+rGQ8IwVrNOtzzddMyLijzwovQJBurJTJ2F6pp/S39xjhP0Z5VdLtU28Bz1f57qbz414RZGeO9Wj+zCbMP6jAovN7+S3wI2jJDjw4AZRb1FVH11dzGdkRik2YYvze6Zn9epVi1zutTd3souCJ+K6qi40E/WvWTO+tq7nDHSCx6HrIk17LaAbqQ3usoaN9nAn84z1Az56veVZUYwFuipItzGfedKtzvM5f/phuUU7loUWU7Zcuh18WMPQRUwHBWrUrBb1FnrdUvvP+o3BVKnxX+/L6/Npb5ky+Z9SlC9fztLSIj86Q8ftBV8tTWrI/I6baWn5t71SpQpWJi1yGpmu+GNVibY9v/MQ1bVGrWolWp/iFJYsxzw/9Y/i7I/8HGoG+5W+0C1O/onaVufAg/s/bce3uNruvet557nVeia2zl8il/nf0voNdjM9yui/JUwhgAACCCCAQCSByGfDkVKWwrLXX5lm0Z5pVjb4YblZy/0TVqtPPvrKot3iq7L3LEYActH8H23tmn8i1r1SpYyIATg3cdWdd7KMjHLubK6xPsRE+gCnXxd9cdJdds+DV9uee+1q0z740vTQ7NBbXA7a63xnmW51ubvfUyV61aPbiDPOOdoi3bqjqzEnv/FpzHUq6FlcbnmFGevDWKXgB8hI22zauNlpDtHkAAAQAElEQVS+/uqHSKuSdpmCUtGukNNVSrGeSD/y1E12/+PXm2651tW5J53SyhRkCG+4ggsTX/7YdIIfvi7SfEHPkou0TTIua3/6Ebb7HrUiVk3HgBeffT/iusIuvOaGs23ukmecZ6S62+rLBL2WOxx7g7U+5HK767YxNnvmIov2LFNtV7PWzhoxhAjkdwu99qGO5yHJfT+px5lE+0Beu4BHUexSvUpUn++//SXm40NOJiU88e2iZc4PJEUqVo9tibTcXabjapngl5fufOh4+W8rc54/Hbo8kdM/fP97VO/y5cuaAiqxlH/V9Wfa+LfuNp1nxJI+XmmS8Zjnp/5RnP2Un0PVajtZs1aNi5N9XLfVuc6UWQ+bBk0rc52n6NnD559+u7U8oLtd3XWY87xyPS8+2rGvcuWKVivKj1AqTwYEEEAAAQQQ+Fcg7d9Rcv7Vt9pvBwNPCkBFquH+B9a387ueFGlVsZfpBGTu7MVRr8DULct6IH8sBamOuq1YtxcrvX4cZ/HCnyI+8Fon/vvuv6eSRRz0i6vRbsHWczP1wzOhG+qqQj2f5oCD9jb3w0/lqpUs/EdoQrcpjWmd+NWsHTn4oWd0LphXulfGaH9XqBA58PvzT3/a+5NnlwZbkcuc/enXtiZKEFxXQOoB6wVlfuZ5x9kh/9vPmgc/TPyvRSPnA2v1GpEDDArmvzVxRkFZ+m79yacd4TywPrxhOqa99PwHNvmNmeGrijT/2y8rbPv2TDvkf/uarkINz0THs/HPTrHu595lV188zBSADk9T2PlAWsB2qlyhsJt5Lr1+RKlcMCATqeIKxul4HmldpGW6Si6/K9wjbVPUZWXLpltGxfIW738zp8833b4bKd+6u9e0/N4XtT7SdvqC4rMZX0dalVTLpk390lb8uTpinXbepbId3ebQiOu0sF7wy7+04GtG06GD7lyYNWNh6KISmda5wk9Lf49Ylr5kbRbDF7za121Oam6NGu9lx51wWMS8whfqNRC+rCjzyXjM81P/KMo+cbeRw18rIr9O9GNLhwbPG9y0+Y11peToF2+zR8fe7HzJmV/aoq7Tl/Z6f6wVPP+85OrTIt7pomfE977+UWvXuqdNfe/zqJ8LiloHtkMAAQQQQMBLAsWta1IHINW4h4aOt3ff/MwyM7M0m2uoUKG8db74BNMHxFwr4jSjX8aLdluUrmo6+/zjCixJD6buenl7q7tHLTvgoAY56cc/NyXiFZYKEh7U9L90ORvsmDiw6T4W6cOwrsSZ8OKHO1L9Nzr+xP/luqowEAg4QYr7HutpC5aNyxnm//S8zV78lM1aNMYZPvpipOmqhr4DuybM979amvPNceXgN8ihy0p6etc61SN+eK5YKcMOPrRhTgA3tF6bN2+1d9/6LOqVJKFpk2laJ9QzozziIL1sGWvTrlm++10mZ3c+zglAKR8FF+vV39UU9EimdiaqLhVjCOwoENjiiMZ5qqArT/V8VR3b8qws4oLt27OcLzTKly9n517Y1vTFQ7Ss5ny2yD6aMtcygwHL8DS/LPszfFHU+fQyZaxGLe/cphm1IcEVewX7bnCU5/9Bh+wT9RdOdTVMpGOuMtGzPTUOH3baqYLtWsBVguHb6PVYlCtr9P64SzAoFp5fcecVNNfxQ4+eCM+rRs1q1qp1k/DFznz7048IBhF2caZD/+iKIn3Z9+oLU0MXJ+W0vhSdPGlmxKsg8wusqB/ttXediG3SF4djHpsUcV2iF+oL3n/Wb4pYTCxf8J7f7UTbu2Fd+/XnP23c2Hdz8tmwYXPw+JL3nE0JagaPGXr/0HSsg/O62a16ruTbk/CY57f+kQu8EDNymPXpIot03q7jWUHnF25RfQdebHrUUsP99rBox2g3bVHHCj7qWBYIBExXZqrMaHkprZ45GukWc31R/mOUgH60/FiOQDEE2BQBBBDwrEDSByAle3e/sTb59U8tM8IH5j332tUUTGvWsrGSRhx0sqsrg6IFR8qVS7dIVx3qypZRj7xuujojPGOdRHXsdKzp6sbwde78sW0Ps94DLnKCa7rCYcgdT7urTB/gJr70kSmAlbNwx0S0E38FFdSOHclyRvldTRXtSpWcjXdMBAIB0wdWWWmoXqOqNW5S387t0tZeeOMu6xM8EdTyHcljGsUSpHEz+u3Xv4LOG9zZXONIHz70C57lyqbnSufOZGQU7aqfPerVNn2gcvNxx/pWvPGBe7mzOWOdXL8XDD6OfvSNnGWhE9HqEak9odtFm46Wn9LrSqdo/VtXHdWrn/fD75PBvq3bHrV9+CCL2wd1jxiEVD/od3c301WhejbnyAdedTbXyfeWLduc6fA/O1WuYLrKNXR5tZ13Ml1FF7rMnc6v75QpE/mwpauLVI6bR3HGamPtfG6nanxg/Yg2bpn6IZ7zLz4xz+3o+gAzOhhsuO2Gx9ykUcfRDAq6SlqPMbju5k52WY8z8s07kJbbUcc5BSbDN/rph98jHqfKBo+bjRrnfV2Eb5/ffH59Or/ttJ+j9R1dJR5p23rBIGO010i0Y66uWq8d/GIiPL8tW7baq8EvfD54d074Kmc+2i2I5TPK2WEt8j46RO9fbU9ubjJ1Mgj5EwgE7MT2Ley2u7pF7HN63ekDdMgmzqTK0mMRnJl8/hTFUseOJYt/doLeoVlXCAbmddWvXj+hyzV/+tmRH7GxZPEvpl+gDU0fy3RG0FKPJIklbWiatLB+H7oululRD080BfEVOA1Nr3OCaIGVaP1Iz1h+5L5XCv0FVpn0NKu9686hxRdpWldFT31vjum9LDwDnQ90u7KDndLxyPBVzrzOfU45/Uin7k+PejvXI1IWfrXUfl72h5Mu/E+NYJC63amHhy+2rlecYk1CvqQNTVApGLi/4rqOzvmW+lLoOk2XzjFPJecdSrJ/ROvLgUDA0oN9JG/tzKIdNy34L9p7a37nF9qfkfbJkOD57pyZi/IcI4LFmM4vet95sUU6tmq98rtz2OXWrsPh9s/6jabzcJ2Pa10sQ0YRzwHV/vanHZHzWJlIZen8LT3sUQo6/uqYoH4faRuWIYAAAggggMB/Ark/gf63PKmm9KFdtz88dO9LpqtOwiunD5wPj7nRCUS2bdc8Z/VRxzU1BUpenzLM+cXn8A93/wS/+X/vrVl263WP2Hff/JyzXejES89NCZ78TLRIgTyd9N502/n2zCv9rXMw2OCeTOmqRwVFhzx4te1Wt4a9//Zsu/6KB5wT9dC8R9z7sj16/yt58taJ/zU3nJ3zgVP5XtnzTOsRXKYyQ/NQG0Y/OsmiXU31xqvTi/1DMvpQec75bSz0m2HVqWOnY+yE4AfjcFe3fkcdd4jd89A11qFj66gnmm5aXQGz+OtlEU9W9eGj+1Wn2vEnNnNuj1Fg5apeZ1m0W4j3a7yn3dD3/ALLdMt2xzr5POOcY2zQ/Vc6H/TVRgVezw/uW11Z5qbTWB/YZnw83xQc13zooA/9/QdfYqpH6HJ3WifXao8+lGraXa7t5KnAgbssdHxAMOj15At97bSzjnIc3HXq8/rhl2o7V3YX5RrrV5iHP3qthZenZwQOueMZ+/67X/O4BwIBO7R5I3t07C126dWnOZaqq/JQf1eQQYEPba98VOCH738R9UeOdHvT1cH+q0CL66qARLQfm2l5RBO7+LL2udqpK50vv/YMO+Log1RcnqFM8EOB9t9dw68wWeZJEMMClaFfhx859mbneanRNtEHqKEjeuQyVYC1V+/O9va0Bxwzebnbq7/oF8B7XfmgjRj2krs44lh1uDrYv1u1PjDierXzrPOOs/zaqQD9NTecZa9/MMxkpjwt+E8uOiaecsaRlhZyO6huA33/7VkW6Sq0qe9+YX/8vjK4dd7/uvVerxHt0/C1an+7U1vZ2ecfbzqGhK/XvPr0I0/d7Byf3TpqebRBear/q/0VKkT+ouHAg/e2sS/dbu1PPyJaNnmW65irZ9npOKsy5DT80eucD8A6LoRuoC+Nnh/zbtRjrtJOfuNTW/7735rMNchcr1fXTG1WYPGu4Zfb99/+GvHKOmWgOum1NzH4XjZg6GValDNMnzrPVq9alzPvTqisE05u4QSitb273B1rWVEt9Zq/5dqH7YtZi/McO5oe1tCeeqlfjr/eDx968gbT1UWBQMAt3tlOV0rpx86UX86KHRN6PQ2451Lbfc+aO5bkHqmPXx4MsstFbXHXat+ddEpLy4jSPw45bF97cFQv035wtynMWOcjej/X+3r4l6I6LowYfVNOoEx1idSPFLz86YflNqD3aOfLyPDytd0t/btYkygBOb0fdb/qNLtv5HUxv3bCy3Dn9R72wTtzLLwtWq/jdr9g4Dv0WKP9+cAT19v1vc919uGoRyaazpOUPnT46P25EZ83q3OYS4Lv5/pyU+mVn97XTgkGM5d8+4sWRRz0PnbrHV3swzmPOucU4YnUH0r7mKc6lWT/0JfEKjN80PG2e9BYj0kJXSdrva6inbMdHTxn69X7POf93t1OfVHnXpUrV3QX5RrX37uOPRo8hocfb+UwJBiEjHSMCAQCzheSL711t3OOrjopU72P6HzjhTcG2ulnHxU8319rQwY8k6t/6bXeLs7vKyrbHfT+2uakZvbK24Ns4L2XO/XUOtXtokvb2zXB8xj1NS3ToNfyogU/2FPBLxY1z4AAAggggAAC+Qt4IgDpNmHMyEl2Tvu+zsOgFXhzl2usk5K2weCjAn8LdtxarA+2umpw192qWyAQcE6W9Yt2875Y4vwgw/EtrrYbrnrQ+aU75RFteOqxN+3mHg/bgnlL85yk62TlkGb7OVc6TvlshKnsR4PBC53AKGh5/5AXnTJ0MhYpf+V95UX32GefLMyV906VKzjBDX3gVL76cFwt5HY6BQz0jeu1lww39wq0SPnrSkt9wNCHHZ0oRUoTyzJ9CD+hfUvTSa0Cim98MMz0Qbh+g92ibq59cvJphzsBvcnT7ndO3KImDq7QVTAKBEeqp8rRh57Pvh4dPDE92kaPfMOeG/OO6aqt4Ka5/iuYoOCV3EIfLJ4rUYQZfQDT1WVqn+t+XpcTcgXBtJn63rix79rVXYfmCSqPGtfHdPKsIJbqofThQyAQcJ6XqMCDPghrvU5qFdg7ps2hJmstCx/0oUEn6vowqO00rfapzyuwp4BD+DaaDwQCwWBoPSegre20zB3Uh84//XZ7bfxHpna5y93xbrvXcJ4pKEvdnq8679WgjumxCFd0uce5EshNqz6uq3l+//Uvd1HOOBAIOLf+jxl/m70/8yHnlnYFL9+cOMN0NVlOwh0T6usKIqtM7Qv1NY3lVKNmtR2p8o7U5xRUGf1C34gfUvNu8d8S5a9BwWMFX6PtB20RCAScq6bloTrqda8P0bqKZ496tZzjjdJt2rTFvpzzrd0QDDx2Ch67Znz8lRZHHdx26mqfqtV2ippOx4fQdmZlZVlWVrZzjNOxQRsGAgHTlzMyU7tUOshSZgAAEABJREFUR/VNHRPlpDQa9KXOw/e9bP1vGaXZPMOyH5fbs6MnR/zhLOWj14j6h/LXoLLUN9+Yeq8pSKurtgOBQJ58tUB9+qjgF0Uy13Zqv5ZHGvS6VPBB/T/SFevuNjomH9aikekLoGj5KfCtvhp63NWHSh1ntT/lpC8DVD83Xx2Xflm2wgbfPrbAK/YUUNNVgrJ1t3fHoWavvT/U9LzVEcNfNgX03TSFGesY/+oLUyNeparXUY8bz3Yeq6F9o0HHqHhYqo1dOw20B+55MRgoWJdT5UAg4Fw9L3+Vp/dD9Qf39STHv/9aY7pSTMce5ZOz8Y4J1VGvp47nHpvnKuIdSZzXmPqBXoMK1mm59rf23VHHH5IrwK517qB9etwJ/3O+sFR6d3lhxjrW6dzhzj6jTX1CbdL2gUDA9PpXoCxaP9J5gY63nU7pGzH4qDqpDRd0O8l5xIXyjTToGNA2GGDWa+fx53rnBEoipc1vmduWoQOfs19/XuEcQ0LTq7/qWKM6uftTftpvOi/SOUxoenf6+afece5ccY9H7nKNFUzsO7CrKb8RweB0dvDYpUB0pPcCpY80ZCXZMS+0jq5pIvqHXhvaFwX1j3r169gdQy4x9SfVTdvptajHyWg+0qDjRdcrOpi+ENF6vXfovEQ/EKjXjZaFD6HHW5URul595Opuw5z3Dx1zQ9dpWj9KpfcjvdbVF/Q+cu3NnazuHjWDr42v7PILhzjn+0qrQceReL+vKN+sHY942r4tM6f/y+L0s4+20LrdeNv5wS9EamkTZ1B/1eNUel7+QK4rgJ2V/EEAAQR8KkCzECiugKcCkGqsblnS1ZDHB4OHd902xnmWmZbpg777IUDpNK1lK/9e6wQAFKy6tPMg0y/aXdixv+nWI50kKm0sgwIHnU/rZ5eeP9g5IdKz0pS/ynG311VOeg6MAg4Deo+2tq16mH5Jz10fbayrQC49f5Bd0PEO55tenbSpbuF5K3iqdbraoMtZA6xbp7tyBYCi5a9bV3SF5DNPvh0xYBdtu/DlGRnl7Khjm4Yvjtu82qZ2KdihIJYCgm7muupIV+rpw+5Z7W61Nyd84ljdceso020vmzZuyTlxlJuCaV8Hv5We+NLHtuCrpW42+Y7nzPrG7hs0znT7ZGh+2kjlK4j7wjPv2eltb7ahdz6rxb4Y1NcUfFK71E/kpg/Jof5u335/8my7ssvQYEB+hOl1Fw6gYEiXs+60N16dZnrtaTul0T6RqfaVXhsKxin4qfLuG/SCcxWmjJVWg7bTa0lfFrz8/AdalPTD1i3bnCCuAna6lVnHp2MOu9LUpz+IcqtuvBr194o1tmHDJicQdP2VD9i9dz3vHPe0D0JdVZ72qz4Mylbp9GB9fbmjddEGHXOuunioTfvgSycQqf3pptW+0hcB+vJgwviPbPjdz7urkmqsD8pbt26zBcEvkvSh+LEHJwSP54OCw2DneBLxmL4902TlHtNPPqqnqY2xNEzPCuvR/V7TVfbqy3Jyt9M+CT+e6UeEMoNBFb2vqEw9HkF1fSsYpNf7V5/rR9ol591t/W9+ws0mZ6yr6Xtedr+zz/U+kWv/7GiDXns6fj14z/ic7eIxob6jPqT+/um0+c7rXq+F0LzVXvVFrb+731PW/uhepjqHpvHitPqC+kTvno+aXuM6JqqtoW2RhfanXm/3DR5nHU+81XS81XE3NF1pT+tLNe1HtUXHce2v0LaoT4Ufw3VelF+91U4N6nvaVnkovcZ6j9YXADdc9VDwNTjICeAoEKTjk2xkqWOK0kyaMN0eDAa6dbeKzsM074Vjnp/6h/ZbUQbty2HB4PaJR17nvC/pdaDXg14Xofmpr+kYLDOdH+gLXp0ThqZJ1PTKlWtNwUedI18fDCbqtaxgvI7F6qtuuZpWe1SvF59531RPBc7VV900JTSmGAQQQAABBDwr4LkApCutkwAFEfUBr03LHta8UVc7aK/z7cB6nZ1B01rmBgDuGfCMKRDnbl/UsYImCoCefNT1ecpsuvcF1rrpZU7AQVekFLYMnaQP7DvGTm9zk7Vo3C1Xe5S3gqdapzRKW1D+uipuzPjbbNqXjzlXe1x0aXvnB2l+++UvJ3jpWrljOepDrk6+9M1upPx33a2Gc6WO6uduF8v40IZd7OHhL0fKMtcy7VfnZPWI66xpgwudfan8m+13sZ0RDPzpw67SuBvpw/15p/az5vv/t/+171s16W7nnnKbU2Zoene7aOOxT7xlZ7XrnSs/t/wOx95gg/qNjRh4c/NTkFvpYx2UXtvKRkaF2U79uU2La3KMYtnWLU9lhg86iR71yOuO2xEHXZrLX/1PfbvXFQ8UGPRWPn17PWZ67Wk71Uv7RPtI+yr8taEPvtq32sdKq0HbqTx9WaAraRR00fJYB/VPfUgNb2N+83ptxZp/pHSH7XuRqd+dcswNpuOSjk+F6XuqW1Hb6fYFmevXbfXFhwKfmg91Vb31ump9yOUmW6WLtY76okSBuyMPvizPsenwAy+xM08KBlaCwTEFL9z6qLzCDGq/HCIN2p/ar0XNTwEMHUMVwFBb3DLyPaYHj0GykmV4v3W3z2+scnSlnPqy+rRbd+0T9fnQ45kColqu9y2VecYJt5jqqqCL3r/UfrlGK0/BINVTbdTrzS3L3d967en4pfcO5VUcy/A6qA+pv19+4RDnda/Xglu+xmqX+qLWK53Sh+cROq/jlLaLdXD7jcaxbqN0Sh9abuzTuVMqSKwAcJvguYjaqrzdQRban3q96WpBHR9zb517TnVyt411rPeB/PpG7hLyn1Nb9GWD9ldoW9Snoh3D88tRfU19T9sqD7VJYx0r9cWrzjfc7dU/1F/VN2WpY4rS6LzkyUffMNVNwR+lV3vVbtUzGY55qlO0QfWOV/8o6mujMNsprdpSlPMSbRdp0Gte7zd6Hej1oNeF+oI7qK/pvFr9393H4fm4+9zdJtax8gzPK3Re7T1knwudK9vVH7WvFIzXsVh91S1H0+qbOlfQFynR6hmaN9MIIIAAAgggkFvAswHI3M1gLlxAz/oZ/MCVpiCknhflrtc3urrCUB+63WXuWB+M9GFBJ1+vvzzNuaXTXeeOy6SnWaVKGe4sYwRKR4BSEUAAAQQQQAABBBBAAAEEEEDAMwJFDkB6poUpWlE9V0cPzQ5vvm5b+uSjr8IX55nXVTJbNm/Ns1y3zfyxfFWe5SxAAAEEEEAAAQQQQAABBBDwpwCtQgABBIorQACyuIJJun3d3WtGrNnWrdtNz6iLuDJkoR7AHUjL+8MRPy5dHtP2IVkxiQACCCCAAAIIIFB8AXJAAAEEEEAAAQQ8K0AA0rO7Lv+K66HakVJU23kn0+3ZkdaFLqvfoK6VL182dJHpIfLTP/wy1zI/zaSl8XLw0/6kLQgkRoBcEUAAAQQQQAABBBBAAAEECitAxKWwYh5Jv2j+j86v+oVXd5fqVeyiy9pbpNuz3bTHtj3MjjzmYAsE/rsCUr/g+v7kWaZf/nPTldq4GAVXDQZgMzLKRcyhXv1drcXhB0Rcx0IEEEAAAQQQQAABBBBAAAEEEChhAYrzjQABSN/sytwNeXzEa/b5rG8sOzs714pAIGDNWzW25ybcYVf3OssaNKybs75tu+Z232M9bciDV1vNWtVylm/ZstVef/lju7vf2JxlXptocnAD63LJyXZ5jzOsStVKEatfe9dd7O77rrABQy+zDh1b5xukjZgBCxFAAAEEEEAAAQQQ8KEATUIAAQQQQKC4AgQgiyuYpNtv3LDZrrvsPnvh6fds3doNuWoZCARs192q2xXXdbSJU4bZgmXjnEHBRwUhK1bKcNLrqsdFC3+06y693/rfMsqUp7PCY38UUHzhjYF2U78LbN/998x1ZWd4U3RlaMdOx9ig+6+05ycO4IrIcCDmEUAAAQRKS4ByEUAAAQQQQAABBBDwrAABSM/uuoIrroDh4P5PW9tWPeyu28bYp9Pm268/r3ACiZnbM/NksHnzVidY+fWCH2zc2HftzBNvsU7t+9qMjwv+1ew8mbEAAV8K0CgEEEAAAQQQQAABBBBAAAEEECisgPcCkIVtIemdgOP4Z6fY5RcOsXate1qLxt2saYML7cB6nXMNzfa72I446FI795TbTIHLpUt+84Ve/5ufyNXO8HZHm2/T4hqb9enXvjCgEQgggAACCCCAAAIIIICA5wSoMAII+EaAAKRvdiUNQQABBBBAAAEEEEAg/gLkiAACCCCAAAIIFFeAAGRxBdkeAQQQQACBxAtQAgIIIIAAAggggAACCCDgWQECkJ7ddVS85AUoEQEEEEAAAQQQQAABBBBAAAEE/C9AC+MtQAAy3qLkhwACCCCAAAIIIIAAAgggUHwBckAAAQQQ8I0AAUjf7EoaggACCCCAAAIIxF+AHBFAAAEEEEAAAQQQKK4AAcjiCrI9AgggkHgBSkAAAQQQQAABBBBAAAEEEEDAswIEIGPedSREAAEEEEAAAQQQQAABBBBAAAH/C9BCBBCItwAByHiLkh8CCCCAAAIIIIAAAggUX4AcEEAAAQQQQMA3AgQgfbMraQgCCCCAAALxFyBHBBBAAAEEEEAAAQQQQKC4AgQgiyvI9ggkXoASEEAAAQQQQAABBBBAAAEEEEDA/wK+bSEBSN/uWhqGAAIIIIAAAggggAACCCBQeAG2QAABBBCItwAByHiLkh8CCCCAAAIIIIBA8QXIAQEEEEAAAQQQQMA3AgQgfbMraQgCCCAQfwFyRAABBBBAAAEEEEAAAQQQQKC4AgQgiyuY+O0pAQEEEEAAAQQQQAABBBBAAAEE/C9ACxHwrQABSN/uWhqGAAIIIIAAAggggAAChRdgCwQQQAABBBCItwAByHiLkh8CCCCAAAIIFF+AHBBAAAEEEEAAAQQQQMA3AgQgfbMraQgC8RcgRwQQQAABBBBAAAEEEEAAAQQQ8L9AoltIADLRwuSPAAIIIIAAAggggAACCCCAQMECpEAAAQR8K0AA0re7loYhgAACCCCAAAIIFF6ALRBAAAEEEEAAAQTiLUAAMt6i5IcAAgggUHwBckAAAQQQQAABBBBAAAEEEPCNAAFI3+zK+DeEHBFAAAEEEEAAAQQQQAABBBBAwP8CtBCBRAsQgEy0MPkjgAACCCCAAAIIIIAAAgULkAIBBBBAAAHfChCA9O2upWEIIIAAAgggUHgBtkAAAQQQQAABBBBAAIF4CxCAjLco+SGAQPEFyAEBBBBAAAEEEEAAAQQQQAABBHwjEDUA6ZsW0hAEEEAAAQQQQAABBBBAAAEEEIgqwAoEEEAg0QIEIBMtTP4IIIAAAggggAACCBQsQAoEEEAAAQQQQMC3AgQgfbtraRgCCCCAQOEF2AIBBBBAAAEEEEAAAQQQQCDeAgQg4y1KfsUXIAcEEEAAAQQQQAABBBBAAAEEEPC/AC1MGQECkCmzq2koAggggAACCCCAAAIIIJBXgCUIIEUZvqQAABAASURBVIAAAggkWoAAZKKFkzT/Bg3r2tMv327zf3rePp77mB3d5tA8NT20eSOb8tkIW7BsXL7D3CXP2DU3nJ1nexYggAACCCCAQMwCJEQAAQQQQAABBBBAwLcCBCB9u2sjN6zJwQ3sxtvOt8efvdUUYAwEArZt23bbvHFLng1q1KxqGRXK51nOAgT8K0DLEEAAAQQQQAABBBBAAAEEEEAg3gLJF4CMdwvJzxHQFYq6UvGFNwbaRZe2t9p1qjvL8/tTqVKGlStXNr8krEMAAQQQQAABBBBAAAEEEECgaAJshQACKSNAADJFdvXDw1+2Qxt2sQPrdbbHH3rNtm3dXmDL6+5Ry7KysuyR+15xttO2kQblq/wLzJAECCCAAAIIIIAAAkknQIUQQAABBBBAAIFECxCATLSwh/OvWXtnCwQC9tsvfyWkFYc2a2QMGNAH6AP0AacPcDzkPYE+QB+gD9AH6AP0AfoAfYA+QB+ISx9ISBCnmJkSgCwmoJ8336V6FVu/fqOt+GOVn5sZ0jYmEUAAAQQQQAABBBBAAAEEEEDA/wK0sKQFCECWtLiHyqu2c2XbumW7Hd3mUHvnkwdt3tJnbcGycTb/p+dt5sLRNur5PnbE0QcXuUVz5yw2BgzoA/QB+gB9gD5AH6AP0AfoAynaB/g8wOch+gB9gD6QkD5Q5EBNAjckAJlAXC9nXbFShlWtVsn2qFfLLuzezuruUdPKpJdxmhQIBGynyhWs5ZFN7L6R19mVPc90lvMHAQQQQAABBLwnQI0RQAABBBBAAAEEEEi0AAHIRAt7NP9GB+xl6cGA4y/LVthDQ8dbm5Y9nOGFZ96zjRs257SqYjBQeUG3k+yMc47OWcYEAggUWoANEEAAAQQQQAABBBBAAAEEEPCtAAHInF3LRKjA3NmL7eSjrg8OPW3UI6/bn8tXOsOgfmNt3NPv2bat23OSV6laydq0a5EzzwQCCCCAAAIIIIAAAggggAACyStAzRBAoKQFCECWtLgPyvvgnTn214o1uVqiW7RzLWAGAQQQQAABBBBAAIH8BFiHAAIIIIAAAikjQAAyZXa1WYOGde2szsfZsW0Ps7Ll0nNaXqNmNbvosvbW7tRWpluqc1ZEmVj41VLbtGlLlLUsRgABBBDwkgB1RQABBBBAAAEEEEAAAQQSLUAAMtHCSZL/NTecbS+/Pdj6D77E9t1/Twv9V6ZMmrU+tqkNHdHDxr0+0Fml6blLnrF5Pzxnz702wAleOiuCf+rVr2PlQgKYwUW2ft1GjRiKJsBWCCCAAAIIIIAAAggggAACCCDgf4GUbSEByBTZ9Q8Pf9kObdjFDqzXOd/h9DY32QntW9jhRx3oXCWp4GTjJvWt3amH50g1OXhvq1ptp5z57dsyTc+MzFnABAIIIIAAAggggAACCCCQtAJUDAEEEECgpAUIQJa0uAfK27Rxi23fnplT08ysLNuwYVPOvG7hrlylojOfnZ1tn8/6xh4f8Zozzx8EEEAAAQQQQCAmARIhgAACCCCAAAIIpIwAAciU2dWxN3T6h/Ns/LNTbOOGzc5Ga9f8Ywvn/WBNDm5gD47qZW1OamaBQMAUfPxi1mIbcsfTOWmdDfiDAAKeEaCiCCCAAAIIIIAAAggggAACCCRagABkooULzj8pU4x84FW7ptu9Nm3qPCtfvpyNGtfHXnhjoPMDNps2bbV5XyyxAb1HW9dOA23pkt+Ssg1UCgEEEEAAAQQQQAABBBBAAIEkEqAqCKSsAAHIlN31BTd8zmeL7OquQ61108us6d4XOM+OPGiv861Vk+52Ycf+9uoLUwvOhBQIIIAAAggggAACCCSVAJVBAAEEEEAAgZIWIABZ0uKUhwACCCCAAAJmGCCAAAIIIIAAAggggEDKCBCATJldTUMRyCvAEgQQQAABBBBAAAEEEEAAAQQQ8L9AabeQAGRp7wHKRwABBBBAAAEEEEAAAQQQSAUB2ogAAgikrAAByJTd9TQcAQQQQAABBBBIRQHajAACCCCAAAIIIFDSAgQgS1qc8hBAAAEEzDBAAAEEEEAAAQQQQAABBBBIGQECkCmzq/M2lCUIIIAAAggggAACCCCAAAIIIOB/AVqIQGkLEIAs7T1A+QgggAACCCCAAAIIIJAKArQRAQQQQACBlBUgAJmyu56GI4AAAgggkIoCtBkBBBBAAAEEEEAAAQRKWoAAZEmLUx4CCJhhgAACCCCAAAIIIIAAAggggAAC/hfY0UICkDsgGCGAAAIIIIAAAggggAACCCDgRwHahAACCJS2AAHI0t4DlI8AAggggAACCCCQCgK0EQEEEEAAAQQQSFkBApApu+tpOAIIIJCKArQZAQQQQAABBBBAAAEEEECgpAUIQJa0OOWZYYAAAggggAACCCCAAAIIIIAAAv4XoIUI7BAgALkDghECCCCAAAIIIIAAAggg4EcB2oQAAggggEBpCxCALO09QPkIIIAAAgggkAoCtBEBBBBAAAEEEEAAgZQVIACZsruehiOQigK0GQEEEEAAAQQQQAABBBBAAAEESlqg5AOQJd1CykMAAQQQQAABBBBAAAEEEEAAgZIXoEQEEEBghwAByB0QjBBAAAEEEEAAAQQQ8KMAbUIAAQQQQAABBEpbgABkae8BykcAAQQQSAUB2ogAAggggAACCCCAAAIIpKwAAciU3fWp2HDajAACCCCAAAIIIIAAAggggAAC/heghckmQAAy2fYI9UEAAQQQQAABBBBAAAEE/CBAGxBAAAEEENghQAByBwQjBBBAAAEEEEDAjwK0CQEEEEAAAQQQQACB0hYgAFnae4DyEUAgFQRoIwIIIIAAAggggAACCCCAAAIpK5BCAciU3cc0HAEEEEAAAQQQQAABBBBAAIEUEqCpCCCQbAIEIJNtj1AfBBBAAAEEEEAAAQT8IEAbEEAAAQQQQACBHQIEIHdAMEIAAQQQQMCPArQJAQQQQAABBBBAAAEEEChtAQKQpb0HKD8VBGgjAggggAACCCCAAAIIIIAAAgj4X4AWRhEgABkFhsUIIIAAAggggAACCCCAAAJeFKDOCCCAAALJJkAAMtn2CPVBAAEEEEAAAQT8IEAbEEAAAQQQQAABBBDYIUAAcgcEIwQQQMCPArQJAQQQQAABBBBAAAEEEEAAgdIWIACZ+D1ACQgggAACCCCAAAIIIIAAAggg4H8BWogAAlEECEBGgWExAggggAACCCCAAAIIeFGAOiOAAAIIIIBAsgkQgEy2PUJ9EEAAAQQQ8IMAbUAAAQQQQAABBBBAAAEEdggQgNwBwQgBPwrQJgQQQAABBBBAAAEEEEAAAQQQ8L9AsreQAGSy7yHqhwACCCCAAAIIIIAAAggg4AUB6ogAAgggEEWAAGQUGBYjgAACCCCAAAIIeFGAOiOAAAIIIIAAAggkmwAByGTbI9QHAQQQ8IMAbUAAAQQQQAABBBBAAAEEEEBghwAByB0QfhzRJgQQQAABBBBAAAEEEEAAAQQQ8L8ALUQg2QUIQCb7HqJ+CCCAAAIIIIAAAggg4AUB6ogAAggggAACUQQIQEaBYTECCCCAAAIIeFGAOiOAAAIIIIAAAggggECyCRCATLY9Qn0KLVA7c62d9s8XdsPqyXbrqkkJGXqufscpQ2UVuoKpuAFtRgABBBBAAAEEEEAAAQQQQAAB/wvE2EICkDFCkSw5BRQQvHDdDNt/6+9WNnt7wiqZkb3NKUNlqcyEFUTGCCCAAAIIIIAAAggggEAhBUiOAAIIJLsAAchk30PUL1+Blpu+t/TszHzTxHOlylKZ8cyTvBBAAAEEEEDAFwI0AgEEEEAAAQQQQCCKAAHIKDAs9obAPttWlHhFdbVliRdKgQggEKMAyRBAAAEEEEAAAQQQQAABBJJNgABksu0RP9SnBNuQyNuuS7AZFIUAAggggAACCCCAAAIIIICA9wSoMQIxChCAjBGKZAgggAACCCCAAAIIIIBAMgpQJwQQQAABBJJdgABksu8h6ocAAggggAACXhCgjggggAACCCCAAAIIIBBFgABkFBgWI4CAFwWoMwIIIIAAAggggAACCCCAAAIIJJtA/AOQydZC6oMAAggggAACCCCAAAIIIIAAAvEXIEcEEEAgRgECkDFCkQwBBBBAAAEEEEAAgWQUoE4IIIAAAggggECyCxCATPY9RP0QQAABBLwgQB0RQAABBBBAAAEEEEAAAQSiCBCAjALDYi8KUGcEEEAAAQQQQAABBBBAAAEEEPC/AC30mgABSK/tMeqLAAIIIIAAAggggAACCCSDAHVAAAEEEEAgRgECkDFCkQwBBBBAAAEEEEhGAeqEAAIIIIAAAggggECyCxCATPY9RP0QQMALAtQRAQQQQAABBBBAAAEEEEAAAQSiCPgoABmlhSxGAAEEEEAAAQQQQAABBBBAAAEfCdAUBBDwmgABSK/tMeqLAAIIIIAAAggggEAyCFAHBBBAAAEEEEAgRgECkDFCkQwBBBBAAIFkFKBOCCCAAAIIIIAAAggggECyCxCATPY9RP28IEAdEUAAAQQQQAABBBBAAAEEEEDA/wK0sIgCBCCLCMdmCCCAAAIIIIAAAggggAACpSFAmQgggAACXhMgAOm1PUZ9EUAAAQQQQACBZBCgDggggAACCCCAAAIIxChAADJGKJIhgAACyShAnRBAAAEEEEAAAQQQQAABBBBIdgECkMXfQ+SAAAIIIIAAAggggAACCCCAAAL+F6CFCCBQRAECkEWEYzMEEEAAAQQQQAABBBAoDQHKRAABBBBAAAGvCRCA9Noeo74IIIAAAggkgwB1QAABBBBAAAEEEEAAAQRiFCAAGSMUyRBIRgHqhAACCCCAAAIIIIAAAggggAAC/hfwegsJQHp9D1J/BBBAAAEEEEAAAQQQQACBkhCgDAQQQACBIgoQgCwiHJshgAACCCCAAAIIlIYAZSKAAAIIIIAAAgh4TYAApNf2GPVFAAEEkkGAOiCAAAIIIIAAAggggAACCCAQowAByBihkjEZdUIAAQQQQAABBBBAAAEEEEAAAf8L0EIEvC5AANLre5D6I4AAAggggAACCCCAQEkIUAYCCCCAAAIIFFGAAGQR4dgMAQQQQAABBEpDgDIRQAABBBBAAAEEEEDAawIEIL22x6gvAskgQB0QQAABBBBAAAEEEEAAAQQQQMD/AnFqIQHIOEGSDQIIIIAAAggggAACCCCAAAKJECBPBBBAwOsCBCC9vgepPwIIIIAAAggggEBJCFAGAggggAACCCCAQBEFCEAWEY7NEEAAAQRKQ4AyEUAAAQQQQAABBBBAAAEEvCZAANJreywZ6ksdEEAAAQQQQAABBBBAAAEEEEDA/wK0EIE4CRCAjBMk2SCAAAIIIIAAAggggAACiRAgTwQQQAABBLwuQADS63uQ+iOAAAIIIIBASQhQBgIIIIAAAggggAACCBRRgABkEeHYDAEESkOAMhFAAAEEEEDXmIpuAAAQAElEQVQAAQQQQAABBBBAwGsChQ9Aeq2F1BcBBBBAAAEEEEAAAQQQQAABBAovwBYIIIBAnAQIQMYJkmwQQAABBBBAAAEEEEiEAHkigAACCCCAAAJeFyAA6fU9SP0RQAABBEpCgDIQQAABBBBAAAEEEEAAAQSKKEAAsohwbFYaApSJAAIIIIAAAggggAACCCCAAAL+F6CFfhMgAOm3PUp7EEAAAQQQQAABBBBAAIF4CJAHAggggAACcRIgABknSLJBAAEEEEAAAQQSIUCeCCCAAAIIIIAAAgh4XYAApNf3IPVHAIGSEKAMBBBAAAEEEEAAAQQQQAABBBAoooCHApBFbCGbIYAAAggggAACCCCAAAIIIICAhwSoKgII+E2AAKTf9ijtQQABBBBAAAEEEEAgHgLkgQACCCCAAAIIxEmAAGScIMkGAQQQQACBRAiQJwIIIIAAAggggAACCCDgdQECkF7fg9S/JAQoAwEEEEAAAQQQQAABBBBAAAEE/C9ACxMkQAAyQbBkiwACCCCAAAIIIIAAAgggUBQBtkEAAQQQ8JsAAUi/7VHagwACCCCAAAIIxEOAPBBAAAEEEEAAAQQQiJMAAcg4QZINAgggkAgB8kQAAQQQQAABBBBAAAEEEEDA6wIEIAveg6RAAAEEEEAAAQQQQAABBBBAAAH/C9BCBBBIkAAByATBki0CCCCAAAIIIIAAAggURYBtEEAAAQQQQMBvAgQg/bZHaQ8CCCCAAALxECAPBBBAAAEEEEAAAQQQQCBOAgQg4wRJNggkQoA8EUAAAQQQQAABBBBAAAEEEEDA/wJ+byEBSL/vYdqHAAIIIIAAAggggAACCCAQiwBpEEAAAQQSJEAAMkGwZIsAAggggAACCCBQFAG2QQABBBBAAAEEEPCbAAFIv+1R2oMAAgjEQ4A8EEAAAQQQQAABBBBAAAEEEIiTAAHIOEEmIhvyRAABBBBAAAEEEEAAAQQQQAAB/wvQQgT8LkAA0u97mPYhgAACCCCAAAIIIIBALAKkQQABBBBAAIEECRCATBAs2SKAAAIIIIBAUQTYBgEEEEAAAQQQQAABBPwmQADSb3uU9iAQDwHyQAABBBBAAAEEEEAAAQQQQAAB/wuUUAsJQJYQNMUggAACCCCAAAIIIIAAAgggEEmAZQgggIDfBQhA+n0P0z4EEEAAAQQQQACBWARIgwACCCCAAAIIIJAgAQKQCYIlWwQQQACBogiwDQIIIIAAAggggAACCCCAgN8ECED6bY/Goz3kgQACCCCAAAIIIIAAAggggAAC/heghQiUkAAByBKCphgEEEAAAQQQQAABBBBAIJIAyxBAAAEEEPC7AAFIv+9h2ocAAggggAACsQiQBgEEEEAAAQQQQAABBBIkQAAyQbDJmm3XK06xmQtH24Jl42zYwz3yrebFl7W3VyYPttnfPGXzf3re2Wbe0mftoy9G2tARPeygQ/bJd3tWIlB4AbZAAAEEEEAAAQQQQAABBBBAAAG/CeQNQPqthbTHKlbKsNPOOsqefKGv9bjhHNupcgVHZePGLc44/I8Ci+NeH2i9+nS2/RrXs/XrN9odt4yyNi172EcfzLVqO1e2dqe2ssef7W09bjonfHPmEUAAAQQQQAABBBBAAAEEvCBAHRFAAIESEiAAWULQpVXMxCnDbNaiMXbX8CusxeEHWNly6flWpUHDutZ/8CV2YNMGFggEbNOmLTb28TdtwviP7M/lK63P9SPtu29+dvJQIPOiS0+2a2/u5MzzBwEEEEAAAQQQQKDwAmyBAAIIIIAAAgj4XYAApM/38OltbrID63V2hqVLfiuwtZ26tLUG++6ek+7vFWts2tR5OfMbN2y2eXO/s6ysbGdZ+fLl7ORTD+d2bEeDPwgg4GEBqo4AAggggAACCCCAAAIIIJAgAQKQCYL1Yrb16texVkceaGXK/NctVv69zpb9uDxXc5b/9rdt3botZ1mt2jvbUccdkjNf9Am2RAABBBBAAAEEEEAAAQQQQAAB/wvQwlQT+C/SlGotp715BPZqUMeqVK2Ua/nmzXmfE/n3irWWlZmVk65suXTbdbfqOfOxThzarJEVd4i1rHinK2692b74+x5DDOkD9AH6AH2APkAfoA8Usw/E4XycfcA+oA/QB+gDydcH4h0DiUd+BCDjoeiTPKpUqWQZGeWK1JradXYp0nZshAACCCCAQKoL0H4EEEAAAQQQQAABBPwuQADS73u4EO1bt26Dbd68tRBb/Jd0zar1/83EODV3zmIr7hBjUXFPVtx6s33x932cDYvdF6kP+5Q+QB+gD9AH6AP0AfoAfYA+QB+gD9AHkqEPxD0IEocMkygAGYfWkEWxBH5autzWrd2QK4+MjPK55jVTo1ZVSwt5TuS2rdtt2Y9/aBUDAggggAACCCCAAAIIIIAAAgUIsBoBBFJNgABkqu3xfNqrH5uZ/enXlpWVnZNKPzDT5OAGOfOaqFO3hpUrV1aTzrDiz9U2beqXzjR/EEAAAQQQQAABBDwiQDURQAABBBBAAIESEiAAWULQXilm3Nh37ftvf8mpbvWaVazlEQfkzFeslGFND93X0tICzrItW7ba2298avO//N6Z5w8CCCCAQOEESI0AAggggAACCCCAAAII+F2AAKTf93CwfUcd19T6D77Edtu9RnDuv/9afsV1HS30CselS36zAb2ftAXzllp2draVL1/Ozrv4ROvY6RirXae6Dbr/Stt3/z2dTP5Zv8meHvW2PTR0vDPv4T9UHQEEEEAAAQQQQAABBBBAAAEE/C9AC0tJgABkKcGXVLETpwyzR5662c7qfJxVqJD7eY41alazq3udZc+80t+uueHsnCrpasbOp/Wz+waNs28XLbPKlSvaHfdcalM+G2HHHH+orVm93ia/MdMuv3CwjRj2Us52TCCAAAIIIIAAAggggAACBQuQAgEEEEAg1QQIQPp8j5/e5iY7sF7nfIdDG3axh4e/nEdi7BNv2Vntelvz/bvaQXud7+TRtMGFdsxhV9rNPUZw23UeMRYggAACCCDgIQGqigACCCCAAAIIIIBACQkQgCwhaIpBAAEEIgmwDAEEEEAAAQQQQAABBBBAAAG/CxCANPP7PqZ9CCCAAAIIIIAAAggggAACCCBghgECCJSSAAHIUoKnWAQQQAABBBBAAAEEUlOAViOAAAIIIIBAqgkQgEy1PU57EUAAAQQQkAADAggggAACCCCAAAIIIFBCAgQgSwiaYhCIJMAyBBBAAAEEEEAAAQQQQAABBBDwv0Cqt5AAZKr3ANqPAAIIIIAAAggggAACCKSGAK1EAAEEECglAQKQpQRPsQgggAACCCCAQGoK0GoEEEAAAQQQQACBVBMgAJlqe5z2IoAAAhJgQAABBBBAAAEEEEAAAQQQQKCEBAhAlhB0pGJYhgACCCCAAAIIIIAAAggggAAC/heghQikugAByFTvAbQfAQQQQAABBBBAAIHUEKCVCCCAAAIIIFBKAgQgSwmeYhFAAAEEEEhNAVqNAAIIIIAAAggggAACqSZAADLV9jjtRUACDAgggAACCCCAAAIIIIAAAggg4H+BJGkhAcgk2RFUAwEEEEAAAQQQQAABBBBAwJ8CtAoBBBBIdQECkKneA2g/AggggAACCCCQGgK0EgEEEEAAAQQQQKCUBAhAlhI8xSKAAAKpKUCrEUAAAQQQQAABBBBAAAEEUk2AAGSq7XG1lwEBBBBAAAEEEEAAAQQQQAABBPwvQAsRSBIBApBJsiOoBgIIIIAAAggggAACCPhTgFYhgAACCCCQ6gIEIFO9B9B+BBBAAAEEUkOAViKAAAIIIIAAAggggEApCRCALCV4ikUgNQVoNQIIIIAAAggggAACCCCAAAII+F8gdwsJQOb2YA4BBBBAAAEEEEAAAQQQQAABfwjQCgQQQCBJBAhAJsmOoBoIIIAAAggggAAC/hSgVQgggAACCCCAQKoL+CYA2aFja7tr+BU26P4r7aJL21vFShmpvm9pPwIIIIDAfwJMIYAAAggggAACCCCAAAIIlJKApwKQ7U5tZVPnPGqzFo2x2d88ZZ8ueNIUeBxwz6Wm4bSzjnLmb+jb2R58ohdByFLqVNGLZQ0CCCCAAAIIIIAAAggggAACCPhfgBYikFvAUwHIjz/40hbN/8EJLP791xob2He0bd++3Y4/qZmVLZee07JAIGDNWjW2nreem7OMCQQQQAABBBBAAAEEEEAgpQRoLAIIIIAAAkki4KkAZM1aO9veDeva99/9aj2632uT35hpx7Q5zKpUrWTh/8qUSbNmLRs7wcrwdcwjgAACCCCAAAIlJUA5CCCAAAIIIIAAAgikuoCnApB7NahjZcum2wfvzLGlS35zgov77r+nBQIBZz9mZWU7Qcl2rXvatKlf2i7Vq5iuhHRW8gcBBFJZgLYjgAACCCCAAAIIIIAAAggggEApCZRgALL4LaxSpZIF0gK27Mc/nMyObXuY1aq9szOtP6tXrbNJE6bbrz+vsCmTZ9v27ZmmbbSOAQEEEEAAAQQQQAABBBBAAAEESkKAMhBAAIHcAp4KQKrqGRnlbL/Ge2rSFICsXKWiM60/vyxbYdM/nKfJYPAxy7Kzs51p/iCAAAIIIIAAAgggkHICNBgBBBBAAAEEEEgSAU8FIH/79S/bvGmLdb7oRJs29zFr0655rtuvv/n6xxzWpoc1ND0Hct26DTnLmEAAAQQQQKCkBSgPAQQQQAABBBBAAAEEEEh1AU8FIOfOXmy//fKX84vXO1ev4gQY3R2o26+nT/336seDDtnHjjj6YNu0cYv9tHS5m4Rx6grQcgQQQAABBBBAAAEEEEAAAQQQ8L8ALUxSAU8FIGU48eWPbd3a3Fc1ZmZm2bRg8FG3Xyv4ePug7rbb7jXs6/k/2LIfCUDKjQEBBBBAAAEEEEAAAQQQKBkBSkEAAQQQQCC3gOcCkK+99LENvuNpW7L4F9u4YbP9/utf9uyTb9vtNz1ux5/YzEaMvtH2a1zPuTX7yGOaWvvTj8jdYuYQQAABBBBAAIFUEKCNCCCAAAIIIIAAAggkiYDnApBye3PCJ9bxxFusReNuduIR19nwQeO02BbO/8GGBIOTva54wFnXqkl3e2viDGcdfxBAAIHSEKBMBBBAAAEEEEAAAQQQQAABBFJdwHMBSD3b8fmJd9rMhaNtwrv32Ckdj8zZh38uX2mT35hp70+e7VwduWMFIwQQQAABBBBAAAEEEEAAAQQQ8L8ALUQAgSQV8FQAsl79OnbrHV1Mz3ncqXIFa9hoD+txw9nOfJL6Ui0EEEAAAQQQQAABBFJMgOYigAACCCCAAAK5BTwVgFTgsVbtnXO1oNrOlU2ByVwLmUEAAQQQQCDVBWg/AggggAACCCCAAAIIIJAkAmlJUo+YqrFu3QbbvHlrrrS/LPvT5n/5fa5lzCCQLALUAwEEEEAAAQQQQAABBBBAAAEE/C9AC/MXUAh7mAAAEABJREFU8FQA8uMpc23unG9tyjtzbNKE6fb4Q6/Z1d3utWU/Ls/TyjPOOdo+mP2IdejYOs86FiCAAAIIIIAAAggggAACCPhOgAYhgAACCCSpgKcCkDJ8+N6XLBAw+/yzb+zh4S+bfnhGy8OH/RrXs4yMcuGLmUcAAQQQQAABBBBIqACZI4AAAggggAACCCCQW8BTAcjjT2xmjz1zqx1+1EF2+6DuNvubp2zWojERh3MvbGvp6WVyt5Y5BBBAIFUEaCcCCCCAAAIIIIAAAggggAACSSLgqQBkxUoZVqVqJatQobyVCQYXK1Qsb1oWadD60jamfAQQQAABBBBAAAEEEEAAAQQQ8L8ALUQAgfwF0vJfzVoEEEAAAQQQQAABBBBAwBMCVBIBBBBAAAEEklSAAGSS7hiqhQACCCCAgDcFqDUCCCCAAAIIIIAAAgggkFvAkwHIH5f+bgP7jrE+14+MOkz74EvLzMzK3VrmEEgigdqZa+20f76wG1ZPtltXTYrvsCO/nqvfccpQWUnUdKqCAAIIIIAAAggggAACCCCAAALxEPBIHp4LQG7evNVee+kje+m5KTZpwvSow5R3ZtumTVs8shuoZqoJKCB44boZtv/W361s9vaENT8je5tThspSmQkriIwRQAABBBBAAAEEEEhhAZqOAAIIIJC/gKcCkLNnLrK7+o6xt1+fmX+rgmtfe+ljO7751U6AMjjLfwSSSqDlpu8tPTuzxOqkslRmiRVIQQgggAACCJS8ACUigAACCCCAAAIIJKmApwKQfy5fae9Pnm0ad+jY2h5/9lab8tkImzrnUWt3ais75H/72tvT7rdHx95stetUT1JyqoWA2T7bVpQ4g662LPFCKTAFBWgyAggggAACCCCAAAIIIIAAArkFPBWAVNUrVsqw4Y9eZwOHXWaHH3WQE2isFFyWnp5uX37+nd3db6zVqVvD7rr3clNabZNyAw1OeoFE3nad9I2ngggggAACCCCAAAIIIIAAAvERIBcEPCLguQDkpdecbse2PczKpJeJSDzj46/sxqsetMpVKtrlPc6ImIaFCCCAAAIIIIAAAggggEC8BMgHAQQQQAABBPIX8FQAUlc0HtPmUCtbLj3fVi1d8ptNmTzbDmm2H1dB5ivFSgQQQAABBHwjQEMQQAABBBBAAAEEEEAgSQU8FYBs1qqx7VK9imVmZtmvP6+wL+d8a1Pf+9z0y9jhvn/+sdpq1Kxq2iZ8HfMIIJAoAfJFAAEEEEAAAQQQQAABBBBAAAH/CxSuhZ4KQFapUsnSAgF76vE3rV3rntblrAE2ZfIc27Zte55W16u/q1WuXNG0TZ6VLEAAAQQQQAABBBBAAAEEEEDA6wLUHwEEEPCIgKcCkDLdnplpK/5YpcmoQ8VKGdb88AOsXPmyUdOwAgEEEEAAAQQQQACBeAiQBwIIIIAAAggggED+Ap4KQP791xrLzjbrcsnJdm6XthFb1v70I+ypl/pZ08Ma2vr1GwsMVkbMhIUIIIAAAl4ToL4IIIAAAggggAACCCCAAAJJKuCpAOTM6Qvsl5/+sN33rGV9B3a1eUuftX6DulmNmtWc8RffPW1DHrzaGjepb4FAwFb+vdZmffp1ktL7sVq0CQEEEEAAAQQQQAABBBBAAAEE/C9ACxEonICnApBq2rQP5+X86EyZ9DJWoUJ5K1MmzRmH3nK9bet2mz51njZhQAABBBBAAAEEEEAAAQT8J0CLEEAAAQQQ8IiA5wKQox99w9576zPLzMyKSpydnW1fzF5sYx6bFDUNKxBAAAEEEEAAgXgIkAcCCCCAAAIIIIAAAgjkL+C5AKSa07fXYzZu7Lu2bu0GzeYaNm3aYm9NnGHXXXafbdywOdc6ZhBAwLcCNAwBBBBAAAEEEEAAAQQQQAABBJJUII4ByJJt4dA7n7W2rXrYbTc8ZhPGf2SvvzLNBvd/2joce6P17vkowceS3R2UhgACCCCAAAIIIIAAAgggkDICNBQBBBAonIBnA5Bqpq5wVOCx/81POIFIXRX55/KVWmUHHbKP3dK/izN2FvAHAQQQQAABBBBAAAE/CdAWBBBAAAEEEEDAIwKeDkDmZ3z8ic2sQ8cjrV79OvklYx0CCCCAAALFEmBjBBBAAAEEEEAAAQQQQACB/AU8GYBUcPGBJ663V98ZEnF47b177Nwuba1s2fT8W89avwjQDgQQQAABBBBAAAEEEEAAAQQQ8L8ALfSogOcCkD1uPNuGPHS1KQi57/57WqRhn/32sIqVMjy6S6g2AggggAACCCCAAAIIIJDMAtQNAQQQQACBwgl4KgDZ5OAG1u7UIywjo1zhWklqBBBAAAEEEEDAbwK0BwEEEEAAAQQQQAABjwh4KgBZv8FuVr1GFY/QUk0EEEgFAdqIAAIIIIAAAggggAACCCCAAAL5C3gqAOk2ZdXKdfbSc1Osz/UjNUQcpn3wpWVmZrmbMEYAAQQQQAABBBBAAAEEEEAAAW8LUHsEEPCogKcCkL/9+pf9sXylPfbgBBvYd4xNmjA96jD+ufft6/k/2No16z26a6g2AggggAACCCCAAALJKECdEEAAAQQQQACBwgl4KgA5d/ZiWzBvqWVnZxfYymlT59ml5w8yjQtMTAIEEEAAAQS8JkB9EUAAAQQQQAABBBBAAAGPCHgqACnTpx6bZPXq17EGDetqNupwyVWn2rS5j1mHjq2jpmEFAsUVYHsEEEAAAQQQQAABBBBAAAEEEPC/AC0snoDnApBLl/xmfy5fafc/fr29+s6QiMPEKcPssmvPsPIZ5Yqnw9YIIIAAAggggAACCCCAAALJIkA9EEAAAQQ8KuC5AOS1N3eya2482+o32M323X/PiIOujqxQobxHdwnVRgABBBBAAAEEklmAuiGAAAIIIIAAAgggUDgBTwUgdet123bNrXx5rmws3G4mNQII+E6ABiGAAAIIIIAAAggggAACCCDgEQFPBSCbHLy31ahZLWloqQgCCCCAAAIIIIAAAggggAACCPhfgBYigEDxBDwVgExLS7O0tICtWrnOXnpuivW5fmTUYdoHX1pmZlbxdNgaAQQQQAABBBBAAAEEkkWAeiCAAAIIIICARwU8FYD87de/7I/lK+2xByfYwL5jbNKE6VGH8c+9b1/P/8HWrlnv0V1DtRFAAAEEEEhGAeqEAAIIIIAAAggggAACCBROwFMByLmzF9uCeUstOzu7wFZOmzrPLj1/kGlcYGISIOA1AeqLAAIIIIAAAggggAACCCCAAAL+F/BJCz0VgJT5U49NMv0YTYOGdTUbdbjkqlNt2tzHrEPH1lHTsAIBBBBAAAEEEEAAAQQQQACBggRYjwACCCBQPAFPBSCPOq6p3TnscjvymINt5NO32KvvDIk4TJwyzC679gwrn1GueDpsjQACCCCAAAIIIJAsAtQDAQQQQAABBBBAwKMCngpAVq1W2fbZd3fba+86VqduDdt3/z0jDro6skKF8h7dJVQbAQQQSGYB6oYAAggggAACCCCAAAIIIIBA4QQ8FYAsXNN8nJqmIYAAAggggAACCCCAAAIIIICA/wVoIQI+ESAA6ZMdSTMQQAABBBBAAAEEEEAgMQLkigACCCCAAALFE/BkAPLXn1fYfYPHWZ/rR0Ycbr/pcZv16deWnZ1dPB22RgABBBBAAIFkEaAeCCCAAAIIIIAAAggg4FEBzwUgt2zeaq++MNWeeuxNmzRhesThtZc+trde+8Q2bNjs0d1CtRFIVgHqhQACCCCAAAIIIIAAAggggAAC/heIbws9FYCcPXORDew7xia9NqNABQUhj29+tSlIWWBiEiCAAAIIIIAAAggggAACCCCQbALUBwEEEPCJgKcCkH8uX2nvT55tGsu/QcO61v2qU23Q/Vc6Q9crTrHadaprFQMCCCCAAAIIIIAAAnERIBMEEEAAAQQQQACB4gl4KgDpNrVipQwb/MBVNv6tu63nLedah46tnaFX78428f2h1nvARaY0bnrGCCCAAAKeF6ABCCCAAAIIIIAAAggggAACHhVI81q9FVh88Ile1v70I6x8+XJ5qr9T5QrW6cK21nfgxXnWsaC4AmyPAAIIIIAAAggggAACCCCAAAL+F6CFCMRXwHMByPMuOsGa/m9fCwQCUSXKlEmztie3sPO7nhQ1DSsQQAABBBBAAAEEEEAAgaQWoHIIIIAAAgj4RMBzAcijjm1qGRn/XvmYnZ1tmzZtsY0bNjvDpo1bLDMzy9k1FSqUtxNObu5M8wcBBBBAAAEEECiqANshgAACCCCAAAIIIIBA8QQ8FYA8tHkjq7tHTVuzar2NuPdla3lAd2veqKu1aNzNGZrv39VOPOI6e3rUW7Zu7QYnrbYpHhFbI4BAEghQBQQQQAABBBBAAAEEEEAAAQQQ8KhAIQKQpd/CurvXtHLlyjoBxidGvOZc9Rheqz+Xr7R773reXnj6PSdtnd2qhydhHgEEEEAAAQQQQAABBBBAAAEEogqwAgEEEIivgKcCkGr61m3b7c8/Vmsy32HZj3+Y0qalea6J+baLlQgggAACCCCAAAIpIkAzEUAAAQQQQAABnwh4KjqXlZVlerZj08MaFsj/vxaNnLTapsDEJEAAAQQQQCCKAIsRQAABBBBAAAEEEEAAAQSKJ+CpAKSuavxn/SY745xj7MkX+tpZnY+zBg3r5gjUrlPdOnY6xsa+dLuddtZRprTaJicBE14VoN4IIIAAAggggAACCCCAAAIIIOB/AVroUwFPBSAXfrXUvv/uVytbLt1aHH6A9R98iU2cMswWLBvnDFM+G2EDhl5mh7VoZGXSyzhptY1P9x3NQgABBBBAAAEEEEAAAQQSIECWCCCAAAIIxFfAUwFINX3K5Fm2bu0GTeY7rF3zj7352vR807ASAQQQQAABBBBIWgEqhgACCCCAAAIIIICATwQ8F4B87aWPbfxzU2zLlq1Rd4HWvfT8Bzb5jZlR07ACAQQQiEWANAgggAACCCCAAAIIIIAAAgggUDwBLwQg87TwoaHjbVC/sfbzT39YdnZ2znpNa5nWKU3OCiYQQAABBBBAAAEEEEAAAQQQQCDZBagfAgj4VMCTAUjtiwnjP7L2R/eyM9rebLde94gzaFrLtE5pGBBAAAEEEEAAAQQQQKCwAqRHAAEEEEAAAQTiK+CpAGS7U1vZpA+Hm8Yuw9Ilv9lbE2c4g6bd5UrzyJib3FnGCCCAAAIIeEuA2iKAAAIIIIAAAggggAACPhHwVAAyPT3dKlQsbxpbAf+UZrc9atqhzRsVkJLVCEQXYA0CCCCAAAIIIIAAAggggAACCPhfgBYmVsBTAcjCUNTedWfbeZfKVme36oXZjLQIIIAAAggggAACCCCAAAKlI0CpCCCAAAI+FUjqAORBh+xj/QdfYoPuv9IZ2rRrZhUqlDeN3WXh42EP97BX3xlil117hpM2LS2pm+jTbkWzEEAAAQQQQMC7AtQcAQQQQDVZIvYAABAASURBVAABBBBAAIH4CiR1dK5e/Tp28mmHW4eOrZ3huBP+Z1WqVjKN3WXh45M6tLJ999/TCT5mZWVbVlZWfMXIDQEEECgJAcpAAAEEEEAAAQQQQAABBBBAwCcCSR2ALK7x33+tsYVf/VDkbNgQAQQQQAABBBBAAAEEEEAAAQT8L0ALEUAgsQK+DUBu3LDZ3n79U1v24/LECpI7AggggAACCCCAAAIIxEOAPBBAAAEEEEDApwJJHYBU8FBBxEkTppuGqe99buvWbjCNNR9teGLEa9b5tH428oFXfbrbaBYCCCCAAAKJEiBfBBBAAAEEEEAAAQQQQCC+AkkdgJz/5fc2oPeT1uf6kc4wZfIc27Rpi2nsLos0HnHvy7Z0yW/xlSI3BEpSgLIQQAABBBBAAAEEEEAAAQQQQMD/AinSwqQOQIbvg7Vr1tuP3/9uGoevYx4BBBBAAAEEEEAAAQQQQACBogiwDQIIIIBAYgU8FYCcNnWeXXr+INO4YqUMO7rNoVa7TnXT9E39LrCX3x5kr74zxIaO6GEHHbJPYuXIHQEEEEAAAQQQQCCeAuSFAAIIIIAAAggg4FMBTwUg259+hM1cONoWLBtnsxaNsbuHX2GHNtvXhj96nV3YvZ01OmAv23f/Pa3dqa2s/+BLrEHDuj7dbTQLAQQQSJQA+SKAAAIIIIAAAggggAACCCAQXwFPBSDfmjjD5s751rKzs+3zz76xi84aYFWr7WSHNW9kgUAgl0zDRnvYZT3OyLXMMzNUFAEEEEAAAQQQQAABBBBAAAEE/C9ACxFIEQFPBSCbHNzA9tl3d5v3xRK7utsw54dmjjj6YKtQsXzO7srMzHJ+qEYLDmzawOrVr6NJBgQQQAABBBBAAAEEEEAgogALEUAAAQQQQCCxAp4KQO62ew0rk55mH77/uW3csNkJLobeZr19W6Y9N2ayNW/U1V4b/5FVrlzR9mu8Z2IFyR0BBBBAAAEE4iFAHggggAACCCCAAAIIIOBTAU8FIMuXL+fshr9XrHXGrVo3sRo1qznT+rPiz1X23luzNGmfz1psW7ZuM3cbZyF/CiVwaPNGNuWzEc4zN/XczWjD3CXP2DU3nF2ovEmcrALUCwEEEEAAAQQQQAABBBBAAAEE/C9Qsi30VAAyKyvLKlQob4cfdaBVrJRhbdo1z3X79c/L/rT5X37vCKanp+V5LqSzgj8xC9SoWdUygt4xb0BCBBBAAAEEEEAAAQQQQACB2AVIiQACCKSIQJqX2rnsxz/sn/WbrP3pR9in80dZi8MPyKm+br9eNP/HnPmWRx7oTP/91xpnzJ/CC1QKBnnLlStb+A3ZAgEEEEAAAQQQ8JAAVUUAAQQQQAABBBBIrICnApALv1pqSxb/7IiUSS/jjN0/f/6xyj54d44ze/yJzazlkU1s3doN9tXcJc4y/hReoO4etUxXnT5y3yt2YL3OUYdDG3axh4e/XPgC2AIBBBD4T4ApBBBAAAEEEEAAAQQQQAABnwp4KgCpfTD+uSm2/Le/NZkzbN681d6a+Ilz+3XHTsdYn4EX2y7Vq9gPS37LScNELAK509SsvbNzG/tvv/yVewVzCCCAAAIIIIAAAggggAACCCDgYQGqjkDJCnguADn9w3l20zUjbPIbM+27b362T6fNtzt7j7YR977s3Jp9U78LrXqNqrZp4xY7pNl+dvTxh5SsqI9KUxB3/fqNtuKPVQlp1aHNGllxh4RULIZMU7XeavfR++1iF5dbYjetfdduXTUpIcMN695zylBZKjMeg/LyYr3j0XbyKP6xBkMM6QP0AfoAfSAhfSAO58PUi75JH6AP0AfoA+F9IIawRokn8VwAUkL6oZmbe4ywM0+61S6/cIhNmjBdi+2tiTOsVZPu1nTvC6z5/l3tuGZXOYFKZyV/Ci1QbefKtnXLdju6zaH2zicP2rylz9qCZeNs/k/P28yFo23U833siKMPLnS+bOBdgcrrVliL2c/brn8stjKZWxPWkLLbt9iuwTJUlsosbkHKQ3kpTy/Vu7jtZnsEEIhNgFQIIIAAAggggAACCCCQWAFPBiBjITnjnKPtg9mPWIeOrWNJTpowAf3KeNVqlWyPerXswu7trO4eNc197mYgELCdKldwnrN538jr7MqeZ4ZtHdvs3DmLrbhDbCXFP1Wq1rvaF+9bWub2+IOaRcxTZanM4norD+UVsZAELFRZKrO49Wb74h8jMMSQPkAfoA/QB+gD9AH6AH2APkAfSLU+kICPucXOMiQAWey8Ep5BxUoZ1rZdcyeoqMBivsOZra1SMH3CK+XTAhodsJelp5exX5atsIeGjrc2LXs4wwvPvGcbN2zOabX2yQXdTjIFfHMWMuFbgX22rSjxtu2/9fdil+nVehe74WSAAAIIIIAAAggggEBEARYigAACJSvgqQDk8Sc2s7uGX2GD7r+ywKFZy8bOD6iULKd/Sps7e7GdfNT1waGnjXrkdftz+UpnGNRvrI17+j3btvW/q+CqVK1kbdq18E/jaUlUgbLZ/+33qImScIVX652ElFQJAQQQQCCeAuSFAAIIIIAAAgikiICnApApsk+SvpkfvDPH/lqxJlc9dYt2rgXMIIAAAh4RoJoIIIAAAggggAACCCCAAAKJFSAAmVhfX+a+8KultmnTlni2jbwQQAABBBBAAAEEEEAAAQQQQMD/ArQwRQU8GYDMzMyyTRu3OM8i1PMIw4fNm7eaAmTr1m5w0qTovi1Ws4eO6GFzlzxj8354zp57bYA1aFg3J7969etYuXLpOfOaWL9uo0YMCCCAAAIIIIAAAgggkPQCVBABBBBAAIGSFfBcAHL79kx78Zn3rPn+Xa1F424Rh3NP6WuvvvChXdFliH3w7pySFfVBaSe0b2GHH3WglQ0GGcuUSbPGTepbu1MPz2lZk4P3tqrVdsqZ374t0+bOXpwzzwQCCCCAAAIIxCBAEgQQQAABBBBAAAEEUkTAUwHI7du326qV6+yruUvy3T1Ll/zm/GDKhd3b5ZuOlZEFdHXp9mCg112bmZVlGzZscmft2LaHWeUqFZ357Oxs+3zWN/b4iNecef4g4DUB6osAAggggAACCCCAAAIIIIAAAokVSIYAZMwtnPzGTOtw7A2mcUEbrV3zjzU5uIEzFJSW9bkFpn84z8Y/OyXn9nVZLpz3g2P54Khe1uakZhYIBEzBxy9mLbYhdzydkzZ3TswhgAACCCCAAAIIIIAAAgggkCPABAIIpKiApwKQseyjipUy7LSzjrILurWzPerVtvoNdotlM9KECYx84FW7ptu9Nm3qPCtfvpyNGtfHXnhjoHP146ZNW23eF0tsQO/R1rXTQNMVp2GbM4sAAggggAACCCCQtAJUDAEEEEAAAQQQKFkBTwUgO3RsbbMWjbEFy8ZFHbT+ruFX2L7771mykj4sbc5ni+zqrkOtddPLrOneF9iB9TrbQXudb62adLcLO/a3V1+Y6sNW0yQEEECghAQoBgEEEEAAAQQQQAABBBBIEQFPBSALu0/WrP7Hflz6e2E3I30KCdBUBBBAAAEEEEAAAQQQQAABBBDwvwAtLF0B3wYgM7dn2mczFtrCr5aWrjClI4AAAggggAACCCCAAAIISIABAQQQQCBFBTwZgNSPn2zatMX54ZONGzbnGv+zfpN9u2iZPXDPi9b/5idSdLfSbAQQQAABBBBAIJoAyxFAAAEEEEAAAQQQKFkBzwUgMzOz7K2JM6x5o67WonG3PIOeT3hWu9429om3SlaS0hBAAIHCCJAWAQQQQAABBBBAAAEEEEAAgRQR8FQAcvv27bZ61Tr7dNqCuOweMkEAAQQQQAABBBBAAAEEEEAAAf8L0EIEEChdAU8FICe/MdPaH93LJk2YnketYqUMG3DPpdb54hPzrGMBAggggAACCCCAAAIIlLoAFUAAAQQQQACBFBVI2gBku1Nb2dQ5j9rsxU/Z/J+etwXLxjnDrEVjrEPH1nl2117161jdPWvZ9b3Ps+GPXmcKSOZJxAIEEEAAAQRSXgAABBBAAAEEEEAAAQQQQKBkBZI2APndNz/b6pXrrEKF8hYIBEy/ar1g3lK7s8/oiFdALlr4o11y3t32zJNvW6vWB1rfgReXrCSlIVAYAdIigAACCCCAAAIIIIAAAggggID/BWihI5C0Acjlv680/eCMavnn8pVO4LHzaf2cH6DRsmjDiGEv2YvPvm+HH3WQnXnecdGSsRwBBBBAAAEEEEAAAQQQQCBFBGgmAggggEDpCiRtAPLAgxvYLjWq2Io/V9uA3qNtwviPYpZ6aOh4W7TgJzvuhP/FvA0JEUAAAQQQQAABBBIqQOYIIIAAAggggAACKSqQtAHIWrvuYhUrZthH739h0z+cV+jd8/msRbbb7jWsSTCQWeiN2QABBBDwrQANQwABBBBAAAEEEEAAAQQQQKBkBdJKtrjClbZp0xZb+NXSwm20I/XfK9Za5coVrF79XXcsSaIRVUEAAQQQQAABBBBAAAEEEEAAAf8L0EIEEHAEkjoAmZ2dbdu3ZzkVLeyfnYLBxzLpZSwtLa2wm5IeAQQQQAABBBBAAAEEfCRAUxBAAAEEEECgdAWSNjq3ZctWK1s23fbdf88iCTU9bF+rUKF8kbZlIwQQQCBZBGpnrrXT/vnCblg92W5dNSkhQ8/V7zhlqKxkaTf18KUAjUIAAQQQQAABBBBAAIEUFUjaAOTvv/5tmzdttXYdWlrrY5sWavecc0EbZ5t//tlkK/5YVahtSYyAvwVonZcEFBC8cN0M23/r71Y2e3vCqp6Rvc0pQ2WpzIQVRMYIIIAAAggggAACCCCAAAIlJJBcxSRtAFLPfvx52R9Wu051u+OeS+3iy9oXKFexUob1HnCRXX/reVa5SkVb+fdam/Xp1wVuRwIEEEAgGQVabvre0rMzS6xqKktllliBFIQAAggggAACCPhdgPYhgAACCDgCSRuAVO1mfbLQdCt2rdo7W68+nW3G/FH2whsDbciDV9ug+6/MGYY93MNefWeIffT5SOt88Ymm5z9mZWXbwnlF+wEblc2AAAIIlLbAPttWlHgVdLVliRdKgQgggECCBcgeAQQQQAABBBBAoHQFkjoAOe7p9+z7b391hAKBgFWpWsmaHNzA2p9+hHXo2DpnOKlDK+dZkRUq/vfMx+W//W2vvzLN2ZY/CCCAgBcFEnnbdSl4UCQCCCCAAAIIIIAAAggggECKCiR1AHLjhs32yH2v2J/LVxZq92zevNVeHveBzf/y+0Jt5//EtBABBBBAAAEEEEAAAQQQQAABBPwvQAsRSC6BpA5Aimr6h/Ps7n5j7Zdlf2q2wEFByzEjJ9noR98oMC0JEEAAAQQQQAABBBBAAIGECZAxAggggAACCDgCSR+AVC0/fP8L69rpLntzwif2z/pNWpRn2LZ1u3PFY68rH7SRD7yaZz0LEEAAAQQQQCA1BWg1AggggAACCCCAAAIIlK6LD8wJAAAQAElEQVSAJwKQItJt2L2vf9RaNeluV3cdas+NeccmTZhuE8Z/ZP1vfsLaHXW9nX/67Tbj46+UnAEBBJJLgNoggAACCCCAAAIIIIAAAggggID/BSK20DMByNDaT5s6z+4Z8Iz1uX6kE3xUEFIBytA0TCOAAAIIIIAAAggggAACCCCQmgK0GgEEEEguAU8GIJOLkNoggAACCCCAAAIIIBBBgEUIIIAAAggggAACjgABSIeBPwgggAACfhWgXQgggAACCCCAAAIIIIAAAqUrQACydP1TpXTaiQACCCCAAAIIIIAAAggggAAC/heghQhEFCAAGZGFhQgggAACCCCAAAIIIICAVwWoNwIIIIAAAsklQAAyufYHtUEAAQQQQAABvwjQDgQQQAABBBBAAAEEEHAEfBuArF2nurVt19w0dlrKHwQQSEkBGo0AAggggAACCCCAAAIIIIAAAqUrUBIByFJp4dmdj7PbB3W35q0al0r5FIoAAggggAACCCCAAAIIIIBAignQXAQQQCCiQFIGIFscfoA9/fLt9uo7Q4o8nHfRCVaufNmIjWYhAggggAACCCCAAAL+FaBlCCCAAAIIIIBAcgkkZQCy1q67WKMD9rJ999+zyEOVqpWSS5raIIAAAgiklgCtRQABBBBAAAEEEEAAAQQQcASSMgDp1Iw/CMRBgCwQQAABBBBAAAEEEEAAAQQQQMD/ArQwuQUIQCb3/qF2CCCAAAIIIIAAAggggIBXBKgnAggggAACEQWSOgD5z/pN9uH7X9ikCdMLPSxa+KNlZ2dHbDQLEUAAAQQQQAAB/wrQMgQQQAABBBBAAAEEkksgaQOQ27dn2isvTLVrLxlufa4fWehh4ksf26ZNW5JLm9oggEDqCNBSBBBAAAEEEEAAAQQQQAABBBBwBJIyALl2zXpbtOBHmzPza6eSRfmz/PeVNnvmNzZ75qKibM42CCCAAAIIIIAAAggggAACCCDgEQGqiQACyS2QlAHIaVPn2aXnDzKNi8pXuXJF27tBHatZq1pRs2A7BBBAAAEEEEAAAQQQiF2AlAgggAACCCCAQESBpAxARqxpyMKKlTLstLOOsgFDL7NB918Zcbig+0lWd49aVq/+riFbMokAAggggIDfBWgfAggggAACCCCAAAIIIJBcAp4LQDZr2dien3inDbz3cuvY6Rjr0LF1xKFxk/pWpkyapaV5ronJ1UOoTdEE2AqBFBeonbnWTvvnC7th9WS7ddWkhAw9V7/jlKGyUpyb5iOAAAIIIIAAAggggEBpCVBuTAKei85ddOnJ1qBhXQsEAgU2cNu27bZly9YC05EAAQQQQCB+AgoIXrhuhu2/9Xcrm709fhmH5ZSRvc0pQ2WpzLDVzCKAAAIIIIBACgnQVAQQQACB5BbwVACyycENrGGjPWMKPor9h+9/t08++kqTDAgggAACJSTQctP3lp6dWUKlmVOWyiyxAikIAQSiCbAcAQQQQAABBBBAAIGIAmkRlybpwt12r2GVdsqwjRs228KvltrU9z63Nav/sekfzrMv53xr333zszN8/+0vNm3ql3bTNSOctEnaHKqFAAIIJECg9LPcZ9uKEq+ErrYs8UIpEAEEEEAAAQQQQAABBBBAICYBTwUgy5cvZ1mZWTbq4Yl23qn97LpL77Pff/vLsrPNupw1wM486VZnOOOEW+yrud9bhzOOiAkh7onIEAEEEEhhgUTedp3CrDQdAQQQQAABBBBAIBkFqBMCCMQk4KkApFq0ddt2+/OP1Zp0hq/mLrHDmu9n53c9yZl3//z15yo7/qRmVq9+HXcRYwQQQAABBBBAAAEEEPChAE1CAAEEEEAAgeQW8FQAct26DVamTFow2HiivT9zhN038jr7+qsfHOHrbulk9z3W084452jrcsnJdkG3drZHvdq2X+M9nfX8QQABBBBAAIGECpA5AggggAACCCCAAAIIIBBRwFMByDkzF9n6dRvtgIP2tl13q27NDz/AsrKy7a8Va6xChfLWtl1zu3PY5XZTvwts3/33tLJl0023bUdsOQsR8KUAjUIAAQQQQAABBBBAAAEEEEAAAf8LeKuFngpA6sdnvln4k2XroY9BZwUYgyOb/enXTiBS06HD5s1bbd26DaGLmEYAAQQQQAABBBBAAAEEEEAgPgLkggACCCAQk4CnApBq0ZuvfWIr/lilSVu9ar0t+3G5vffWrJxlzoodf75b/LN9PGXujjlGCCCAAAIIIIAAAn4UoE0IIIAAAggggAACyS3guQDk9A/nWf9bnrTxz06xgX3H2Pwvv7dZn35tDw4b7wQjMzOzTIOWjxj2UnLrUzsEEEDAPwK0BAEEEEAAAQQQQAABBBBAAIGIAp4KQNauU915zuP33/1qd902xmZ8/FVOo96c8ImdcswN1nTvC5yh15UPOj9Yk5MgJSZoJAIIIIAAAggggAACCCCAAAII+F+AFiLgLQFPBSCbt2pst9zRxTQuiFlpbrztAqtYKaOgpKxHAAEEEEAAAQQQQAABBAovwBYIIIAAAgggEJOApwKQMbUoJFHlKhXt4EMbhixhEgEEEEAAAQT8JkB7EEAAAQQQQAABBBBAILkFfBmA1K3aRx9/iNWoWc0ZknsXUDsEfCFAIxBAAAEEEEAAAQQQQAABBBBAwP8CRWphUgcg253ayqbOedRmLRrjDP0GdXMCihq7y8LHsxc/Ze/PfMhOPKUlz4AsUpdgIwQQQAABBBBAAAEEEEAAgeQWoHYIIICAtwSSOgCZnp5ulSplOM9x1LMcK1Qo7wQVNdZ8pEHrAoGAsxc2b95q69ZtcKb5gwACCCCAAAIIIIBAXAXIDAEEEEAAAQQQQCAmgaQOQMbUgnwS/bT0d/t4ytx8UrAKAQQQQMDrAtQfAQQQQAABBBBAAAEEEEAguQV8GYDcsmWrzZ292IYPGpfc+v6pHS1BAAEEEEAAAQQQQAABBBBAAAH/C9BCBIokkNQByEkTpluLxt3swHqdnaHP9SPtzz9Wmcbuskjj/+17sV109p02/8vvi4TCRggggAACCCCAAAIIIIBA8gpQMwQQQAABBLwlkNQBSG9RUlsEEEAAAQQQSCkBGosAAggggAACCCCAAAIxCXgqADl75iK7545nTOOYWkciBBDwvQANRAABBBBAAAEEEEAAAQQQQACB5BaIRwCyxFr45/KV9v7k2aZx7TrVbcA9l9rb0+63WYvGOMOkD4fbdbecaxUrZZRYnSgIAQQQQAABBBBAAAEEEEAAgRQRoJkIIIBAkQQ8FYB0W3hKxyPt+dfusI7nHmt71KvtBBwVdNxr7zrW/coONv7Nu631sU3d5IwRQAABBBBAAAEEEPCRAE1BAAEEEEAAAQS8JeC5AORBh+xj1/Q623QFZCTqQCBgCkT2vOVca9CwbqQkLEMAAQQQQKD4AuSAAAIIIIAAAggggAACCCAQk4DnApCnnXWU1albo8DGNdh3d+vUpW2B6UjgbQFqjwACCCCAAAIIIIAAAggggAAC/heghd4W8FQAUrdZH9q8kaWlBeyf9Zvsm4U/2TuTZtqkCdOd4a2JM+zrBT/Ypk1brEyZNGvWsrFze7a3dxG1RwABBBAoKYHamWvttH++sBtWT7ZbV01KyNBz9TtOGSorXu1SXl6qt9fqG6/9RD4IIICADwRoAgIIIIAAAkUS8FQAslmrxrZL9So269Ov7fS2N9s57fvYTdeMsD7Xj3SGW697xM495TY7r8NtNnf2YqtStZIdfGjDIsGwEQIIIIBAagkoKHbhuhm2/9bfrWz29oQ1PiN7m1OGylKZxS1IeSgvr9Tba/Ut7v5JzPbkigACCCCAAAIIIICAtwQ8FYCsUqWSbd+eaW+99onzS9jRqJcu+c3eefMz50rJGjWrRUvGcgQQQKDoAmzpO4GWm7639OzMEmuXylKZxS1QeSiv4uYT6/YqS2XGmj48nbZVHuHLEzWvslRmovInXwQQQAABBBBAAAEEEChYwFMBSDVHt19nVCivSeMPAggggAAC8RLYZ9uKeGUVcz66ajHmxFESeq3eXqtvFHYWI4AAAggggEAJC1AcAgh4W8BTAch16zZYWlqatTv1cGvQsG5U+YMO2cdOO/soJ622iZqQFQgggAACCOwQSORt1zuKSMjIa/X2Wn0TstPIFAHvClBzBBBAAAEEEECgSAKeCkDOmbnIVq1cZ4f8b197YdJd9tp799gDT1xvg+6/0hmGPdzDXn1niD35Ql874MC9nbTapkgybIQAAggggEBSClApBBBAAAEEEEAAAQQQQMBbAp4KQG7csNn5cZmsrGyrUKG87bPfHnb8ic2sQ8fWznBSh1a27/57OusyM7NszmeLTNt4a5dQW08IUEkEEEAAAQQQQAABBBBAAAEEEPC/AC2Mi4CnApBq8bix79r33/6iyXyHpd/9auOfeT/fNKxEAAEEEEAAAQQQQAABBBBIfgFqiAACCCDgbQHPBSCXLvnNHrjnRfvph+WWnZ2dR1/LtE5plDZPAhYggAACCCCAAAIIFEWAbRBAAAEEEEAAAQQQKJKA5wKQauX0D+dZp1P62uiRk0xBxn/WbzINmtYyrVMapWVAAAEE/CVAaxBAAAEEEEAAAQQQQAABBBDwlkDSBiD1S9b9B1/i/LiM+yMzmtdyEevZjg/e86Kd3uYma9WkuzNoWsu0TmkSNpAxAggggAACCCCAAAIIIIAAAgj4X4AWIoBAXASSNgBZr34dO/m0w50fl3F/ZOaYtodazVo7x6XhZIIAAggggAACCCCAAALeEKCWCCCAAAIIIOBtgaQNQIayrlq5zkbc+7K1P7qXffDunNBVTCOAAAIIIIBAyQhQCgIIIIAAAggggAACCCBQJIGkD0B+Pf8H69ZpoD0x4jXj1uoi7WM28pUAjUEAAQQQQAABBBBAAAEEEEAAAf8L+KuFSR2A3Lx5q7371mfOD80Ull23bb/18X3W7tRWhd2U9AgggAACCCCAAAIIIIAAAgiYYYAAAgggEBeBpA5Abtu23f5esbZIDd13/z2t2s6VLT09vUjbsxECCCCAAAIIIIBAcghQCwQQQAABBBBAAAFvCyR1ALJs2XRr066ZDbr/ykINQx682k4544hg8LGMt/cOtUcAAQSSR4CaIIAAAggggAACCCCAAAIIIFAkgaQOQGZklLPjTvhfrl/C1q3VBQ3tTz/CatSsViSQ5N6I2iGAAAIIIIAAAggggAACCCCAgP8FaCEC/hJI6gCkv6hpDQIIIIAAAggggAACCHhKgMoigAACCCCAQFwECEDGhZFMEEAAAQQQQCBRAuSLAAIIIIAAAggggAAC3hZI6gBkVla2bdq0xTZu2FyoQdtkZ2d7e89QewSSS4DaIIAAAggggAACCCCAAAIIIICA/wUS0sKkDkBu2LDJBvYZYy0adyvU0LxRV3tr4gzLzMxKCBqZIoAAAggggAACCCCAAAIIIJA4AXJG1whT5QAAEABJREFUAAEE/CWQ1AHI4lB/t/hn27Zte3GyYFsEEEAAAQQQQACBVBag7QgggAACCCCAAAJxEUjqAGSFCuXtgIPqF6mhX8xabG+//qkt+3F5kbZnIwQQQACB5BCgFggggAACCCCAAAIIIIAAAt4WSOoAZHp6GTvjnGOs94CLrGKljEJJz//ye7tnwDOmcaE2JHEkAZYhgAACCCCAAAIIIIAAAggggID/BWghAgkRSOoApFqswON5F51gr74zxLpd2aHQgUjlwYAAAggggAACCCCAAAIIeEeAmiKAAAIIIOAvgaQNQG7fvt02bNhsG4PDpo1bbJfqVeyCbu3s6OMP8dceoDUIIIAAAgggkJwCYbWqnbnWTvvnC7th9WS7ddWkhAw9V7/jlKGywoov8qzyot6R9xfe/3Ur+knkPqLXOv2EfqJ+UNAQz37C65HX43+vuuhT9BP6SfTekZxrkjYAOfmNmXZcs6ty/fq15rU8OSmpFQIIJEKAPBFAAIFkENBJ/oXrZtj+W3+3stmJ+5G7jOxtThkqS2UWt+3KQ3lR78iSeP/rQj/51yHaX/rJvzL0k38dov2NVz/BOZrwv8vj5fxvbmZ4uxKRx3j/6+LVfvJv7ZPnbywByOSpLTVBAAEEEEAAAQRKQaDlpu8tPTuzxEpWWSqzuAUqD+VV3Hxi3V5lqcxY00dLpzyUV7T18V6uslRmcfNVHsqruPnEur3KUpmxpo+WTnkor2jr471cZanM4uarPJRXcfOJdXuVpTJjTR8tnfJQXtHWx3u5ylKZxc1XeSiv4uYT6/YqS2XGmj5aOuWhvKKtj/dylaUyi5qvtlUeRd2+sNupLJUZsl2RJpWH8irSxkXYSGWpzCJsmmsT5aG8ci1M4IzKUpnFLUJ5KK/i5hPr9ipLZcaaPlo65aG8oq2P93KVpTKLm6/yUF7FzSfW7VWWyow1vVfSEYD0yp6inggggAACCCBQagL7bFtR4mXrqsXiFkq9YxdMLm/qHYsA/TsWpX/T0L//dSipv8Xxpl/HvpeK4+yWgrcrUfAY74KN4pkiHt7xrE888iIAGQ9F8kAAAQQQ8J8ALUIgRCCRt12HFBP3Seodd9J8M8Q7X564r8Q77qT5Zoh3vjxxW4lz3ChjygjvmJjilgjvuFF6MiMCkJ7cbalTaVqKAAIIIIAAAggggAACCCCAAAL+F6CF/hYgAOnv/UvrEEAAAQQQQAABBBBAAIFYBUiHAAIIIIBAQgQIQCaElUwRQAABBBBAAIGiCrAdAggggAACCCCAAAL+EiAA6a/9SWsQQCBeAuSDAAIIIIAAAggggAACCCCAAAJxEUjqAGRcWkgmCCCAAAIIIIAAAggggAACCCCQ1AJUDgEE/C1AANLf+5fWIYAAAggggAACCCAQqwDpEEAAAQQQQACBhAgQgEwIK5kigAACCCBQVAG2QwABBBBAAAEEEEAAAQT8JUAA0l/7k9bES4B8EEAAAQQQQAABBBBAAAEEEEDA/wK0sEQECECWCDOFIIAAAggggAACCCCAAAIIRBNgOQIIIICAvwUIQPp7/9I6BBBAAAEEEEAgVgHSIYAAAggggAACCCCQEAECkAlhJVMEEECgqAJshwACCCCAAAIIIIAAAggggIC/BAhARtqfLEMAAQQQQAABBBBAAAEEEEAAAf8L0EIEECgRAQKQJcJMIQgggAACCCCAAAIIIBBNgOUIIIAAAggg4G8BApD+3r+0DgEEEEAAgVgFSIcAAggggAACCCCAAAIIJESAAGRCWMkUgaIKsB0CCCCAAAIIIIAAAggggAACCPhfILVaSAAytfZ3oVp78WXt7ZXJg232N0/Z/J+etwXLxtm8pc/aR1+MtKEjethBh+xTqPxIjAACCCCAAAIIIIAAAggklQCVQQABBBAoEQECkCXC7K1CFFgc9/pA69Wns+3XuJ6tX7/R7rhllLVp2cM++mCuVdu5srU7tZU9/mxv63HTOd5qHLVFAAEEEEAAgaQToEIIIIAAAggggAAC/hYgAOnv/Vvo1jVoWNf6D77EDmzawAKBgG3atMXGPv6mTRj/kf25fKX1uX6kfffNz06+O1WuYBdderJde3MnZ54/CCDgaQEqjwACCCCAAAIIIIAAAggggEBCBAhAJoS1qJmW/nadurS1BvvunlORv1essWlT5+XMb9yw2ebN/c6ysrKdZeXLl7OTTz2c27EdDf4ggAACCCCAAAIIIIAAAgggEIsAaRBILQECkKm1v/Ntbb36dazVkQdamTL/dYuVf6+zZT8uz7Xd8t/+tq1bt+Usq1V7ZzvquENy5mOdmLXoaSvuEGtZ8U5HveMtmn9+eOfvE++1eMdbNP/8Us07f43ErU01Z7e9iRPNP2e3/KKO8889cWuLWl93u8TVLP+c3fKLOs4/98StLWp93e3iUrMiZOKWX9RxEYqMyyZFra+7XVwqUYRM3PKLOi5CkXHZJFXq67YzLmhFyMQtv6jjIhQZl02KWl93u7hUogiZuOUXdVyEIuOySVHr624Xl0oUIRO3/KKMi1Bcwjf5L9KU8KIoINkF9mpQx6pUrZSrmps3b8k1r5m/V6y1rMwsTTpD2XLptutu1Z1p/iCAAAIIIFBYAdIjgAACCCCAAAIIIICAvwUIQPp7/xaqdVWqVLKMjHKF2sZNXLvOLu5kzOMWjS+y4g5DdulgpTH4sN4x7YvSsFaZeJdsP8cbb73uChqK2k8KyjdR64taX3e7RNWroHzd8os6Lij/RK0van3d7RJVr4Lydcsv6vj/7J0FYBRHF8ff4VpcimuLF4oUd3d3h+JQ3N3dIbhDsQIhaIGihUILBYq0xaG4Q6FAkW9/A3vf5nKXBHK3SehC5tZmd2bfjrz3fzIBPd9T1z+0vvp9nqpXQM/Vy//QbUDP99T1D62vfp+n6hXQc/XyP3Qb0PM9df1D66vf56l6BfRcvfz33Qb0XE9df996Oub3VL0Ceq5jPd73OKDne+r6+9bTMb+n6hXQcx3r8b7HAT3fU9fft56O+T1Vr4Ce61iP9zkONDBjYkYLgDSR2CG9qEePnsizZy8+qJoP7j3+oPusmywKWBSwKOBmCliPsyhgUcCigEUBiwIWBSwKWBSwKGBRwKKARYEQRgELgAxhHyQ4q3Px3HV59PCJrypEihTR1zEHcePHkDCGOJH/vngply7c4NK7ZG0sClgUsChgUcCigEUBiwIWBSwKWBSwKGBRwKKARYGPnwLWG1oUCBwFLAAycHT6T+RisZlD+0/K69dv7O/LAjOZvkhtP2bn08RxJUKE8OyqdOvmfdnzw69q3/qxKGBRwKKARQGLAhYFLApYFLAoYFHAZApYxVkUsChgUcCigEWBEE4BC4AM4R/I7OotW7BVzv5xxV5snHifSO58Ge3HUaJGkqxffiZhwtjUuefPX8im9fvl+K9n1bH1Y1HAooBFAYsCFgX+qxSw3tuigEUBiwIWBSwKWBSwKGBRwKKARQHnFLAASOd0+c+ePXfmqgzqNUd+O3pO3rx5IxEjRpA6jUtJ1VqFJcGncWT4hNbyWfpkij5/P/5HFs7eJJNHr1DH1o9FgRBAAasKFgUsClgUsChgUcCigEUBiwIWBSwKWBSwKGBRwKJACKOABwDIEPaGVnXemwJYM9at1E/GD18mf5y6JNGjR5GBo76W7T9NkcLFvpQH9x/L5vUHpGWDETJlzMr3fr51g0UBiwIWBSwKWBSwKGBRwKKARQGLAhYFLAp8DBSw3sGigEUBiwKBo4AFQAaOTv/JXAtmbZTqZXpJrvRNJEuKepI5eV3JmrqBFM7eWrq3n2K5Xf8nW4X10hYFLApYFLAoYFHAokCIo4BVIYsCFgUsClgUsChgUcCiQAingAVAhvAPZFXPooBFAYsCFgVCBwWsWloUsChgUcCigEUBiwIWBSwKWBSwKGBRwKKAcwpYAKRzulhnQycFrFpbFLAoYFHAooBFAYsCFgUsClgUsChgUcCigEUBiwIfPwWsNwxlFLAAyFD2wazqWhSwKGBRwKKARQGLAhYFLApYFLAoYFEgZFDAqoVFAYsCFgUsClgUCBwFLAAycHSyclkUsChgUcCigEUBiwIWBUImBaxaWRSwKGBRwKKARQGLAhYFLApYFAjhFLAAyBD+gazqWRSwKBA6KGDV0qKARQGLAhYFLApYFLAoYFHAooBFAYsCFgUsClgUcE6BjwmAdP6G1lmLAhYFgo0CCRPFlbSfJw228q2CLQpYFPBNAatP+qaHdWRRwKKARQGLAhYFLAqEWgpYFbcoYFEglFHAAiBD2QezqmtRILRQIGq0yDJ26jfy7frhUrNe8dBSbaueFgU+WgpYffKj/bTWi1kUMJUCjCVL1gyRnT/PkMLFs5ta9n+xsMLFs8veX+fI3G/7C7T/L9LAemf/KUC7sPqk/zSyrloUsCgQMihgAZAh4ztYtbAo8NFRYPDolpI7f2aJEzeGdO/fyAIhP7ovbL1QiKFAICti9clAEsrKZlHAooC/FNDHkhSpEsmAEV8LAJm/N1gXP5gCeJH00HioJMniS6FiX8rk2d0sEPKDqfnx3mj1yY/321pvZlHgY6OABUB+bF/Uep9goYBVqG8KdO3bQEpXyCvPn72QV69eWyCkb/KYfoQA06VPfUtoMZ3yIadAq0+GnG9BTaw+CRWsFBopMHJiOylfuYC81uZ26v+xgJAhsU9SpzFTv1GhbF69fCVhw4b5aEDIRl+Xl8o1C9OErBRECnysfTKIZLFutyjgcQpYBXwYBSwA8sPoZt1lUcCigAsK4AaSIGFsGTFgvmRMVlO8Jq6SZxoQaVlCuiCYh08jwEya1VXKaIBw/ASxPVya9fiQSAGrT4asr2L1yZD1PUJqbeo1KaOs3YjbKiHkX+2GpSRfoawyZdxKyZa2nmz22a+UjKEdhAypfbJF+6oSOUokaVpniNSv2l/O/nnlowAhu/SuJ101pejn6ZJLEP+ZdjttpGjJHKaVF9iCPtY+Gdj3t/JZFLAoEPooYAGQoe+bWTX+AAqUrZRP0LYiiH/A7dYt70GBJ3//I93aTZIl8zaru8YNXypzpq21QEhFDXN/YJgBH9NlTCG3bt6XC+eumluB/1hp2XJ8LoNGt5TxXp2kcYsKIebtrT4ZYj6FsmT6uPpkyKFtaKnJ2GkdxWfnBGG8cFVnwMfu/Roqq/Ub1+64ymb6+eWLtkqBbM1l6rgVoo8rPmv2hGoQMiTPk/BSpfK1kz0/HJGffvxNurefLH+cuhSqQUjAx+Ztq0iYMGFCFU9Sv1lZmTKnu+AOb3rH86fAj7FP+vO61iWLAhYFPgIKWADkR/ARrVcImAINNMZh4MgWsvfIbBk5qb0SAgO+K+TmKFUuj3qPwaNbSe58mUNERXGlWb15tMxc3NsPfUMzCImQSGDvP6+vkQt31wvbNVvHhBi6iz9fv33X2hI2XFg5fOh3SZI0vr8Crz+PMaOCkSsAABAASURBVPUSwmDfoc0EtzM0+6YWHoTCvuleRxatHiT1m5SVKjWLCO8wbnrHIDzRs7eG5j6JIql5m8oK6O3cq56EJAuxgL5aaOyTzDHMNcydzD0BvWNIuU5dqTN15x1CQr0IhVC+Sn7JlCW1jJjQzumYrIOP4cKHld07DoeEarusAyBk365eEppByNDUJ3/95Q/p1WlqqAUhsSAsX6WA/HzgpDx58o9kyZbWZdsKKReYX1j8p06DUhIlaiRp1rqS4PIcUurnWI/Q3ifhuVHiLl8/XJjnme8d3zEkHsP3wQPOWNRLmHtCYh2d1Ym5kTmSuTI01Zu6Umfqzjs4e7eQdo62HVrlSXfT0gIg3UBR6xEhnwKbvH+Up0+eSaw4n0it+iXEe8d4mb9iQKgAkYzUZSIeNbmDpoXtpt4DYHX+ygEhQiPbqn01yZ4rnRQv/ZWgKTbWm/3QCHgQWB9GKFWaxMr64P7dR4JQyCQydV73EL+wToevxwjWE8P7z5PXr19LybK5+RQhNtWsV1y+1ZhOGPzqdYrJ0LGtVT9FAAixldYq1rpjdWmoKTkWzd0kY4ctVta+YcOGUeNLjq/SazlC5l9o7JP0vWXrhkrvwU0U0Nu+ay35bvMoKVHmq5BJZIdahbY+SezYOcv6CnMNc+c0bdyb4NVZWeY5vFqIOhw5sZ2veZJ34F2Cs5IAiw2alpWIESOoanyeIbkfEJIxsIsGqhM7+fGjp3L+7FWVNyT/AHicPnlR7t55qKoZ2tyxQ1ufvH7trpw+ccE+z4SmhWl++P4XKZKzlTSsPkC+3/iT5MqbSVKmTqzaTUj8oW7T5/eQ1GmTyJC+cyRP5qYybcIqSZQknh9Fe0iqf2jtk4x/s5f2VXP7V/kyqXl+1caRwrwfkuir10XfMt+MmtReChTJpsDH0DJPMicyN4am+T0ky8F6e3C2De3ypLN3Cso5C4AMCvWse0MNBdas2CkXzl2z1zdy5IjCYLBk7RDZsHOihBZLK1a5Q4P87eKtsnn9j4KAEilSBGnSqoL0HNDY/n7BsXPr5j158+aNv0WHJsCDSa5t55py5/ZDKZG3rWKYyxbuKFs3/iQEg48ZK7pk/yqDv+8bHBexIISpoP56+VhNHDtyRvIXyRpigQMY/ZYdqsknn0SVyxdvKIUBIJ4SrmZ1CbHMPvUGLD2q0XfMkEXiNXG1rNXGm1s378uWDQfkl4On9c8QIrehqU/StoeNayMRIoSXmZPXKMte+iLCIGNjiRAKQlLv0Ngnsdar27CUbNt0UFYs2aYAprDhwkqFagUF5YBxjAlJjRthqkLVggqguXLpphqvqevXbSurEAnBVde8BbLI2pU7JVPyWrJu1S4BZHQEIRmru7abKBNHLRNABH2hl+Cqc0Dl0rbxCGijKWEe3HskN67fVXxACnNWxw6oei6vU+/Q2CcBaNZtGyu5C2SWyxeuKx7QPk/O7hZi53dCIOElY/wg27ccEvjXMhXyGE+bto+XBTIAbcFVoY1blpeEn8aRgT1nymJNwXjj2h2ZNPpbxQ+e+eOKq9uC9TzvExr7JLwUPGC06JEF2qLwh5DpM6X0o6jhfEhJ+nyDRS/1/uef5xIa5snQOr/D64VUOdhVm4waLbKERnnS1fu447wFQLqDitYzQjwFYOT37vxV7mkaep81e5UgBVgWNmwYyZgllQwf30b2HZ0j7brUMp2BY2CCEarftIy/dAQkzZUnk2J+BnSfKW2ajJKhmkYWqwMsKmCUmFD8fYgHL3bvMEXmTPeW2VPXyujBi1yWNC6UxIQsXjqXpEj1qbJ8pP3wQjCfB388IY8ePRXv1bukR4fJnA4xCcaT+HLFSuaURInj+qrXD9//LLE00LRqrSK+zoeUg5LlvpKYMaPJ2OFLpFD2FlK5RBflpkX9cuTOIABPvB/HZiS9XxKrDTcgV2VmyZZG4sWPJbdv3bdn6d15mnyVoZEM6TPHfi4k73x4nzT3rRBObDabYLE0avBCqV6mu6z+dof8++KlcsOGMUWxZG6t/C+NNhsa+yRgWYUqBWS5Bjx2aj1een4zRbq2nSgXz19T8ecA+KC3/28fPFcLFv1S9cdGNQZIwS+/lq7tJ8nNG/eU5WGt+iWEOK3BUbO2TUfJwJ6zFLBodFs2gpAIsFiJoVwEoAyOega2TMbIASNaKBCpRtkeUip/eymeu402N+5W4GpIBSFDa59kbMNd/MfdRyVPpiaK3rTx4IwJSTzHOUv7qvHXVbshT6eedSXNZ0l9Zdm1/bACmngvXxdMOIBXrlC1gDDO+cdbfJkznVzUgF7qqleLdt/qm2qyafckOX5huew5Mlv84xH0+8zYUrfQ2Cehjc4Djh+xTEpqSv8C2tiNEpdx0DhGkjckJX2+aVp7sKp301qD7YtFMU+GRGUd7T40zu8hTQ5mLkFGmL6gp7/YQWiUJz3dxywA0tMUtp4fYiiwcul2uX//sdLO5/i8gbBKM8w+k5vNZpPESeMLjNKPx+YKgCADixmVR4gjdki3vg39XbiiWKmcyo325PHz9mpt9P5Rrv11W148/1cJV83bVJKufRvYr5u5AziHq+/IQQuUgEXZw8e3FeJzsG9MoQHwwOUmSpRIxmqr79OhW23Zue1n6dJmov0a8f5adqhqPw6OHdorQAcLzgCsO1pneq/erdpK4eIhbxVH6JU8xady/tw1mTVlDYdKMOnTZbr88tMpdWw2CIkbeMWqBVWsNqw3sriIVUU7wYojVepEqp6ufpKlSCjEfqH9uMoTnOeDs09i1bP/+Dwhse+MDtD/q7yZ5NLF63Lt6h17lgP7fpOHD/8WLCFx1R8xoa0Eh0Brr5BhJyT2SQRUAIOj55YJW44NVbbvlqqQR8U7+/3kBfs5hPDzZ68py0LGmErVC0tIjHOaMFEc+X7TQcGakMqvW7lLmJdCAghJfUgotVyBkFwPDalR83KSIXMqWb74ezVeU2fH90oRwiwhQ2KfhG6BSQ2alZNXr17J1HGr7Nlp48EVE5KQAg2bl5eiGm/KOMD4a6/Yux14ahacCR8hnLIkhP7vLqnNru2/SKIk8aRS9ULq2IwfeLWGGi1R3NtsNvGPtwgfLpxkzJxK8X68X6+BjWXnzzOEBaLSZ0op0T+JIkmTJ9D47vrSsUcdM6rvbxmhtU+27VRDkiRNIOfO/GXnARlLWITp+00/ae3+tYQ0EJLFTTEciRM3hq/5hsWi+nWdESwgJPM58/rRj3R+D0lyMLQG7Gd8KFk2t8INOOesgyInRHG3POmsoFB0zgIgQ9HHsqoaNApcOHdVftKEVeKKIKDOnrZO0LK1bTJKsGpDgKWEGDGjCS6VxIkEMChVLo/S7hL3yt2WE7hNl6ucX1mUfBIjqqAlbtyiAtXwk+IniCXJNBCDRV6oExlgNqJEjSSjhyxSVp0wVAAnMH1cxyWRxL7ZaeTEdoqOtRuUdBqw2z/AA0bP1UBu5nuEDx9OxfGjLnwXwCNH8JH6fJYumYr9IsH0D6ZeBx9tNpt8lj653aoXhhl6UrVd2w8rV2baP8fBnag34O14r05CnE2YT2OdUBD4B0LismPM7859AHVcaQJ65l+Xb8q//76UdBlTCsyoq/yXL96QGLGiSSJN2HKVx9PnGTf8C9odXH2yoiZ8fpo4rpBYoMAZHT5NFFdpmGH0FqwYoPbJV7FaITn+61lflpBYHOhtHI057Yy8ZibKDIl9Evrlzp9ZmOeIv4Zm3hld4ieILXHjxdTGkbZ26x5AgtRpE8u4YUvk4vm3lpCVNPqzqjPPIBA8edg3O+ltG+UhoAEx8ox18A+EZHzXx0jjPZ7eR8D2D4TEih0X0VN/rZIDv82Ttd+PVUIOwE8WTSHSoFlZ4TrWLJ6uq7Pn044iaMAS1prG647vlcIBhLT6pJFagdvPmSejZMiUQl68eCnwssa7/AMhGYegtzG/O/YZX9t1riHwrTabTfJoY4ojCAkfCvgYKVIEiaIJ39VqF1Xx13W+mnoQHgnDgKIlc3Lo8UQd4JFZVbx5vaHy29GzqkxXIOSJ4+ckWvQoMmDE16oPtmhfVXk82Gw2eXD/sfyw9WchTzgNqMTazZM8iapoAD8hrU/CN8NzYCXorOq0TyxQO/euL2Ur5lVKaGM+xhL/QMjgojfhBPoP/1rgX+FbHOcb/0BIT843H+v8rreJkCQHYzxEf2MsQCEL7eE/+L56fY3b0CJPGuvsyf0wnny49WyLAiGNAsScoU5GoevWzXsSM1Z05aK1cd0+efjgb7IIcSLzFfpCWNEM5r9A0Wxy8tg5dc0dP1gq1mlUSgCF1n+3R1mVwMy5AiGvX7ujrDdhhpKlSKAE8BKa1gVQda6Xt0wYuUxgiGD2vm5XRbb/NF0QDEuVNz++Du/GBI3Wm1S1VtFAgZBM6NR7066JUqNucXeQ+YOf8fupi0JMl8xZU6v4M67ARwq4dfM+m2BLBOiGiR/Wb56sWrZdgdFUBqteGOYfDnkJTP+5M1dVOzO2f/IFR8LSTV9wBgtgFAOEQ4AhNdbHGQg5dV4Pwe0BMD5dxhTG7G7bx2J6UK/ZsmLx9zJi4HwN5Drj9NnU7/69R8oSol7jMgrgdZoxGE/CEAV28SpHENKMPnn08J/y/PkLNb7dvf12IQtHcjH+PXr4RGD24mngWOq0SQQXulRpEsn673ZLz45TZf2aPYIiiXY/YUbnt5YqfRsES6zWkNonTxw7K1cu3VTkffr0mX2+UycMP9ev3hG8AyJrwIEOmuOyde7Pv2TO9HVC37h65ZYQ66qyBiBjFeS1sKfUqFfc8BSP7tofPlJTdk2Z000tzIbyMM1nSSRPgczi+M8RhKzToJQs8x4mW/dNkX5DmzlmN+UYAdsZCIllFRWgvcOLAJBmzf6ZUuoBsHtvH6eBIi3k5vW7sn/vcbKangCpUXqigHMs3PG9ACHpk7t+mSlYO9FHHe/x5DEACGPZ69dvJDTNkzpNAKOjRosisWJHd2rh7QhCFimRXTbvmSxL1g6V8pqSmzlAf1ZQt8k0RTj80Plz14S2q8c5dgQh+ebw1EP7zlXzJ6EyaMvw1YwV+47OkTadasj+3cfkiy/TmrLQyJYNB1T8xnbNRsuOLYekS5sJ4p+XxczJ38nPB06quQm6vXnzRoV3mD5xteTP2lya1R0itSv0loP7TwjGAJ8mikO2YEshqU8Sc7d7/4ZqXAbAdQQLaZNYkAH+hgljk9hxYyj+ibHOSEDGEkcQEt6POYdtOg/xgMY6GPcB33v0aygJEsZWnmdx48ZU7deYh31nIOTGXRNlx0Evj803H+P8Di31BB9IHwxuORj5Nm26ZNKn8zSpWqqb6GEwXIGQoUme1Gnt6W0YTxdgPd+igBkUYMKCIZ/7bX8FzLkqc9f2w4rZQGvBZIiQOGJCO03DGVn6dJkuMCX5vmgm0zXmgphuDHQ8iziLowcvFEAJjt2RjmlCd9+u06VVwxHyTYvPY101AAAQAElEQVSxMmPSd8JE6wqExOrEe9VuWTJ3k2C92bB5OUmcNJ4gvFOfpfM3y7jhS1RQcoSC1JqAfksDVznPdbMS3wK6rl62w+72FlgQEoYEwWTpgs2yYJaPWVVW5RQtmUMAwnRrkt07jihBHVoCdPz800mNWf2/27W6SfuhzukypJB/nj7XjoLnj3ZZr3JfAYju3n6yEGJgQI+Z8ufpS29BhMgRBaZ/2vweimnKUyCLG1ae/PB3pe+17FBN9AVndEtDXBnQhgcEQiLwxtWYVVz+fz958cMrYrgTKxHHclkwoqcGbG3y/lHlhPFctHqQLwEQwe/wod+VgIKLEFZvtH91g+EHyzAsyi6cu2o4a84umlrad2AXrxo3fKnMmbZWgdW0b0/3ybFDFwtxk7BG79vNyylRjv96RkYPWSjEx5s4epkSaLG+wyJIVywRo9Bn7V4BZECplDR5QsFFe/mirU6f6cmTIbVPApg3qT1YxdFsUX+YMCc6o8M4bS4BfF+9bLuaVxgDM2dLKyd/O6+y79p+WIEPuDUDQgI2YAm8eM4mdd2sH6wAsTx69uyF/HX5lhrvqE/FagWdxno0gpDMS7nzZZKL569L9w6Tzaqy4lGwnAH8ZM5h3u/b1Ut8ANBfvVauhi00JeK5M3+p7zR/po+ytGLsePrkmRprAIe9V+9yOieZ9SJ37jyQcOHDSpESOZzOJ/p7MX7qfTJW7E9khgbq0H7MqifKrsmzu0r+wlklSbL4Go/0RELDPGmkz21NyYlCNHacGOLKSpy5CHds+jjANa7BxD0f1GuW4i2NzwvK/uWLN5TQDc8Bf9m++Rg1zvJMIwjJecZk+JJKxbtIucLfqPigWMxSP+aVNh2rS/2mZSVegliC8M4zPJlok0aeAVrB+7sCIbleu2Jvaa4BjZ1bT1DbXOkbyZghi+w05ZkodZ5rY9D1a3c9Wf0Anx1S+2SUKBElbvyYvupPPF6sB5kr//z9shrX4J0cLWm5CRobQch48WOp2LPu5AEpJzAJJRffGf6QhXIYA2s3LOl0IVBHEBLw/uwfVzw239BeP6b53fF7hBQ5GD6iYtHOanE+xt32zUcL40rYsGHUOOZoCRma5ElHmnvq2AIgPUVZM55rlaEoEDVaZEHDC2OG1tcrgGCw2zYflJixokujr8spyzZWXIP51xliJjqYCxjUO7cfKGsyd4OPVJx6+KzZy65KrKwHsEj5zkBIJhYWAxg+YL7KX6R4dtGUsXLj+v8Znnt3H6kYKpt99guTI+/A4KhuMOEHi8ux074RGFNoOnPyGrV4Ae6sCHv+WUJST4RIgI9xGgBiQnVVEbnzZZYte6fInGX9BFdgACbeg++wYsk2weqKjEWK5xCsyGhvHJPYxxoFpuJHTYvPObMSYBkuTi07VFUhAhzLZcVGFgWoX6Wf0B5g+pkcaVvESCtQJKvjLaYdE2wcCx/isrHgDO0FgIkKoA13BULO9VovD+49FtpTr07TRO+z3BeUhMUuGnrAQ+jq7FmAj+QpUCSbsOVYzzd13AqlAUWoIi7U7KV9xbigFWEQsGzGAuTQ/pP6baZsazcsJbnyZBLGlwHvsXgVfdATfRL6Tp7dTaCJkQD79x5X7ZR+x3n64Pod45VFBMckgIxmdQYLzB/0/yL7Z2p81u8hz6NHTwT3OhYdmz5hlccYfcp63xRS+iT9h7lH73PQEstzxhP9naApgnnPjlOF/eKlv5KoUSNpIN9NPYsw3yB4b9lwQH27rm0nydaNB+zXzdjBsu3qX7eFxTgKZGsurFaLwhDFEQKus7AptJ+N6/YJ1rL79xyXlg2Hq3c0o76UgVUQromANf2HN1eWvNCYOdPnHQgJOIP1KaDq4N6zlaVV0VytJWOympI3SzNpXHNgsIKPvAcAKcBims+TSrsuNTjlJ/Fely5eV1ZjgKeL520SQCs/GT14Ak8RLO+oK/Nf1uyf20sLKX3SXiEXO4yP8KNYijF24obvLCtj9o1rd+S+Nk9ixcxiXfCOzvK66xzlERMbZQ/PpF07A5GoR8eW4yRP5iai1wsgPYo2ruCinTNPRm43PVGvmVPXytUrt5WFvTMeBMUXPDVbxwoyp+X4Kr1gCYqSwPG6mcchqU8iz2AwgYs6vDSWpEZazJuxXop91VrJCO2ajhIdBHbVfhhLeB7GIbQ5d/KAxnoFtI+hClZvANKD+85R3nPMNywESlgtx/sBITev369i9bttvtEKQf7AArRH/0ba0f//oI2PJlt+DPP7/9/q7R59tVPr8RJccjAKQzwu2L6t0dtf6sXiiK5ASNoufSCkypNv38LcXwuANJfeVmlupgArz+0+PEv6DGkqaLYBAPIXziqzlvRxCspQvPfq3XL+zF/SoFk5ZfkI0+8MyMBiifyeAB95rrMESLBwzkZleQSjDGiBoOKYF0YN7XaMmFElS9Y09stoD8OGCyNtGo8UJkeYUftFD+8AGOCKlzzFp5IlW1p7adAWRoFJ0RUIiYVCytSJlNUVwIf9Zg/vYO04anJ7DWT8W6aOWylPnz6TsOHCSrFSOYUA0whKi+ZsUN+DuteoW0wQ1HHLnzizi6zbNlYTHgvKkZ9/FzMtNgEdV20apQl9tZTW9fsfp8o33es4pRbMD+2hZL52Krj31Su3VHiBQsWyO83vyZMw6qweGU1TGqDxhgGlPNpp17YTlVUbx84EAM4T7P7Jk2dCe6JdcS6oCUGuQdOySpuOK48zEJJ6w+Rh5UV5bI0gJMzHoF6zVdBxrhOUHDDnlz8Wy8nLK8VrYS/B8mfmlDX2hTHIZ0aiLb9+/VpOHn9ruUaZG71/lIAWr/JEn4yqfXdcrspXyS9YZSJIUx/HpI8lmb5ILc6+B/kZYz75JKokS57A7rrH8zNkTCkI3g2rD5DxI5aaBiwx9q7ZOkbO3lon5+94K/dv3HSoq2MKSX0S8BElChbzxGuj3TrWl+PP0ycXADHozjGJFWKJJUk/ZowB+OW8GYnxmTYaNmwYpYhgDKHcJfM2C3O2fyBkytSJhQWNfvrxhOngI20Updf9e480BeIbiRgpglqcQ7R/CCnwIz7vQEjGHTw0aFvaZfsfc+m+XUftx8G1s/P7X+Te3YcqhnW5yvnVXCRO/mXIlErF2qtTqY9g7ewki0dOQT/G9MRJ4sm3i7bK9i0HBcXv/Jnr/ZT3vn3SzwNMOLFv51F5+e8rgTck/qKz8ZO2glUZilxAeXfNkwG9Hm0yMCAkz6Gd4/Gjx2BHeYsXBKETdL6bfGYk+iOhAQjhEDvOJwokQo5wxYOgPENJTSxJvH3gz1E4PvvnheCubUad/SsjpPVJgKIKRTrJxFHfqmrTJ7H+ZqtOvPuBh0LhFRAIWalGYdUH3MkDvqvCB21QZqFIxxMgYsQI4gyEZL4pWjKn/PzTKbfON/BQxUrlkiatKrgce0Pr/N5vWHP59exSOXNjrTIQqVW/hJ/vk1NTWJgpB5cql0eoV60GJaX34CYCbY2Vog37B0KGVHnS+A5m7lsApJnUtspyKwWwWgKgO3bkjDSpNUjTqjZVLr/EYvhKG5iwZoNBcFYoTNmjh38LghP7jnlgSl6+fKWYZdwDHK974pi6wtw0a11RImlCCWXAaPKOMDkc6wlXj5cvX6v4I01bV5K2nWpIt37EWikpF85e07OZtgUwKFMxr2jqY7W4QUoNTBTDP2gMwwCTGj5CODFaQsKIXLl8S4ilYSb4SPWatqoor169EhgfwAq0lFipnTtzVU6fuEgWoU7D+s1VFhwwpgk/jSNMRDDKKVMlkq0bDkhbTXurMpvwgytkqw7VBBAPwJQwAVgTtu5YTegTrqoA7UcMXKDiFiEEspiE4wTq6l53nOc7Y9nYrW9DqduotGDZY3wukzcuNrrW1pkAgGDOBE97Mt77ofsIcPQd4r5iycVz0mVM4Qf0wjXs77//US6nuPtiteEIQiLANqg2QHw0zTPCFM+iH0eOElG9K65CMCCcNzN9aNDuSJEjijv7JGMqQBfhL1Q/ShTXKQjZtW8DAaBEEUA+Z99DRFTMyNdv3gjxCQeNaik16xUXlAKfZ0ghp09eMJPEihFl7Gbce/zoiSpbtY/hXwsAtzrh5Cck9EmAdaztqB7t1RUI+e/Ll4L1VeUahZXCDyUIyoQHGpDmaNnCszyZAHb7a7QdPKaVpM+UUhwXAGDO9g+ExEpp+sRVbhUGA/O+tFEWZSMv88qc6d4yevAiFVKFcyTAGSMISVgHrMlGTGgru36ZJcxZ5DMrwZdQ/sFTC2XT7klCXDe9bMZhrDqI34rw3bxNJRUzm7Fez4NFENZhv2pKOn1s1695cgsQN2VOd1nhM0IiavwUfGLLBsOFxFzjquzg7pMI2ht2ThTozZjCe+h1nTp+pYo1yJzPd8HND8UjYyt5OMf4GSlSROUS7d97kt/dCdoFFoTUy8Ziun7VflKpWGflvQNQo18zYwuIkzN3Bvnm67HKurh8kY6ij2fOeJB9u36VDJlTCTwvseF7Dmyk1fuqdGo1TsyiN985NPZJxgV4wCYtKwpbjo3fGPrBi7sCIVNqiiMfTTnjTh7QWL6rffok8SZRLF64u16OX1gu0F/vd/6BkOSBH3T3fEM/L6cpfVDARYzoHPiEvqFxfoe2jb4uL3gq4t7OHAjwx1hn/EbBKQdDc5SvxvqwTxumfbqyhGTeD0nyJHUOrmQBkMFFeavcIFEAEAZGfsuG/dKszmBlAQHzg8tvmYIdpFv7ybJu5U7lqumsoM0+B+Tm9XtS2sUCLQgBgCEIMs7ud/c5JqmxU7/RhKkUGiM0TjIlryVeE1cr6x1nICSMPC45ACFYWzEZtelYXf5+/FQtmuHu+vl93v/PwIjhDg6Yqy+Cg0vW/3O83UNYMYKQxFHZf3yeYDUEA+jMteXtnZ75xZIHsOLa1Tt2xhErvM8+rSrVy3QXhFS9ZKxqiuRspRb6gTk69dt52bhunwY8jtbSKPWd9Lye3hYv/ZUQa61r+0mSMWlN6d99hnJDZUJEAKQtBFQH2j8ae6yAAsrrjutR31m+wdADYhBsPF2G5H6slJm86Xe0b8olv77gDEIZsad0SyeuBzU9fvRUiE9V8MuvhXFj57bDKn6gI+g1bcIqqVG2hwAgfl1vqHiv3qUB168lhQZAGy0hGYNgPnKma2i3QsYFvnCOFipWTFDrG9j78xfOarcKvH7tjrK0ihY9iiRLkUDFn8MlMaDFq+gf7uyTCHoA3j7f7VFxHF9pCh4EKc4DBOvvFiF8OMFaIk/mpoJljGj/HL+Hdkq+33hQLpy9quk8bJI5axohPALWnkcP/yG4VZLHjETbRkl06cJ1Be5nS1NPZk1ZqwBSGOiufer7C0LqdTS7T1IuwONvx86qeG5Y8OrjtzMQcseWQ+qdeF88DwCWImnAzupvd/Ao0xJtyLgAQLx4MSVrjs/8lM/cbQQh9QVn9h2dIwA3uPMzz/u50UMnoaBCTgAAEABJREFUAGz7Dm0uXbT2gNB4WWsvKCWcWc5TLyMImVITvGvUKyGHD51SSlMPVdHPYxFg533bT3A3Q5EB2NtjQGOZvqCnGke4AWUWAjiKO5QGKOdY/OTEpRVy6q9VwoJ4vx09K3h2kN+MRL2Hj2+rYmnCPyVOGk8+ZHEQs/sk1scDNWUKi7FBb/hcrOcB3KEb7WJQr1nKU+CNpnxBAO7Yo45gaQ+9d/8yU7LnSife3+023dKe+pGYA98XhOQ+5n7Ck2BpTXvnnKdTg2ZlpUjxHLJswRbZtvmgKo56GEEweBAjWMa4MlRTSGPxRt6SedsJMgj76gEe/qFth8Y+ybyB9wP0hAdka6SrTjboaKQ/7tgLVw1Uiw7OXtpHCEPgTh5QL9fVFtCr16AmggKaePuAiSj8GROXrh1iDxHDGGi0hERRRIzfbfunSf9hzcSd8w1lV6xaUFYv26GMbmiL8P+NW5b3ZQkZWud3whyd13g75sDvlv+g5CvaD8ovvof+rZAT9u89rnhxM+RglCWE9Tlx/JysW7VLMEbQ62Lc0oaRA1yBkCFJnjTWO/D77slpAZDuoaP1FJMpAAiDheLalbuclkysFhgFpxe1k4BLO7f9Imk+SyrESNNOBesfMaEA7cYOXSIMcjCao4e8tYxgHyYaIddoCTm492zx0bSBTIgAkTD5uF0zIJv1Mjr4OGXcSrWIDgJs+AjhJEXKT51WwQhCIqzEivOJcl2ePGa50/yePJkydSJlrRkzZnS7MOWqPECmxppGjnrWKNdTyhXuKMSB4Vu5usfd52E8AWIQpL7f+JPA8FAGk5lR0A4MCEn7P/PHZcmcLQ2P8HiqVb+EJEmWQIG2uF4jPAFwoekEhDJW4MwfV8QIQuoLzowdtlgAII15g7qP1SIAJM+hn8E07N5xxCkISR49IWB5r3YOQpKHZ21+F4fVzP5I2VhZYQnYe3BTDiWkBO3et+uYfNNinBC/B4EN4ArQgu9vBCFx2cI9D0GW2Hz7dr11NaXtG92xacODe89Rrp2Mf4yD3qt3S+vGI9V7m/XTqHk5gfmdP8tHMcqUiyCy2Xs/uwIIydjNd1EnXPzwPmdM6pOAeDsOesnMRb0lduxPhD4JEDZ22BJhDAdYdAQhAYWXzt8iWAvTfy+evyYDNTDEv3nWxasG6TSKqwf3/5YNa/fK/buPhHmE8QVA1PHB1E0fG5mXcufLJBfPX5eBPWc5ZvXoMVawbTrWEARXYhHiIptJA839K5QxBAEMIYv27b16l+kxH7FCSft5MgVmMdcpeocN4yfIfs+OU6VfNy/7omd8k6ia0ilc2LDCnN+13SR73/Dvnd11jf6GkuuMNpfo1pktO1QLlCLAWAcz+ySWjgAL/zx5pto2Qi5KGlbapW3rICTvVK9KPwVEE2aAvkh/hd6MgcTdAxQ2vofZ+4zdzJEBxYR0rNcvh05LxEjhFYjqeM0Tx8SPjRAxvFx3WDgGGhtBMEewDGBhYI+Z4q2BEO7mSQJ6T9UnQ2GfbNWhqqRKk9jOA/KejnTlHMmR/joPOLTvXLXQB3nMSKXK5ZHaDUrIqmXbBTdy4j62ajjCbrCQQlNA02/1usCTM/cDCOrzDUBat/aT9Sxu2SLfojRnfsDopl9XL2VsEzGib0vIXdsPq8W2AGxDy/xOWJd/nj4X+hcKf4xCRgxcII8ePlFymiMIabYcPGf6OtUWMPxgjmbchdfOnS+zr29LG0aeYKwI62TO5N7glCd9VTaYDiwAMpgIbxUbNAqkSptY3rx+Lc+f/+vyQQAcuGktWTNEiNHiCDR+v+knFfOvXpPSKmbhjEW9BCurZCkSunymJy6kTJ1Y8hfKqgZYmHxjGcSEhKFksHIEITnXqdV4yZCkhqSJX1kqFussACrG+z25D/hYrnJ+WbNypzC5UR/iylFmCg3cY0vKlCW1TJ3bXRB6OWZS/HHPcRVXkThFmKRz3uyERvPFi38lZZpEUqNucX+LT502ieQpmEWC6x9Mju5OFi9BLGUBYayLUdCGCQkMCHnxwnUFPjCBGp/liX2sY7ECbN98jAQm2DiTt9fE7+TBPfcvOOPf+9GGYRqCAkJCT8Ay/8rx1DVAru79G8mtG/ekd6epqhhoCegHsMcJrJXfvBG5YfLiVTDNxhiBPTXQYs2KH8QZCEk9SXyP1hqguG+XcxCS8Y5xj/GPcZDxkHu416yUShsbcANv17mm3eqU/popa2pl6fn8+QsFUHbuXV90EMFV3czqkw2alVPCYARN+M5XOKvUb1pGVQmG3z8QckifOZI1dV1JFbeSYBGOwKVuNPEHxQ/WyowlgVkAgLHRWwOmAXPctQDA+75uhSoF5ORv52Xb5oMKiIsSJZIQ+sGoUHT2zJy5M6j4kN6rzQcfqU/2XOll947DUq10d0HwblZ3iBDixplAhSs2i56VKdBeWGiEcbRg9haCsgFAiueZlQb3mStFc7USYgwyjzAmwD9179fwvUFIs/okVj/hwoeTAT1nCm0bwGPOdG+Nx30hjiAk7wMYk+PzBoKFPYpn6EzfROFkFp1RHmGlWaZCXgUOGMvlm78vCIlVPuBD8lTOFdjG57tjn8X4cPFEqev4PObNPl2mCx4vXAMswxtj7rJ+Mn95f/W+eEZwzcwUWvskfH7eLE1V225UY6AKEQDdoKsrS0gWBmKhM9oS3lPIDtwT1IQssnHXRGmpgaL+PatAkazq8m5NKa12tJ/DGkh+8vg5QQk2ZuhiYX7RTtv/mBPXf7dHxak0a75hXunffaZAp4gOIKS9YtpOSJ7f6zUpI1t/nCoZNXkRhej+vce1Gr/9o94Y5DgDIRkLOwWTHAyvjzcF1q5DxraS9wUh377df/fXAiD/u98+1L95nLgx7aCW8WUaNCsrW/dNUa69TVpWkHyFvpDipXPJ8PFtZPn64XaTebRCJAAy7+3jJMdXGYQFRy5fvGF8nMf3AVNxpYkQIZyk1MBIxwIdQcjOveqpeI/EuPTZOUHMBkypH8F/c+fLxK7gEqF2tJ8L568p67G4cWMIebRTwrkEn8axrxyMuyWuv8EJPlKv82euKmsehME6jUrZ2wXXHBNWP47nzDrG8nG4wZ0M65m48WL6KR5GSLf2gQkBhJz7bX9ZvXm0immo38DziF+JQMYE+oVhwSA9jye3jow9LjbOLCGLlsopLhac8WT1BIYG4Rmm8/XrN5IuYwpFP+jmWDACFuAAFkpowyfM6Cx7f50jY6d2dNqXHe935zHx+LCUiRY9sqZYeS6ZvvBr3UqfNDNod0Dv11MDIX3W7lEuNAizRktI/V6+hysQkoUAEID1vGZuWQSF/kOZxKr84su0oisyuIY1EiCBI4iA0INCbOWGEdyqEm3LrD6JYi5l6k8FMPjZsxdy9/YDBSqpimg/S+dvFmcgJHVs0b6qn7AJ2i0e/8NSCbdvx4IQ9nSLE8Y8Rxc08jOnMt8Ex4IzlE+qXbG31K3UR1rUHyZTxq0QQj8w/mKpFxAIyfdgnOE5ZqV+w5oL8Vpp11s2HLAXC7/US1NsuAIhycj47q0Bvj5r9iqBmHNmJwRxxg3KdeSfAgtC0t7N6JOAIbhZp0ydSM7+cUWgG/Um0bYXzNzgFITkOglBHeWOO8Nl8NyAEuPYlr2ThTiV0xf0VItuoQAz3sd3oO0aLSFZ7AUrPgwDjPmLlsyh+HTidcaLH8v4GI/t0w8ZN4qUzKkARceCaMtGEBJLvHyFv5DvVuwUXEMd83vyOLT3SSNtHNuFKxCyZNncAiDdq9M0cRf4SL8mLmKGzKmkbaea/oKQKbQ+GSZsWHvVme8ZF1nAcdzwJcLYzEUUjqOndBDacEpNhmNxy4P7T5gaYzioICR08cT8znORQY6eW6bJ4G0hl58E+EioGvoX46EzeQtaOwMhoT1hp/g2fh7s4RPwq7RRFHJ4UwYWhGQRKxKhStJp8oWHqxliH28BkCH204TkiplfN0CrwaNb2ZkEwCM0l1+3qSzE2WjTsbqysiMWDgsSfJY+uTAoGGsKM50rb0Zh8tHPA3CwjysL4A0gDsfBkdDGlqmQx2nRRiYaNy7et1ipXLJ80fdud0t1WgGHkwTpxvz/wb1HUqBINvvVc3/+Jc+ePZdPYkSTlO+02AgC67/bLfETxFYgJPELG1YfoBZ3sd8YDDu4Vx3Ye1wBpkySaLLYOlYFhoLYV1ev3Ha8ZMoxQmrM2NGV6wnWVDDMLV24k9F+ace0Z/IV1Zh6FqtZMMtH1ZV3mbGot+Ci27BZOXn06IkgwKiLbvwBMMCimAmWxGRbpWYRewmOjL0zEHL+zPXStPYgtzGe9sIDsUOb/RAQEkUCzDUB6WlfgSgqyFmiRossAM3ExokYOYJEiBBeubCNmNjWz6JEzzXA6WUIWbwKxhEhtFK1QvaxOrAgJP0Ra/WBI1tIqjRJgkzD933AoNEtBev6QsW+VO6SLGDE+PD9pp+UIqNIiRzKbZU2gDukI4hQqOiXAiBGuWb1Sb2ddO/fUP5+/I8smrtJ0ieuruJWOgp3MPtGELJ1xxqycdckKVsxr0SPHplqm5YQSEZNaicARyMntvNTbkAgJN9gUO/ZpgqDfippOIHL3LQJKwMFQvJdpk1YZbjb87vQuEHTslK7QUmJEjWS6F4Nesn+gZD5C2cV+rWe16wtbbtMhbyCMoIxxLFcI/8E8EtbQuglH/c6CoFm9UnaNuFdiEVeWqv/X1duUSVfyRUISb1RdPjKbNIBAn8bbUw4q/F7Z/+8Iq9evhJAwz5DmvmxMGU+NIKQOb5Kr/hAWxib7Nl5VNUYnnzmoj6KL8GanD6rLnj4h3EbF/bMWVNLa02GcFYcvApjNWMm77lx3T5hTHeW11PnQmOfpB9iLIGhBMoj2quRPn7aRe4M4mgJ6bNmj8CHMQ4a7/3Qffh7ymBRE56BLBUQCEmIEuZ56u8MfOQ54cKHk1x5MkrW7J8LbXf6xFXBMt98KAjZWuvLgZ/feePApwpVC0qWrGkkRsxoUqREdkEJbrybMbBd5xpKZuQ88UE5Z1ROcJ4EX2IEIYl/u2rTKEmfMSWXTU14VObOl1l++P5nOfLz74IRQmBBSNzMv/jyM1miKXtx0Ta14iGoMAuADEEfw6qKcwq8BR9bSqLEcZV1ErnQ+N68flfCRwgngBfd+jWUcpXzK1c3gEbyACL8sPVnFaQXIYX4RVxD24ZmmwklddokagEPQBvAG+4zOwGm/v34qQAYVapRWAmwzuoAE3308J8KMAOIWjxvk10D5yy/p8/BFKCZREOJFSnlEe/kb024jRgxvKT5PBmnVMK15vatBxI7TgxJnDS+mqTVBRN+YIQADFZtHKksRznWi104e4OKW0W7YEKYs6yf1KpfQr+sAO9u/Roo8PTEsbP282bu4E5WPHcbKVOwgwTGnYx2/O2ircq1FUuVXp2mKjCEOt+6ec/eh4j1BoDNeXcmrDVnLekthYpll7TpkmF2xDMAABAASURBVCkLQkBqAF4Ap7SfJ1XFwdj3Mbg40Y/1YONb9k6x51E7wfDD+AHzu3tHwDEh167cJVgCw0x802KsPUaQGdVGC8vYiIUVixKNH7FMWfYyntTS2jLMnF6P47+eUYAzzBJxC98KktU1QOqprFj8vZ7N41vaAIIA1i71q/aXPJmbiquYkHpl+B6tG4+U/XuOC0IjigysCxkX9TxmbBlLoCvuQJu8f1QAOfGYCmRrrvar1ioqcePFlJPHztmrg9Ub7f1vbZznPXjX8SOWqutm9EnmOq8FPZUAgHUGYRwAo1UFXPzA7ANC8p4IBadOnBdis/IeLm5x+2naCeAEYzZzPbRFGHcsiPkdoIbYW7R7XKJQTLLgDBZaKMygu+N9njouVS6PjJzUXlCaIqQ4luMfCEl++BPHe8w4ZjwgTAC0Jo5jwk/jCMCYY9mOICQA2qHTC4U2xljvmN+Tx9R3+4FpMl1r33zr73+cKihjHMtknDCGs6Fd9RnSVJb7DBesl2hj+j1m9Em9badIlUgVGylSBMHlnu+vThh+aNt2JUbC2DJqYnuB3q010Ayw1JDV47u0bZRG8J8s1lciT1vxmrRaUzy/0ECEqEpRoIO7emVuXLuj4pcyPzJ2YxEJKMl58qAIffnqlRrX6avEtea8p9P+PceE8Y0xo4EGujvWWy8/ZepEcvTwHzKw1yzp332mftqUbWjsk8hsy9cPk/ZdawmK596Dmwj8t6Nygu9PO6A9QExkM9zcUVp/v3+awFMx1nDNHYlYffETxhFiAHtNXK14Yf9AyHNn/pIwYcNIeU22RGkPT2u0fNTrxKKUxvkFvsB4rOczY/u+ICTt35PzO+Dc3TsP1KsT9urOrbf76sS7n3WrdkuWlLWFeRHZFt60e/9G4gqEHDN0kVLgvXr1WuDP4dPNpvdyTcbK90Uz5dWAQQ1gOfXxD4QcO3yJwhugOUAqPNY7EvwnN2H+k29tvXSooQATGQJ2+Ajh5VuDgAz4NWrIIj8uPjA3d+88FICl4hpj1KzuEDWodWo9Xto0GSVoPLEII84EghgB4YMTfORDoDE7duSMYr5gSlkpDoGRa8bEuU9iRhXv1btkntd607Wwxrro+3wHVgUmYDrn9u06al8YAKaNcyTcQ7E8mDBymamgKeDLt95DBWu/HLkzSBuNYf9u8yihXVEvhOlRgxfKxfPXOBTc2UdMbCcHTswXmKC9R2ZLyTJfybbNP5m6sq6qzLsfmDR9cnUUooyWHO+yK9A0m6aJhXkygo9c5zld2kxQWuWa5Xq6/VsgdJcql1tGDlwounUVAbwpF4vkvAWziHEhEehvBCFxwYgbN4YgcCGsUOegJiyiSR/yHOoNcwOT4587dp2GpQTGymzwkfaNtekxDVjUGfWp41YIC/Y8fvRUGN9ixf7E16sP7j1bYJZwEYZh+u3oWSGGmCcsYX0VbDhA+I8UOYIQp5I4jrRxwK3AxIQ888dlgYEDTKA/GB7r8d1eAxtLxaoF5f69x2pBEeYQx0LR8BPWgUWX9Gu582eWN6/fSMsGwyVT8lrSu/M0/ZISgjzZJymIOTRvwS8ERQspXvxY0qRlRTVWcN1VOrT/hPauj1TMWb7PmT+uuMrqkfO9BjWRCJoyC8AWBWJ4TeEYGBCSfLnzvV1wppemgPFI5Zw8NGq0yDJqcgfBzbSWBv4TDmb+ygG+vC702xC2phksIbv2qS9L1w0Vr4U9pWDRbHo2U7fJUySURXM2ybB+8wQwFzrWrF9cAN0dK8J4A21RctGmwoQJI1jaE1jfMa+njgGM+g1pJsSJ++3YWeWqDKDQumM1P9bf1IHxgnGDcZ18WGaFDxdOBmigEmMQeUhc93SfBIwhDi+86fYth5QFTao0icWZGx91Yk7UQUi+y6Xz16Vzq/GmKnOpB1aXgARGkHDc8KVyQlO4MEfC59GW+Tbk1xOW0/AAgE2ATkZ6Awa1bTJSmmv8OsI89Nfvc8eWMAeEX5rg1dlXnDbv1btlx9a3tKfevQY2li5aPzSWyXswzp88fl54Z3fXzViWs/3Q1ifhSfAOIA41fY3xgffCa2HEhHZ+LKRpB7QH2gX54AFjxoomw/vPU14/nHNX4pm1K/bWxriNAgCEYhA+ibHAmSUk8T8fPfxbhR3JXzirzJj8nVOemRBfLHr15Mk/7qpqkJ6zbfNBBZRD24gRI0jjluWF8DyODzVjfkdGpE/DR7fRFMjIu8Z6cH2UJoPRrxjjUCozvvgHQt69/VBTeDwPNvDRWH/2qTsegT5r3oYTcgVCMubDc9P2ls7fzK3/6WQBkP/pzx+yXx6QCMEJzXT48OGUi4exxlg9VCnVXaaMXSFYRBIEnWC0BOZGw8Xga8yPoLtu1S7F6AFCMkiXL9LRTxBh4z3u3if+FhpBGBrjs6n/zet3lYCYVwNp5i7r58cSEm13/ASxBWaVAcx4vyf3EapGaqDcqb9WyYW764VYHv2GNXdZ5JXLN9W1pMkSqC2L1RQull0QTBBQ1MkP/3mvO9togCP1AGCE2QegTpQkntCuaF88jAkQAObH3ccEFxuEKSw/cMuKEi2S+KzdqyZz8oaEZBSiYJqdgZBHj/ypQA6ERMc6AyL4rNnrdis93N+Klcop67VJWP/O9MHu7SdL325eSlkAbaGr0UKF+ngq2DjWA7UalJB6jUsL7dCRFrRt3Hhp07Rt0u/XVgvCCsAe+WEuYJ527ziirI+pvw6iwlDQjob0nSu1KvRyO00p37/EePLJJ1EFS27eRc+LoHT86Bn90NeW92GcZNEWFm9hERfGRl+ZPHiAgPJF9s/k2tU7fujVs+NU8Q+EhPYE4Z8/00foBx6sptNHA4TVqdRHurSeoABFhHHHjPTJ8BpQRmwg2gffpUmLCoK1J0CxY36O6QNB7ZPQFWCX8ngmKXe+zII1HYq3ru0mCqt4IhACBBQq9qWK32bMzz3GRExLLNeDA3ykHiMGzJd6Vfopy8se30xRYwi09Q+ENHsBAOqpJ+YVwl58u3irbF7/o7LSwLKtSasKTgXAmZPXiA5C8h2IVYlLFwK5/kwztyx+gpA+Z/o6Ma6sCpjqCoQ8cfycJgy+ELNjOqOsbdyivOzacVjKFe4oFYt2liF95gqW/REjRhBiIDP+O9KPcWOdxgcCltEXAFHNnCf1+uCp0KTWIIGPZdEeH23eRDh1Jbxy377dR7X3+1sBM2YruyifhAcLQCneCoxvnANojxc/pny7cItqCzFjRRdCx+gWTCh2i5XOJb+fuqQsIeELuM+YiGFJMp4L6j59ivAkfYc2k680hQTWso4KASwa9+85JvCG5G/bqYYc+XOJUkD/cMhLBgz/Wm7dvK/mpaDW50PuD019kvdr3rayXL50Q5rUHqxAxGplusvObYeFto3rMx4y9F3y6on24DVxtTDXsN+r0zSBL9evu2vLPMvz9ecZx19nIKSPxiczHlN3xvEW7arYF2zTn0EfaP1NdXn2z3PB404/H9xb5FvaNu/LeOgMhDRrfofu0JItdAHU3/XLTGHLsTER3mDO9LeLb7kCIbHK/+3Xs8qQAn7WeP+H7iMfsKYC39PVM3C7xpMLxRVjhTEf9QgIhLytjSMjBs4XC3x8S7kPACDf3mj9WhTwJAUQ6mHmo0aLIlev3FLWJo2al/MDyjG44soGgNRTE1DQaPpXr780cAw3uEsXr/uXze3XGKymzesha7aMlvFenWTJ2iGyZusY+/sw2U4dv0pZ9gDSwCx9t2WMzF8xQOUHEIGh/vP0JcG83+0VdPFA6u21oKdUqFZQCVMAdMTy4FswYDu77cK5a0K+WHE+UQIugu6UcSuVdYSz/J46BziQMk1iIc5GkZytJE+mJoLbENo1QG3aF+2M8hFA6lftJ1VLdxfADQBhtjXL9RLAGiYX8nk6UZ8dB73k/B1vOXtrnazfMd6Xxl4vHyEK7TL1AvAAeMCdbPXm0TJqUnthEued9PxB2cIk/Pz7IgGE9u85efJnEZi04xpj4JgPIQumkv5K+2ZhKABLPR9gDa785KEv6OeDsqXeDZqWVaENcCesXL2QOLbZ0ZM7aAxlWYkWPYpyWac8mDX63+TZXe0ByqGzEYREm7/+hwmCm2et+iUUMEIe7jcz0ZZfv3kjmbOmlvZdavkqGosxrJiOHv5Tnacvwzgx/iCQOQoBKpMJPwijUaJG0tpKRKel9XQAIYeMba2+A3FEew9qIgCmtH+nN3v4JAw0lrn79x6XbVsOqvi3jgzr6RMXlDCLsEX7oO8QH4pFXzzVRgAfR0xoK19rAhIMMt8a8HHI2FYKCNiy4YACOhgT2jcfrQCMwICQwwfMlxple/gBij1JZurdrHUlVQT0ZszgwChQhdcA3qq1ivoZk1IG0wIA1A/hJFeeTAoYH9B9pvK4GNp3jnK5YkxBAHQGiCEEs9I0Qq736l0KoOF5wZ2M9Kb+jHOOICTzFaCp2eAjtOH7R40aWRBsOSYh2O3bdVQpiqgz7ahL73pcsif6Bm7P8FK9Ov0/PIk9QzDsMC4EJLxSLTMs7eGNoBHlOUtPn/yjFOUpUn6qxj/ylCqXR1lA8g5zvbyVJSrgAVZX0+f3EEKvZMmaRgBN9f7MfZ5O7TrXlAKFs6o+iOXVvy9eavNOBDEqBKA9oT0WzdmoQpfAn8C7ouyinbCI4qBes00dA13RJfj7pKuavT0Pz50uQwohLih05SzbwwdPyT9PnwljHHSdPLubXfYhD4lYgS+e/yu9OnkGfKQMZwll7Waf/YLM4gyEBMTTAWra9MARLRQ4jUv2jEW9BGOR5Kk+lbUrd5naRrDU1RXnGIdMmNHZj0eDY3thDoKPJzbngpUD5dtF35s+v8OXYyGdXBs/2HLs+F2QX5yBkPAGuNHjQYJ3I23L8d4POWZeLl8lvxBKzJmVLuMhigxigFavU0yQtTbummj3pNPLpD6MgT5r9ghtHWUS/Biy/v7j8+SKBswjC+n5/+tbC4D8r7eAEPr+GTKnkp/2nZCS+dqpIPnTJqySJMni+3Lf/JCqY9VEHIpD+09+yO0fdE/UaJFl5qLeGpCUSQ79dEppU3kQgqtxIoZ5HtBzply6cEPeaKACkyGCJRaTufJmVELjkD5zuNW01L1/Q0Goa9tklHyVoZHAqMFAugJ0qNjZPy5rDOi/Ek/TiBcoklWmacCqbhHHdU8n6N26Y3X5PH1yQeO0cPZGe5EIhljKAtzAaBtBSDIRI29w79kCoM2WY86bkZiIAQ8BFJnIwoSxacBSGg00+0ZoB451AITRQUjaCuASlr0IAI55P/SYcgkQHTdeTEHgg3lx9axkKRMqsC9l6kROswAs0o9xefkkRjTJkTuDPZ+PNmED8JHHfjIIOzC59ZuUke0aSIRbh7M2i9VGgSLZZO/OX9UY89mnVRXzC8BE/wNob9Oxhl1LyzehjuTHegarbOIRftNyXBBqGrRbGcdo4wjbxL1DyZEe/rLzAAAQAElEQVQlW1r5um1lyZkno3iv3q1c9AAbicFELCbGEwTzb9cPdxpjJ2g1CvzdaT5LIljnObvDCEImSBhbWY/xDvNmrHeW3aPnEKp6DWzsR2CCkaSdsBK3sQK4wOttKFKkCBIhfDhBEJg46ltjNrfuo6TDLZwxAzB/6tzuMnRca2E8wBuA+ugFAurRjjkXGBBSvy+o26jaPAgzjpUBY5Wz5zHejJ32jeB6PW56Rz9ZoCMCIf3ZEYQE2H716pVMD6YFAIqVyqkBX6/l5PHz9npv9P5RWMQFwZo+ihIRYceeQdvBG4L4w96rAwE+avnd9Ud/Qqg6em6Zsvia4NVZuRoan2+kN/U3gpCAj8Row70OF1zjfWbsww9+mjiuYFFVrnJ+VSTtJ7MGdC2Zv0mwhKT/NWlZUXSLe+Z8rMWP+uMhoB7kgR/a/J4js+XEpRVCjGNoaSyG+cVReEWBgNBNvRkrPW1pX7Necdmwc4LiV+mv1A+a7vx5hrDgA8eMwSeOn1PzJrwGwHtqbSw/dOAtT20EDwDyylTMJxG1cdB79R5uNzXl1/hPXPMrFe8iRXO1lu7fTFahBSJGjCCNDW6p0J5xkphu/bp5qXjE8Ikon0tpMohZHgKhvU8mShxPgWD1GpcReBE+Nu0IizUs03fvOKKAGZRzuhcJ1+s3LaPmSOYld/GAlB1QwiJ2465JUrFaQXn+4l+73GV0x6ZtIPesXLJNk2teCLIP/CX9sZQGvBMjcuKoZYKHV0Dlues6inR4OMLoMLcQaof6YCwCPY3l+BnDG5SUFu2rKHkSUN6Y19P7jCXIE1hIUxbbwIKQjPNYXTN+c6+7EnJXg3eGCjyTtukIQiIHY0hD3HFoDt8HgDpEU47ThrhPT7QX4zjOPEWdkX3cbeGtlxlatxYAGVq/3Edeb8CVTq3HK8siXnXcsCVq1WTcZ/WJi/OOCWaIScHxPMcw/gAOuNRiCcI5MxKMW9LkCaRL24nCQhFFc7WSfbuOqsmOicwIQiLUFs7RQnp3nq4YPIRE4pAM7z9fuaIhPJpRZ8oAIC1UNLugHdSZAiazyWNXyNMnz9RETDw0R1DqwvnrQtwUgKZJo5ebavnI5IuQ26V3fWn0dXm5cf2uAmB4Hz35B0KmTJ1Yz2bqFlojnO7c/ovkTNdQcmdqosAjtGi4PKF5Y/J2rBT9JDDuZI73BeaY8lihM178WIppDO/C6kh/1utXr98uClUgi2JC9fPGLdrmnzUQHqAkZar/A5X0B3f2SfpNmYIdBFdGLIzQqgPSwDzqlpDpM6aUP05dlHbNRguABvUksHT1sj0EizFoDxjcsn1Ve9wimAtcK7GihpmGYeYc95qR6muMOoCYXhY0mzlljRK2+T5c894+TtCO4y4MU8x3nLWkj6TPlFIDSN7IX5dvqbiDaPObtqqkFAz688zYXv3rtvzz9LkA8NasX8JlWwGEvHD+mqrzo4dPBAtxfRwyo556GQDVLbQ24L1jvMxY1EtTJGVWl6D97h+OCHMK/Ved1H4Yo2uU6ymM2QixbZuOlrZNRymaa5c98keZWBfR7ulbfHPabt9uM8QZzchP2yV/2LBhBOaaeQigAys3XXh0Z2URmJgvMmVJrcZmgHLj8xG+seRmvKNOlaoXlsCAkFgkAJBgZdD6m2qCh4CZfVJ/h/gJYqkYwjMX9xadB8FTAGtfQqYQmxrgAzroVnmAePRDlCSMVfqzPL2lfTAmFNQUMLQTgKJKNQrJjIU9/QDtzPk66Ev96zUqLVhzIATT9s0WYnXawF8gCCZMFEfyFfxCnS5fpYDcvH5PRg9eJPoCSvAEKGR4XwRY4tMBktF/1U0m/MAjde1bXz5NFFeNdwi5/YY1twOjehVot0bhNc1nSYWYoBs1UBDXVoAG8uj53b0FLIwd5xMhDNBMTWmO2zSW1S9fvlIGAZTHeFKhSCdpXm+oGtNow5w/a4gPC20vnL2mLOFOaoA8bodbNx4gmykJIJVxm/ie3poSTp/f4a/pa3gG0JaNICQVg7bwKIScCIxHFfe4K30MffLKpZtqbmf8BniBNg2bl5NIkSMqUJc5Z/+eY5xWixMuWTtUWRO27VRDnv79j32xRJXBwz/Qu0uv+lqZvwthu1jAb9TghcrTC4W+IwgJP1KnYh9hsb4TGgCPZ8nC2RuUBSE8poera398647VhXiUxOnFq4uYln+cuqSskjnvtaCnGmPsN2g7jOGMhw8f/K1AVGLJ0g+0Sx75g49g3HV8OHPkjq0/C4sOzpj0nT1cg38g5Fyv9W+9k2w22bf7mFvdrqkfCkA83ojNjSwF38/4rIOQyITMLwf3nxA86ZDPls7fouioK8ddgZAXNf4V3pX5HwMjyrPS/ylgAZD/p4W1F8wUwDoR6xxX1Vgwy0cmjvpWXIGQDBQwHtPmdRdit7AgBsdttAEbqwsYfzUQD13sqgi3n6dORUvmlCOHfrcLgjA5C+dsVG4hMNAMdo6gKkAIlgWAKAizc6avU8ye2yvozwMRCOPFjymVNcEE4EPPWkx7n9MnLyrQBtCDwRehVb/OKoYElGbBGTMtHykfi0YsgGCAADiIVWQEB8hDcgQhAS1ZdW/p2iF+zOrJ7+mEFRVWdVPHrVJF0UY6tRqvtZvT6hihHDAQpkmdePfDJJ9CA/I84U6GxcatG/eF9kf8OJh2vrcrS0gdLPoiW1ppozGU76roZ3PowAnFeDx//q+fa546gdCEYGcEIYuWyim/Hv7TT7+C9gggABl8E4RG2pReNwCPXw6edjsjpD/f1bZr3waC6/Tg0a2EcU3PB2NTUwO8sLwD8Fo0d6P8efqyIGQjHCJA0kaeP38hSxdslgLZmttBV8bSLNnS6I8yZbtjyyE5f+YvVRbum/RZdeDwA2Nos9mEsdBr0mrhPR2ymHK4dcNP8vTpM7WgD8ASruCExGAfgfb169fCGGisDG2IMRsh1izBG1CRMRegi7rEjhND6mpgEWMEx46J/AiEOghZpER22f3LTClXKb/gEuyYP6jHN67dEawHXD2HeFQRI4WXDWv3KislxnD/QMhJY1aovotSAWsE3mNov3muHu/x89e192M+J5xDshQJlBBYomxuDbj5TbAU49voVnm4ym//aboA4hUqnl0YazxewXcFwJN07dNAiMFa4MuvpVrp7oKSk8tZtLGbuZC5n2M9wTfpICT0BrBcNGeDqVY/1IWxr58G3LE/f+Z6+fnAKTmsjcXsM14wnhz79YxqF4wXCH4IgPQBxsLESeLJ+u92c7tpCQV0EY1nGjlwoaRNWEUp0gFPqRPAqG6dqVeIsYO5ymfNHqX4g49h7u2s8QPuBnuhiTEUCoo6eDfqokDIhb0Ej6F+XWeIMytA2guLhgBip/k8Kbep9Hm6ZIK1ECtkE2edcVJdMOGnZYeq0ndoc2VFHS58WDECoxRPXQBfoKkjCOkKOOE+T6bQ3CeNdGGuQylOLMQRAxaoMbBMhbxy6+Y9AZSmbbduPFJoYzabTQCkiLfus3af7N973Pgoj+8jFwLI0deoFwUCJE57tzCYIwjJdd4BIBIAvkrJroLVLPMo18xIjBnMz8hYjG+USZ1oz7dv3VcgZF5NGYMykbxc11PkKBFVn/Q0+Ahv6sqKGn4TesMLAPYSuuPZsxcSM1Z06dqnvt3bSK8z2xNHz8qDB481nuSI23luaIRVOd+RNkDd9HEXuRwQknBM8CJYwFJv8mElDa8NT+0KhGRsj/5JVGEO0r8V72Ol/1PAAiD/TwtrLxgpACM0fHwbKRjA6o8LZvm4BCFhzto0GSUHD5wUBG5cXFiREsGdQYKJsWvbiaa+Zaq0iZWlD0webnF64ViCXDx/XXDh5ByWkEbGn2MGR64Fd4oXP5bUb1JWVQOhO0XqREqbCbPKgAwTB63R8nfr11CwRtm8fr/wrdRNJv3QhnBlQ4AFIEKThWDKJBIQCAmTTxuZNmGVIGyZVGV7ManSJpHkKRJK/+HNBSaYC7SZ+AljC9aBvAttmtgjuGRxXU9HPeRORkxMFlaBwYFp1xclcAVCbvU5oBhNrjfStN6OgpVeX2ITPteYDkfBQL/uqa0jCEm7jqcB7M7Kg8mYMna5suBAiMmYJZU9W4cW49zOCNkf7mLH6CaCxVT3/o18gZAwwbhBAnhh9UH4gR0HvYS4QLQn3sdr4ncC8E4R0OLHPZ5l+Bm/UFwQswdBlXL15P3dHgEYgLGrVK2QTJvXQwkr+nW21eoUlQgRwgmMHtpyzpmVEAj1slYt2y6nfrsgN67fFQQW2jdM6bT5PWTImNZCzEcsyZyNMfozzNgyLnTv31CBFsyF0Fa3bORbOKsD7QYQ8s/fLyvh5fHjpzJ68EKPLMzGohuDes1WFiRYRB3XgCJjnYg3WTRXa2nffIzQjpWyIGwYcQVCInD9cfqS4OKMBcigXrMU8GR8ppn7eGl4r9otS+ZuEkJjYPmTOGk8wVKGeiCEjBu+RFnYMGfiloVgznmuBzUBGhJbunGLCv4+CgExWvTIMlZTxDJ/M763/3qsWuncZrMJfXXYuDZOLSEJi4PAiOA4bvhSf8tx90WsYRkTGI95Nm2X+QkFGftYfwOE0R+5ToK/On/2qorNRlw6FNiLNOUv14KaGJOXrhsq/vV7xpGyGqC/bdNPovNDKIqmaSAHYDz9EsU4oJmxPozXWO7du/tQuUpi3cw7GvMEdZ/6j5jYToxKTdoDlrgARDwf99JbN+/LxQvXRYQzvlPESBEkXLgwEiVKJMHikDEIPox9AD7fuT1/xDu16VhDxYzHWhQX/UxZ/SrY4GcAbagjfbFpq4qy7cA08flhvAAYu6umH3ufdEYnrAKb1R2iAOuqtYqoBfJuXLtrz0rbvnv7oaCIJJwN4/7w/uYqjhgr0mogOcAW9bFXTtvxD4SEl+KbatmC5Y+xJl6CWFKoWHbl5aJXokjJHHLvziNhHtfnfeRJxhc9D/PN8sXfC+1eP+eJbWCsqPVyx2lzCHMJc0rMWM5BSNz33b3gjF4+nnKsy6ArkGkLjiAkLuPwqts1xbl+H1t4aXhTVyAkHlJd2kwQd83vlPmxpTAf2wtZ7xP6KADDghXMy5evZboGAAX0BjByMJJoUxwtB29cuyMt6g9ToA3WCAgpIwctFEynzRZieQ8Grn9f/Cthw4WV7LnSCXHZ0NQDaGxct09aNhxuByFh/KfO6yG4CmFlA6jHM8xKTKyUe+DEfGGxh43eP8ovB08J7tbbNv+kqgEoxjFWSbu2H1arQ0NzmLhaDUpKm47VBRfLbZsPqvxm/lBm8dxthBUlG9ccKN9rTD/Ana7JYvJ2rA+TyOWLNxUYEtyaKtoIbQMBkXqWKpdHucs2qNZfvFfvUsACLllDx7VWLozE9GMRFQRJhEju8WSCvroVDCCMoyUkGuzvlv+gXBNgfFp9U02wjGXfWC8snRGsWO3YeN6MfdosDAbgBq6qFaoUUFZIzspG7IDPhAAAEABJREFU4Nu64YAQuB5BTM9De4dR0Y89vWXMQJv6m6YJJoYM9XEGQur1OH3yguAyh/VvlKiRlLXpgtkbBAWMnodtxIjhhfHxuJNFg7gelIQgikssFkvUHSZv7rJ+dpARpkxfEIp2X6ZiXtl9eJbMWNRLLbqFxXq5yvnl4P6TChgJSl3e917aLONgUY2p516+NSthvnn9RgZpANqsKWsU3Wg/jONlKuaTpMkT+rGC5F63pgAedvfOAzl35i8F3gEiAMqF1QC8QsW+VIuBOfZD/XG0c+67e+ehx8BHvSxcnXp2nCq6xR/gB7Rmq+dha+ynvIMzEBIrq/Dhw0mdSn3UPMp7cG9wJcrv1Hq8IFBThyLFs8ubN6KAa45J9+4+Ut+IsCbQonv7ycoyiGtBSXzbASNaCPNHp551xT8QMnO2NBI3XkzBXVkvM5WmVAS8A6TjHPF5B45qaVeGcQ4+jfMIjAiOnDMrAT4iiBJWgjnbWblfZP9MomrjHaEm9OtZtHdlnBvYY6ZgjYdVsn4tKFvaK4Ip9Hal4OT5WbU6fZoojmTN/rk9dAPn036eTG7duKf4juifRJE2Gmjm+M2wCL51475auIW2xX3uSgB1WBzd0IAh5nTjc9NlSC60BwBSzufJn1mgP+ALx8aEJdbJ4+e1dv5G4E2+XT9M8a+43JptaUq9mM+ZJwmTwrgdRQNGce91pC15jSAk/AxgMQuF4drK9aCmj7lPIptgaMBiiRfurpezt9bJ3l/nCDyfkW6EucHyLl2GFPa5HzmDdFzjZ/DyQp4z3mPGPiGxaKMxY0a318tYriMIyQJ/yGV4SBGf2Jg3OPYZM6rXLirwhtDyqzyZlLzTrukopbBgzsRrh4VyUG6gjMY9HiWZp+uLYYquwMhbMIvMDMCKmrmEOcURhISHpN+6e8EZ/f2RrzD0SfBpHOk7pJldoc+4gYzg884CPXHS+EKenLkz6LfatwO6z1QKch2E7D+0ueJhifXLuLlv11F7XmvHLwUsANIvTawzJlIAphbwEeYmVuzokitvpkCVzqTlCoRkAGndeKTs3HZYWRv8tO+3YLOMgEFbumCrWlhm+eJtwnFVbeKw2WzKpJy6GkFI3FmKl84lF89dUwNboIjhpkztutRSsUVwiYBBRXvZqMZAyZispnIbgunG8gctm14koNTuHUeUZRDBkA8f+l0G9ZylXw62LXTFjTYgEBJtN9aPgQEfPfkyGzUw+p4GAAAEwDwzOWbJllb27vpVFYuQoE+IaDIHjmwhn6VPrl03d4Jj0YFTJy4qMBSmvWqtojJyYjtVR34AQzes3SevXr6SSJEiSIOmZWXjrklqERGAVeKj0YaI6+JuoYryA5N8gRuaYkCPCens3mO/npFHj544u2TaOcaMDl+PFSxSm9UZLCwCAMPjCoRcPHeTwEARqwiLrBPHzonXxNW+6ovg/GXOdLJv91E/MVJ9ZfyAAwQvFruBMUaIpS0AMqKln7mot53hp62MHbpEhaKw2WzC+9DuCcOB4PLj7uPCQlAfUIUPvgXwsVb9Eio2KOCn/iCspu7efaishUYMXKAUWowZl94tGKYz/NBVv8esLWM1LlePH/8jrRqOUKE+UEj06jRVe49LQt1cgZBYgqBUIh6rpywfXdGB+YSwEsQRZMuxMa+vfqoBqYCQMzSAGl4BvkG3srp88YaQjPd6ch/l3MFTC+X4heUCyI6g5FgegiFCboyYUSWLwQILJVjYcGGkjcafsNAZ38nx3g85hofKrQFFNptNABL9AyEjRYqo+mDdxqUF4ZTyaAcPHzyRZnWGKPdIziFAATwlS5FQsKbh+wAYIDBy3YwEbVFGMCYAJtVpUEoArBlbHMvH8jusNp6zoAQWLdC69TfV5dXr14JyzDH/hx5TNrFKaYc8wz8FJ0AByisUFX2GNiW7UC/mdqxncMtHSW38ZrRtQjzAB2Dh6e55kvEC8BGLI1Uhhx9iZzOWdGwxzq780duC/s7GW3ClxMoXhT/nUWqNG75EfNbs5dDUVLtibzVP4gk1ZdwKxf8baetYGUBIxhkU1Sh5Udw45vnQ44+1T9J+8GrAuwhlKN+dOYaYj137NBAWtoIHgG7/vnypgdOi4j16LeipQJ7hE9pJnHgx7G2LfGan+3cfCTHLU6ZJJAD9zso3gpC8D/0SGWfEgPnOsnvkHOVOmNFZfv59kVICMF8AksNX4cECb0gc7QgRwwkWeowVAHa68hFZsueAxkqJjjzskUo6PPTGtTsq9roOQjL++WdFze3jHCwhB2nyDfF64Q247s6kzyleC3sK4xqKZHhPgGXaNmUhP8JD+7wDIfGOg46M3Vw3JiMISWiS4qW/kp9/OinTHXhu4z3W/lsKhHm7CRW/ViU/MgowoDNJ60wNjEL7rrUCbUliBCFhCI3kYQDp8PUYtXCLo6uXMZ8Z+7jcsLAMFkgMYLnzZRLiReEmR/nU9dSJC0pzhWUW8VP6dJluKmiaMnViyfRFajnz+2WBGSN+D26y1E9PeQt+IbFiRReCvuvn2CZJnkAQ0D9PVE2ql+kuTIKc93RiciZO4XivTtK5Vz2tXnF9FQld/QMheWfA05BgJr90/mbJ/nkDKVvoG0U/BMIIEcML1gW8FO+CdeGVSzdUuyCWGEAUlqhcNyPhUj1veX9J81kSwa0NJsgZCEmYg7GaAIIgQr2Sp0yoBF1isgKwD+s/z1S3hPpNywj0pC56QuiAwaC/IbS6AiGxnoHBxgVEv9esLYCtXm/jGDZy0AIhjo9/ICTWVTOnrJUsX6YV+jLtR683AjTf8oKm5GCxBv28u7YoLpIkSyAE8yewOy6Sev3zohE3gJBYJBXK3kKwOiEOHXH8cMvi2zTTwFZjvd1VP1fP0cHHiBEjCPFBsfDQLTqox2bvHxV4ABDDMRb1jOsDeswUYrAyf2X/Kr2rx3vkPN+yaMmcqn07LiCCsOIfCElokv7Dv1bjfZmCHQQXaY9U0slDqTdzNmEluMw2MCAkAPW+X2eL18JeEjlKJNm26SduNy0ByDVtXUnFLgNcYj6fOq+7EqyNlWDufPnytdCWyI8VFuFJatUvKRfOXjNmDfJ+m47VhdiHeI8g9Dx+9NRfEJJYfowdD+49UgA170C/pN8B5GItSF+kYgDqWCZjLfnXlVui8yxc83Sin42a3F6eP/tXNmoKOix0w0cIp5SkWHsy/xvrcPDACdWWERYneHVW4HDyVJ+Kbm1rzBuUfdotPBJjFEI/+65AyAN7j8vlCzdUvRgjKJd4z680BR08Ezzs9Imr7EAZfQBLKyzXd24/rOZ67nFXQsDu2qe+6OBjhswpZaZhPKYcFmUDaEa5DP+kj90I67R/nV8nLwl+r2qpblK/Sj8FrONtxNjPteBMRgCJsdkZKE/7JrkbfPxY+yR9rk7DUnJfGzsICwDPzyrhG9buFcYUgMgiJbLb2xRheW5ev6uUYIBJhMRivAEMgwd7j/bh1qwsxPdIUyxH0eYQFI7MR84KoA3BIwK03tCANcB22ruzvJ44165zTSlfuYCyWK9YtZBwTJ/MkKSGwGcjwxTV5v8b1+/ZAV3m/W1bDgqgH4ApVu3wjGaO3enew4pap9u44UuFWMm0I9EUaft2H3N7qCMUUxNndZFwYcPK0L5zpVLxLkK4lx+1siJGiuArDiU8HmO8DkK6GuOp/4DuM+XIz3+ocd7dYwnP/1hTmI/1xaz3CvkUwDXvvCYEEwAWyy9qDPOIpoGBguOAEgzcvl1HBcFPF9b1exhAmDT0Y09umZhZIGLf0TmCuTvCBuccy8yVN6Om/YspSZLG97X6bOq0SeT40bOSP2tztbqgmZNcv2HNhW/x/NkLmTRmubSoP1RgQB0FUpg4wJrMX6Sxu3ghxKbLkMJUCxRoChOzbN1QwdIK6wiA6+82j/KzgAxtgAn7e01Q1QUFrIVWbRoly9YNURM77YdnmpFwP56/YoBa+Y968B6O5cJUfKEBR1GjRhKsUfXrqdIk1hi/x8JqbdnS1BMAbf2ap7cILljMLF2wRQCMSuZtK998PVboXwiFVR0sIQFncqVvJM3rDpH5M31UQkBBOMHqwNP11Z9P+6Rf4goMoKefZwsDDIMBg0m7rly9kC937KjRIqtFPG7fvC9mu4uzSu6g0a0E9z5oT32NCYbSFQiJWwl1z5r9M2E8zZg5lT24N+1v2vyeKkbWIDfHzKPMt5ZfCeXShesCs06dYYhhlnVBFrDDKPTSRwEiASoBwhh7zATWocmSNUOkfKX8cun8dbmhCUzUO178WNK9X0PlGs74uNnngAYUPJHipXNx2Z6wOC2Vv72UL9xJpoxdYT/v6R3a87frh0s27TufP3tVcOucOq+HsMq0Xja0N4KQCIfrd4wX3rd5m0oaOHJd3A3Q6GW72jK+4R7G4hb0Px3ESZEqkQDAADwZ76Wfdm07SU4cPycoA+ir9+4+lLHDFpsKmlIvhOiL56/JmCGLxBgOwWg9Qd1p6/s18Ik5B+sKxiFACVbPxzKZPO5K0yeuVnzD+BFLVb3YOlrVGcvC8rhyia5qjoe2AGIsnIO1N/ngPSZr7fim1g+gN2DZlvX7lZKR62YkxhKUimf//EtQahIXtE7F3sqDhPKxIHTshyhTdmugHfUlz2MNiGVc8dLow7G7UvN6Q4WFVVAaEu7FPwEVWlYv20OFCcC6jvmedgQowLhHnQA5WLxDrzcxTRlH9OvkcUdivOjcs65cv3pH9RvoY7PZxNl4zLxOmdQf/on2zLEzEJKFlIjhS3vf7LPf7aAp5bpKtAP4P0BEZ3mg7bQJK7Vx2y8oD5CK/MFcyrdxdv+HnvsY+yT0Kloyh0SNFkmw3PVZs1eRhzZC/xw5cKE8uP9Yw45skiN3eiVT0CZGD10kjJmMJQ8f/C3EiOzRYbK6N7h+qBdxnSkfYMmZQoNrxbS5noXRxo1YosJNMV5y3qwEP3X50g0VRufV61cK5DWWXaBIVsEghDkmqsav6tdSpPxUdm77RT5PVE0IPWF2vd/Xilqv98lj54S5C8MQDIjcOQYy9nbuWU+FQGFMxoCDcQ1LdLyL6lXuK8iChEzT60P58Cg+7ywhaSvw5DxLz8OWMT2ppnS3wEeoEfhkAZCBp5WV080UqFm+l9DpmZBaNxqhLAApAqH5fUDIQwdOqkkPIIz7zU4M/F4LegqBrIkXAVDU+ptqMn95f00oTOqrOlhEhNGYPiyEuvVroE3mkZV7KvEhL5y76iuvGQcjJ7ZTbrIwpwghD+49VoIVA7Nj+Sc1AZD4jwCRfYc0lZOXV0qrDtUESyoYT8f8njpGWzlsXBuJECG8wGDi9g3zTkxQLGqxrDWWzSQCE/39OxAySbL4giXe1PGrZNvmg8asHt0HSJqkad+YrACJcH2cPr+HOILtxIxCG0e7qlKriMZgxFXtCM0zq/F6tJJOHk49KPvKpZuC8KpngXa4hiOsOAMhyYeQju8n2F4AABAASURBVBstCaaPc2Yl6N2gaVllhQSD1t1h4RbqAWMGg2EHIWsUFlbQx42IVWoTJ40nuNrCZJPfjES9GzYvL5E0jSx9DRCsXpMyfopGcDKCkFizUecFKwdK6fJ5FKN15/ZDZQ2FSwv9dd63/eTpk38+KK4Y7YB+59heqRjXho5tLUvXDJFipXKqsul3XCNBP/qgPq44Cr3kCY7EuDd5dlfJV+gLAdhCA58nUxPBzeryxRuqSrigAjDNW95PWSfnL5xVWUKqi4YfM8fvUuXySOfe9QWrtQJffi0oBIrlbqNiKAPUieGfEYS02WzC/MT73r/7SKZPXG3I6fldXH5RFMWIGU1qaMAMIM7XGqAD4w5Y5wqExGqvQpFOAnDWpvFIQZFhtpUVSs5n/7yQ/t1mKLo1qzNYZk1bq4TCmLGi+7KegJKMeQguWIrzbsSmw+3a0+MgSlkAAgQ5xg9nll9YGtMn6bcIueHDh9PGyfBUW6VEiePK1b/uCBb5KAWIbWnszyqTB3/KVMirKWgTaQq3R/ZSqO+IgQsE6yXc5sKE8S2+UL9mmsKraunuynKmZL524umYZ5TJ/MF35hs7E1DJg6skL1KkRA6JnyC2EH+OYz0xP3lNWi3wxPm+aCbMrfo1d20ZB/p1n6G+KQCQDlTbbDbxbzyG7saxGxBy1uLeKt4oi3Ax1+hjpbvqGtBzaLeAnsQWHu/VSVh8iXAI8IaO98IjGkFILEBRwGzYOUGata4oZihgQkOfZJ4jOdKPY3jWb72Hagq5RhrI+Ld4r97NaV+Jdxw7bIkw7iDnAN6RAYUz43WquJUka+q6MqTPHE6bkrBuxJNBj1VJ2AyseGk/i+duFHhXm+1t+8egwQgskadJiwry+vUb+X7jQY/0SVdEIBzWyIntNBknnKYs2CbNag+WprUGC2HHjPfEjRdTwocLJ3gZte9SS12CfyQcx60b99RxcPy8rxW1Xkfi/OJt5G7wkecTTxKvBVazZkzmnDExPgKkOxrekDegMZ7noDR3tyKD537MyfcM/jG/qfVuIZoCMDkMOjDGVPR9QEg0ucTz4D5PJf+e26h5OYGJ5x1wRUDDTP4cuTMIAruRKUJgZOW9sGHDCEz2iUsrlHsqDJzZAhVWGYAJgEcI31jbMQFQd2cJSx+ARsA+8hNcGstVmHwGaWf3eOJcSw30tNlsSsjAygoLCYLT4yaBlhYQEobJWDb1GzNksSa8BM+CMzAzgHgRIoZXoAHtHDpS375Dmvly4UNAvaKBHzabTcUoARBb/8MESZYyoWzffMj4WqbsFy+dS5KlSKhpYZ/7KQ9ByRUImTtfZqlUvZCfe8w4QX/Eau23o2cVoE7bQMgLEITU+iUgyBdfphWsaepU6qti6plRZ70MAukzlhCKgcDcgAj+gZAb1+1TlmG0McB1+gLu+sd/PSPTJ6wUxhubJqwDhLAYTb0q/RSQppcXmC3PxmoRARolheM99LkKVQsKYwkAV6zYnzhmUWUaBVmE3uU+wwWXQ6zyAOX93OThEyXK5hZWS0XIgM5Zs3+uSpw9bZ2y9DUCkbQL4sslShxPHK3t1U0m/lSvW0zu3HqgYn0ytlE0whSCIfMN/c5oFQRzjSUkrkbMl6dPXDDdoqNlh6rStlNNIdwIlvbUWU8w7t6rdykXJujszBKSvLRp5iD9nTlnVooXP5b8cfqSr3iCKGTmTPd2CkJSx06txgvucmniV5aKxTqrlWHNqC9gQEAgJPX4IltapaD4JEY0u/dA1GiRpWK1QmpMYZ5iLCKvmYn5JmLECJIrT0YxggK042NH/lRhJZSrnpNK0UZ81uxV4IKTy24/xXcOjIBKwfETxlZjZOasaUTnUQAM0mdMIbe1/qwDleR1d+I7GsE2Yxux2WzvBUJS/6Xrhkr9pmXkyqWbpnoI0D6Zi3LnyySHfjqlXE2hFe1k8uxuSlnLsTEZQUjuB6DZveOwCv1hzOfJfSO9mWucKQYoP7j6JAsaAsLp7ZK6kJhPCDvAuAx/wdzOOa45pqXzN8uWDQfUOB5XA8eMc5BjXk8fE2YGxSGW9kcP/ynwPwBQVWoWERaTQemMEYJutYk17QqfEUoBvXnPZNl7ZLbyrON9zFQuUu9W2lxZvW5xSZIsgdy6cV/NOcgFjjQ78vPv8vDh35ryKII0b1tZGYWgbMbS3mfNHsfsph0zJsKPUCDjjpHvQ4EBCIzsw3WSbkWNWz9KJO7nvLsSYwNGPoQR8XYCngdUDvVxHON5hxET2squX2Yppe60CasCeox13YECFgDpQBDrMPgowED1ISBk+kwp5fWbN/L7qYvBUnmYGWInEgcHDQoaeD0Abw4HEBIGmpiQenw83BKYHAf0mOl21xVcC1dtHClHzy0TNH9ofRmIdSIl10AlQEUsqQApwkcIJzXrFxdioel5HLdd206Utk1HqwVyhvefL7wz1imO+Tx1DJNAvKtLF6/Ltat37MVAbyZiHdRjYnBkpCpVL6jihmHRBqNkv9mEHUC8eAliydRxK5XrG1YluuDqDBjDMgkGyWazKYCEKq5aul1gYtk3MyVP+anG4ISXTxPFlZSpE/sp2hGErF6nmKB1nr6gpxQsms1PfjNOIMi9z8ItuiUkTNPDB39r4MwM6dlxqseEWMAYGBeET50e7GPJ0a+bl3I7hBHTVwdEYHEFQt6980gOHzwtWCcDRgKK6M9Em5s7Y2NJHa+S5Pi8gYp7AzOlXw/MNqoGSCDw0e82rNsn0Mp4H5bfhYpl14Cl8wIzz7VCxb4UGDT2jYkx3siM4i7Mc9es2Gm3gDfm99Q+AlS6jCkkcZJ48u2irbJ9y0Fl4TB/5npfRToDIhkni5bM6bQv+LrZgwf0ScfHsyjL1n1TZPPeKcLql7QlFrPgXcnL3IOrUZaUtQXLNvot581IWHQAPj5+9ET27PzVaZGuQEjaH9/K6U0ePqkvOIOisFylfPLsH79KGPqbPpbHNFhCMtei5KP+Hq6m08czVwQEQuJ2fff2QwkTxiYoEHb9MlMQvnPkTi8H9h53+lwzTqKQBWBMkiy+csvX2zC0RHA9+dt50cG0WvVLyBatzfONWByIb2ZGHY1lMKY6CqjOXPUuX7iuwGoU7PRR+muvgY3l4YMnmmLyqPGRpuwb24jNZhOUQoz10NmxAvrYDb8K38p1XGtRAnON46Cm2g1LOQMQfT22Y486wgJPXTRetG6lPlI0VyvlOkmdGCf8AyEBHbFU9V69Sy2U4evBJhwY6c2c7gyENLtP0reIzw3ojwcXvLPuRUQ7wD05kTZPElMQGidPmVBc0RgSYgkGHxU9ehRJ8GkcTpmeSpXLI7UblJBVy7YLlvPIKSzQprdTwFTGZ+SAb1qMU+E9aBfM7fC4tKPIUSMJ4TIY3816AXhA+CnojpFKjJjRpFT53MpTzlkddm0/LNAbRTX5o2h1RrZEwae/q7P73H2OMF6/nl0qZ26sVWMxY7KxDOpi5PsAIc20okZhwgIxDx/8bazWe+07jvG0kxr1SsjhQ6fUwpDv9TArs6KABUAqMlg/IYUCDFTvA0ICMlWokl+u/XVbiBth5nsgVI2c2E4QOpgIGKAon8kXYQpQjOMcDiAkoAAuCW0ajxTi4lUp2VUQDsnrroQWDfdeymYSQ/OH293w8W3tDB5gKYs/oB3u19VLgS1YHTB5+AdCEq+IwL1zpq9zO2ga0PsDgjE5lyybWxasGGCfmLHYOP7rWcH6C2s3hBRcQmkfPBPG9vyZqxrTOUFgOjhnZiLG580bd33F0QL4NbrQGq3zaE/Vy/YUYkEBEjepOUiIlWpmnfWysHBgIRNinFSpWVg/7Wu7bfNBDbSbKTCpWMcm10DLU5qQiHWkr4wePqhZr7jdOu34r2fspflHaz0TNKe+WKLgJqefd/cWF94mLSsqtxncwWA6SV1615doGthnLI/A3AGBkLStc2evSrUy3dU3MN4f1H36GgIpgmnYcGEEQCCqQx2JoVO+SCepWLSzdGo1XhBKYYYrVS/sEoQcO2yJsvjBXQuQBMEsqHUN7P0IHlPmdBesHSJGiiDHjpyRlg2Gq8T84+w5jkBkfE2ZkDt/JmdZTTkH3RCSWBF4ypxusu/oHBk0qqWwMj60pxI2m01y5c0ozAUcf3j68DsRbgFBO/eqq+KOJtIE2Z4DGgmKMa45Ppl5E3AAYRAhccKMzrL31zkydmpH0wFfAHQWkOFb0+YJUULfpa861hshdY7BEhIrFN47fcaUjllNPaZf0b9oL84AD3gWAHiu024Yt/lGP+4+LjOnrDG1rsbCsHKlX3Luiy8/k5WaInXusn6CxTTAxtSxK7mkvEf6DGkmuD7zjfhWfDMWu1AZTPyBlgGBkAvnbJRffjotADnwZfRXwIN5M7zFTCsrI1mMbcRmswUIQgLmENsZ/pVxn3nT+LwP3Qesx/J50qyudh7V8VkI/UU15c+RQ7/bFWHQHbqySBF0pS04ewbWeLQlxhfGGcdnm3VspHdw98kuferLd1vGSPXaRYX2yLgL7zxkbGvBO0rRdvYGaVxzoAJ6sQYkD3OPKxASWebypZvy+PFTuXn9rllk9VUOsRE5sXvHETYqHT50Wggj9eD+3zJm6GJBDuPCnh+O2EHK+TN9hAX8MBKpWLST6Tz3Z+mTCfIV4wjeZSiGipf+SsZM/cYu61BnY4JHRD5ATkBeqFKqu+D2bszjyX3mSWI+IgeHCx9WjcX9hjX3w3fAWxlBSEDBpeuGmmJFHTdeTOWqHjduzPcmBQoPwjsw9tAf+DbIFvSD4B5L3vtlQtgNFgAZwj6IVR1RrnqOICRuqrh7GOmDIEmsyChRIyuLPAYH43VP7iPUGc3kiYNoLM8/EJJ6k2CynZnVG5/zIfswciwwcEwDYMYMWaQxvKcEy0CeleazpFK1VlF2fSUdQKLegQEhfd1s4gGrhyMs2Ww2iZcgtgC+EEsxVZpEsv673cpqbf2aPep90eYiwGKN171vA4miASf7dplnZYAFqr7gTLnK+QXXVcc26h8w9mXOz5UQ2L/7DNNc9/iUAANzlvYVGFCOYYTu33usXMdq1C0mOqjLNWOiLd+5dV8ealrGP05dkkG9ZpkKULtj4Rb6AfH0EBKM7+bOfdrg/JnrBVdYmDYWUsJq5/LF6wKDBqNmLA8G0whC4g6F8oM8jH+4liC84i7p2L7I86EJgV4HH202m4qzW7JsbgHY55r+XMpk3OAYYXRQr9kBgpC582cmuwpm70laq0IMP7RtlDAIqQh/iZPGE2KuGrL4u6sDkbixf7twq795PXlxx9ZDyg31y5zppHyVAsJYZ7PZVH/zWbNXre44vP881cZoH4Qk8GR9nD2bNoL1DEJUtdLdpVGNgYJSgrwIsLRj9h0T4ACMPQw+QjFtq1OrcaYCNIxxBYpkU+2YOfTQ/pNqTqG/dtWEdlcg5Fyv9YICTOsssm+3+1fxdKRVYI7pX/6BkCgvhU80AAAQAElEQVTkUEbSd7FuGzVogRDfkn4dmOd7Ig9lD9LmD8ZKLCFpB4DpceLEEOZMvC5QkmJBhnIVqx+Eb+Yg6oPlPYAT+2Ym6o2A6gMP8uq1EsaNlpBcb9lwuHhN+k5ZXflofZUYqDoYYmZdjWUZ24jN5j8IyX3EdoZ/5X04DmqiPzVoWlYiaQohxgZnACJlpEqbWAFl8HxT53bnlEoVqxbU+up12b/nrdUuzwC0YbwnA8csaETbYXzhXHAmI72Zh2jHxKjT62RGn0ROaPx1eQV45c/2tWRMVlPKFGivlOQRwoeTLr3qS46v0gs8EaAi3xr+RI+lDk2dgZCM+598ElWuXLwhen/U38usbYrUiSRM2LD24qgTfEuhYtll3PAlAn25iBw2ekoHKVoyh1pFmri9xOkdN3ypkkPJ4+6UO19mwcoct2P92bRTPBb+PH1ZurefrOoHreGjUQzBd9GeeQ/9HuOW8bC/JicQ15X50njNk/v6PMkieIx7hP6hnVBPQiAhJxvLh7flvZhnUBZw7eL5a2rBQq5x7MnEgj2V3jMsFDGH4RHho6hbztwZhHBl8CghYSyhTqE1WQBkIL6clcV8CjAYGUFI3FT7Dm0mWBUguHgt7CULVw2SFKk/lcXzNqkB26xawiwFxkz+xrU7wgBltIT03jFeBcxGaPREfWEq6jcpo1x1WeBn+sTVUqNcT/HWwDkEOjRUTM7OyobR6N99plNLyPpNywguoM7u8+Q5Jma0T2dvrtU0taPln6fPZPSQhSqu38TRyxTTUKlaIXnx4qVs33JIVQU3cZ+1e4W4bgiMSZMnFL4Brgoqgwk/tBHjgjOp0iQW3E2x0HMsHqbYaAnJYiK4ktHOiQfkmN+Tx9AbpjJT1jT2YtD2EWsGhgHtOKAXjJs9w7ud4qVzSZSokTTgcbYgZNGH313y+AZ6u2PhFo9X9F0BWB1Pm7BSAURRokRSFjG4IbuiGQyxDkIicAO2/nl9jbRoX0VZf3+/8eC7J7tvM2ZKByVAA16wOAtAAMwwrpow8zCZzkoDyBgUAAh5++Z9Ga8JAghizp7hqXMIerHjxlDCBe+DsqVlh2pC+3mfMukT75M/KHn1PmkcO7y0cZ3Yuzeu31WgI5bHuIsVz9NWxcalfoCljOmAYeHD/V8YC0pd9HtpfygpGA/0c45bYiOnz5hCWaUjwGJpwiIbOkiQLOWnjrfYj9eu3CV3bj9QbvnftBirvpf9ogk7ALvE0UJYYg6tVaGXGC0cXYGQf56+JNyH5Q38C8KYCdVV1jHM0b0HN5Us2dL6KZJ+Rj9GeecM8ODbNKk1SPDGoN34eYCHTiCME/8V1z1CxUzw6qwWXaM4xsKG1QdIukTVJVXcSkL8WuK5EfsUC8c6DUoJ/feiJsAitCN8t6g/THmTYCWZwIPun62+qSaHTi8UFrcg/fLHYkGJRL355gjjPv6AkGM0xTCuobQR+gb3BXcythGbzebHEpK+DiDl7nri7tu2Uw15qCku8bbg+YBbzkBI2i+r1IbVxjMAARQrAM0Zs6QSwo/Ad+jjC/1g6rweQoxhLMXLV8kvuts+ZZiRADtwbx7v1UkGj24lADZ6uUZ6m90nqQehcuCZGeOQVagXfY5wUGULdxSUPr8cPM1pe6Jtk//7TT8J8gTfCX6ROUrP1LpjdSHckPd3e/RTpmzhR2ijemGxY38ihYp9qcZG+JVCDuAj+cKFD6fizOqxnznnmNx93L5bLYFulasXEkBIaEdbT5chhaa8+tdeHOMCcZsDC0LabzRxh3nyn6fPZWCPmUoGR/YaMXCB0E/5Hq5ASE9ZUbt69b8u3xS8uOhnFTSFrat8zs7jXfnvv68kear/8ysA2Mj2zvJb5wJPAQuADDytrJwmU4DJEAaNgPmAHzCbX+XLJDB/rLz3+vVrZUGD+5OZVcNMHu0vbshYh2HhUbz0V07N5JnYGagAwKgjmsXN6/cL93LszgT42LBZOVm6YIum5Vvq69EAi0xo0JHVT31dNBwgsJKXekPveo1Ky/7j8wQw7NWrV4ac5uxi2o/bDAwnTEL9ZmUVE9mszmDBzQBG6ovsnwnuNzBHeq0eEWvshyPCoj/TJ6yS7h0m65c8vmXiNS44c/bPKwLdiUFidLM2VsQIQnI/TDaM4H4T43DBCMFMUk/qA331OuKSAiPEMdZjuPcTc45jEoBk62+qa2DIM4E5vaxpvzlvVoKpYLwI6sItZtWXcv5+/I+8fPlKAeV8c1yw/QPCACEBnWjr3I8yATfFPl2me8Q6bHCfuVI4R0sVBmBo37l2AOZDQcjZS/vKBA1g2Lhrohzcf0JZrfMeZibeiZhhWLl6TfxOa6//qEU4UK74R3sz62gsi3aBFSHCMwH1jXWcM32dsGJ3puS15KsMjZT1N+O28X4UAgB57hxHqANgf9FSOZWLvVHoM5adLWc6iRo9suD+pJ9njIZ5928OIi/jJ0CT2eAj77Zp9yQh3MTpExcVmEV9SIyJuqIIxZYzELJoyZzqHvgW3pX7PJ0A8VDSAXAg8LEy8Nxl/YS2YyzbEfDo3KuedOvXUBDOceM35jVjn7l7woxOgiseYxlWjpVqFJIZC3saXXDtVUF4xOPBZ+cEtWgb8dqYk7BYQulBRmgOT4ZbMzwA59ydCLsDYHbx3DUFkL/UhFMU5Lh+z/22v6I79XAEIbFggp8hD/e7u17ueJ6xjdhsNgVCLlg5ULUTnx/GS4dutd1RjK9nPH70VFBwFfzyaylTsIPs3HZYzYmANAAz8CX6DcR2Xrpgq1y6cEOWL94mHFetXVTTsdhUCCbobgQhP0uXTIprilG+FaFC9Od4ekufpJ1OmNFZatUvIVVqFhH4pTlav8SIAn6JOhjpTfs2q08WKZlDWZvq/Ya6GBPziCP4qF+Hxo4g5OI1Q4T5Hcu++k3KyDJNBmGc1+/x9JY5aNaSPsKin5TFGBAmbBgpXzm/EGvVGfhIPizyeR/2zUpTxqwQZAJkGkBIwkvETxhbRg9eKI6W0MhsrkBIgHvGfMdx3oz3YJ7c+uNUyZgltfz5+2Vflq58d+Ls+wdCUkd3W1HzTFfp91OX5N7dR2qcyJU3k3L7dpXX2XnmmnjxY6lL9JlpmkypDqyfIFEgTJDutm62KOBhCgAqNK0zRLkFsCgHkwVbrD1KF+ggWBJ5uAp+Hj+g+0wFIMLQMBHDBCOUuzKTZzLHggymeN3q3YKWyM9Dg3gC8BG362iawFekeHY/DDx0Y1JGW8WEgfsSDBIMw/wVAwR3Yb0KRhCSSRJACkYJAETPY9YWLfahAycEF+BHD/8WXBSMZXMdd49kyRPYV8tkQs6QMaWwGjkWFFhG8P7G+zy5D8MbJ14MGTNksVpwpkSetspKF4srBBVXIOR3y3fIjWv3hPaN8MJE58l6Gp/dvE1l+Xb9cKWZJUD+wBEtpN+w5vYs9EOCzWNtwkkYPmLOnfprlRD8n5hunyaOqxb0MJPW1IVUu2JvYTV0dyzcwvM8nfIXzioIoZcvXhfdshEBJCAgDNCJxWQA4D0VP1Z/d8atJ3//ox8Kip45073VIgqMd+9rCUm/ALRatWyHEtztDzZxx/hOk0Z/K1h70V4DQ3sTq2kvavDoloK7us1mU7GGnYFeZKY/Mu6xrydc+rBQcKfVD6BRu841FGhrs9mEYPLEgKJ8vVx9GzFieGWhVqlGYV/zEYvQ3L//WK5cuqlnVduimlCMoM6YPkQDvLE6ZNxRF034QaiCvixqV7F6IQ0Eee2nVFcgJIAC9wOYMgbRpvzc7IETfHNCOADS/PPPcyHUCnM2AAPhE7huLJZ5XLeExJK6TcfqavGZw4d+N2YzZZ9vHSNWdLXQAwoOQkhQMN8fsI534lhPW30OCPPP69dvFD8ACMW7IKTredimSp1Izp/5S3a884jgnLsSfaqYBmjBC2HNy2JO/bq9jZ/NmJg+YwrRvRZoA8zjPu8sIQFPB45sISx85U6FgLveTX+OsY3YbDbB6rH1N9UU0NC9wxQ9m9u2uI8CQPJAaAZ4v3vHEa3/vVH8iCMIiTK0cI4WwvhNv8udL5MQmocwJPozTp24oOYYeCmUkijpeDbXPZ0YI0dMbCvP/nkhTWsPFjyRfNbsVcou2ghGFOO9Ogn5qIuR3mb1yZSpEkn48OG08Tk8VXCaiJuO5ejuw7PkwG/z1MIz0JvM0BLZB2UzlpAJNACtQJGsyhuDxf/4NuQzIzH3MAflyJVeLYRHmb/8dEqQF7gGrzVj8neydP5mLvlK8CR4RDx58n8+x1cGDxzQ3vt1nWEHIT+JEU1+3H3MD/ioF834ZgQhMb7Ztn+aAlajRI2k2pWe14wt8xzzJOA+bRjLZcdyobUzEJL2g6waNVpkx1s8enz81zOCDI4hCH0M3pu6B6ZQrHnDhAmj2nZg8lt5Ak8BC4AMPK2snMFEAYRGFuDIn7W5YO3B1pMr1L7PazpODs5AyHQaU1qqXB5BEHxv8DEQlWFAB3zEYtFmszll2nhMVG2ywoUJ9zksJTNp2ivqxkCMuzATC/lIgJA/7TshgKYAJDDcnHdXiqpNQNMX9JTtP023M2LGZyOAAGpxDovRL9PWk2xp6vlhIgD1Xr95IwTOBxDDTRGN5+cZUsjpkxe43bSEwIQFYbIUCYW4IauWbbeXDWgNYE19XYGQNTVNOTcgtOzafphdUxLtp2WHqmqCxmKUOsaIGU3qNSktXNMrQZ3qVOorWEZitWCz2SRy5IjK7frOnYcyZugiP99Hv9fMLW2VNkvbdQUsIQx6auEW/96VNoK1EgsoPX36TKaOWykjBi54LxCS56M9Dg4h9kNAyImjvhWY1EcPnyiLdQQu3iEkJAQlVyAkYxTjY3DVEwEQhn3ssMUKpKFfxtQAG5j/ek3K+KoWK5f+/PsiWf/DeMGaDcVSt74NVHwvr4mrfeX90APGNSygzp+7JoxRuoWMKxDy5PHzgnUYgorXwl52JVdrDfSCtutW7VRVYf7ZcdBLsA5CMMeCr9/QZuqaWT/UAWAV+lJmmDAauFogi7K049iYHEFIfcGZoiVzKus3Y15P71etVUSSJEsgS+ZtloxJawrhVhC2KJeFo1yBkPNmrFeKhODsk5+nTy7wRPByAFDVy/YQo/ssPADjJe9CYrwr9lVrSR2vkhw5dFqu/nVLtW+u6QmAkBWSPeX+WaBINjWWGef23T/8KvQJFJ69O08T6qnXB6CGvsK8yjmU1YAJ8I0ch9TEGI2VD3MUQjsePHjywIt7us7QLCAQUq9DrrwZJU68mJIkaXxfi1Qxvx8/elaQFZrXG2pqCAfCM714/q/07jRV4JloD7wPC7RdunBdVZ0FtrB2jKrxwZyA3mb2SebjyFEiCsohQDrqQGK/18DGQniB4ePbCO2dcZ/zxN3EyhEem7x8JyMIifyRKEk8uX71NpdNSdQL8DHnVxlUefoifj4a4PvD9z8L4GikSBGkRbsqWpOD4AAAEABJREFUfqzemFvx2nmmKW4AqdUDTPq5e+eBECuY+jHXlKucX3gPV8UzXjBuMH7YbDaJnyCW4IXnCXnSVR04r8+TgKYcU3fO6W2Cc3pyBCFZzGXVplGSPmNKPYupW4yWbly7q8qk3WD5T93VCX9+sDTVSK7CffmTzTOXPvKnhvnI3896PYsCQaZA7nyZVfwWYrkAJDo+0Dg5oOE0gpDcGz9BbGnZYLhHLB8ZHMtWzCsb1u5Twdlv3rinzMwRnI2aYwZa4uVQv+WLv5ceHSYr5h2hlvdB8GrZvqrdipDn5sidQQEjADrkcVeC6UK4gE4wiqx8SP305xMXpUqNwpL9q/QaU5lI0yQ/1y/52RL77sLZq+qdceUiNlSxUjnl6OE/hFXh/NzgoRMISrwTrpLtOteU589e+NFM+gdCYvUBUFO7Ym/FtHqomn4eC1NZrXZRma8JpMTPwmIUgZB2BENZvFQuX/fcuHZHOrUeL1lS1has8HB/wxIvd8bGSgj2ldmDB1jsYrkL0EKasaiXGPsmbdYIQhJCwIyFWwJ6ZVzw9JACKVMnlgJFs6lbHOvraAlJn5ng1dkpIKIeYOLP+4KQadMlk+eaQIa1EoKWWVVFwFiyZoj8fm21XLi7XqWTl1cKig/6q14PRxCSttJnSFNhxV0C1MOs6nnN3BKztmiu1jJj0nfKvVq3PmWsdgQhe3Waplx/M2lKJSy0/n78VOibjDnuqvPlizeE2E1Y9CBcsHAJwATPdwZCTh2/UrnaA2Awzi9YOUCwmK6vgacA7wiJLHQFeEqMXJ6D0gDXOeYGBBbOmZV8tDk0T+amyqvi+fMX4kpRRH0AIRfN3qiESG3yMX3BGcYD5vOkyRMKoAbW6dQLXgShNCAQMkLE8IISyew+Sb1xQWbBhdevXwsgAfUmAWgY3WeZE5lTjX2VfPAKhF2JESOaL8AX8BFF2ncrdnpMEQa4SR30xNgAcIBFGeAjgBPX4J/gRXgHjqE34EEvDZTiG3EupKeb1+8KQBp93CzwUacJbQHQzj9LSPJGjBhBwmjoACB8t34NVHsgRjXxIS+cu0qWIKX3vblspXwqpMBvx875AT23bT4oLDikW/qmy5BC4Ln1MiKY2CcJa/Xixb/Kgn3TrokCL4Xy6odDXtJCkwPixY+lDWs2vWr2LWMiCiS9T/KdjCAkcgdKeP06wBQ0sT/AzTuPHz1RYZbKFf5GbQFM4asohlBS+/ccU+GPqPfAES3U4i8YKMAvEqaCuH7EGzbT0p66EVYlfsLYMm74EsFKF7msUvXCAYKQO7f9ooxC1nnIk466BZTWrdqt+P+Zk9dofJ3/8yR8AoYJzDWArfRn+jXtJqBy3H0dRcDKpdtUnXk2C/eNn95JCOnGsbPEWILXDhaq+tjuLJ917sMoYAGQH0Y3667/CAW69Kkvc5b1VfFbiOUybV53Fccs6jvNpU4GmEqYS5hMJhPdTJ64JEzAnmKGYGoQUhE6mBD6dX3rDmSz2eyWkOU07Rog341rd6SOBnAN6zdPmfu3ajhCCVtouXkPTM3RKLPPcwGjxg1fyqHbEnRDqChWMqcCFik7ecpPhfoRTByLO0A83MhsNptiKOs2Lu3Lhc9YGeg6uPcc+e3oWaXtxA3NW5ucWzceaczm0X3eCYYCYcNmswmMJHESEa4dCwYQMFpC6gvOwLRlyJxK+EaO93jyOH/hbBI9ehQhTpxeDhaOC2dvUIwOYIB+3nGLFd7alTt9WXw45vHEMRa8Mxf3FgRRGF4S4CN9E0YaoZByabs6CInbBfd5euEWyvUv0UZchRQw1hfLTYAwBGraF9raQsW+1Jinf/17vGnX3geEDI4FZwAAps3rIYmTxlOAPjGXcE+NEjWSlKmQV4hrRh6dYEYQkrZCSILw4cIJ/dXMPsm3Znys37SMXjX71kjzmLGiixGEpI4oEHZuOyxXNKCwS9uJSsFkv9kDO5QJMAFAweMdQUiEDAAlwEZWvTx88LSc+f2yWiwMwQQrzgHDvxb6K3knjV4uhBdg/LaFsUnu/Jl5rClp1/bDMrz/PDX+Ai7qYC+Cq6uQGSd/O++RBWcYI1AMQRdnL08bYTxYqoHrKNsIrQL99LwI04AC/oGQnyaKI9PGr5IFs3z02zy+pd5eC3pKkRLZhbme0C5YYBoL5j1oM84sIYlvyZxKHw4XLqzibwATADkAFBjfd2vfkX5ifKa79wk1UqNucdVunYGPlEcdCxbJKqnTJlEu2QAl8IfwiVwP6QkACXAMV2b6OH3d7DrTFgArAC1ev36jvrdRqU59sCxFWQrPzbhOOBjmTJQlWAWTx8yU5rOkEiVKJIkRM5rTYumbKAugZ/gI4SRvwS/s+czskwvnbJRffjqtyqYfwktl/iKN8mjhJEqj27fuy5zp66RS8S7SseU4FW8TEClJ0gRStVZRsqnEd2K80d2x4cfmLR8ga78fq2LHY4ChMnrgh7JR0EHXVct2CF5ejAcUxTXkgJVL3oJOyBTUjYWB4BfhbSeOWiaTxywnuympbacaim8dpwGP0NRr4mrlTRAYEJK6o1zcuG6fR4xZAkMA5knaL7QN7Dx59/ZDTZZ4rmK00p+5NzBleSLPxFHfam3aW+OjX6jH0/ZR9m87ME0AG5l7macwyljhM0LwLLx0/rqwjoC6wfpxKwXCuPVp1sMsCnxEFAAMq9uwlGzbdFAtmHD3zkNhEqtQraAgADBQGV8X5hImExDSZntrJs+k7IkFZ4zlGvcBDtH8weDYbG9BSCyncLmASWCiNubHAuL7jT+peDthw4TRJvDI9suAe/YDN+xAL4Tr7LnSy5C+cwR3etzG6lbqK6s15uHYr2fkwb3HMmLAAsmTuakd2GJS4D6YYmfVIKZKxWKdJU38ypIhSQ3B1cXMSU7FfLKJMDFj5o/1TNx4MdWEhsDkWGdADR2EjKoB2Sw4M7DnTMXgOeb19HFiDaBBWMLiyFjWFp8DcvP6XftEbbwWnPsI5vWbltXaySNl5TJ/po+cOH5OAJfom4B0xkUMxg1fKmYu3OKKNrTfwIQUoL5G0BQQ8pc/FkvFaoXUewLOuCrD7PMI+nOmv2XmwoYNo2LJGcdFQDSUL4DZtHez6sc40WtQYzl/9qqUL9JJULQQhxVhBGsx6pEoSTwhviKCF8ckQMh1q3apsZAxnLGcMZ1rZiTGgpmLegvMb7e+DQWLLsdyjTQ3gpDcW6VmYenVcao0qjlILmsgpOO9njhmngGg8A+EJAZvlZJdlXswQl+Or9ILirleAxuruJYP7j+WscOWqJhujNuTx6wQVq2MGDGCJ6ocqGca6ewKhCxcLLsQV8qdQhXCM3HXUEjN0pQsfFfHCtNuib8aXgMwUqVJLLFif+KYRZjnme+NICQWvdB9/Y7xMmvqWlPBRypIvQEe37wRZV2FlVWTlhWVklEM/2gDRhASi/Hv90+Tlh2qSYTw4ZQge/L4eQmjgdTEcMPSMG+BL2SBpjTrqbV/w6OCvFulZhGhnTKm8DDGjygawFSnYUmZPKuLOFo+kocEr/jkyTN2FR/DGGTmWKIKDuIPQAd9mz4exEcF+vbh49sKFus/nVygrP1pC/Sv3Tucx4SEpsSEBCyjEIAzlB0s4Me9nHNXqlW/hGzZO0XO3lwr5+94C3VEUWV8fjgNGLfZbJI+Ywq7N5HxOvuAOBs0EInwFAkSxhb4W85jsW6WQgDadG03SfUleCfKJwEwMnaMGDBfcqVvJBgrMIbAdzSpPVjlDxsujKT5PCnZ7YnnMd4g7/CMJMniC2PTlHErxRPvxLyt90m9Els3HpBDB05JibJfScrUidVp6sWYUKdiHxXG5ITGK9I+4ElqlO2hDDBURhN+8hfOqtzA8aTD8nLfrqOqVNoDYRr8AyG/6V5HaH+e8qRTFXHxU6pcHqHO4706aYBcZV/jdWDmydKawve3X88K/Zjv4aIY005T57FDl4i+EJ7NZhMUBy07VBXv7eMEJQZeeDnzZFBxb7Fsp0+YVsH/UEEWABmSP7ZVN49SgBXEGNidFZK3QBapUKWALNe0Z51ajxdARKwMCYKuC9sw1I73whDtDGYzeUcQMlz4sBIhQnhx9Y8JkInh35cvxWgJ5yr/h5xHkAKEyfrlZzJi4Hxf7roAiMQbog5zpq8TmAOYXix6nFlCfEj5nrgHcJHYZVgxrv52h2JmYHYWzNyggDuYS7Rq5HMsf8ncTRJcC84Y63L1ym11iEszq3uqA+2HuG20mZ3f/6IdiWI6+g5tJgdPLVQTNIy4s/dSmT34k79wNrl1455a3AembXDv2VJBA5kG9polCH02m00x9MZ+TZvCsgqXcdzFAUPopx6spq9Hw8xUqVE4UCEFuNEIQtpsNhUo/o9TF2VInzlcDlEJZm6OAwgJgEL76NqngVNwJKgvgOCBdhoLR2fPws09ZszosmzhFl9hEBgXcYH7+cBJeaOhIAk+jSO4A+vPYIxKkSqR/Hn6kpgNPlIH5hN9wRksYDv1rCuBASGJQUj8x7qNSkuMmFG1ceUOjzMtMVYDVLgCIY0VuXXjvmDxjvUp9MYCDvDRKKTeunlPXr58pVyLjfe6c7/fsOby69mlcubGWgUq1NLABcfnG9u2EYTEtb9h83LSt5uXEF+Oecvx3g89xuqRuLrcHy9BLGU9x76eiC9XSAM+T504LwC3nC9U7EunrnsITYACAAjky5QltXyVN5OsWbFTdDdQzpuVrly6KV3bT1KLhf1x6pLAR1F3wFbagrEe0BQQUm9TjO36KrFcAzzBsglAAeVGtdLdlKLJ+Iyg7hMCYMTEtsoldeGqQcpqE8CZMAGfpU8uaT5PJsP6zxP4J8eysmRNI9GiR1F8gOO10HBM24Eno2+bVV8s01BYoXiAd2qg9THK5nsDXrgCIVk5uEjOVtKm8UjxxPxO25zg1VlYYRnPlrDvQEbq2LVvfV9xsrFGpn2g4GrWuhLVd5rgq+7ceSDhNDAvYqQITvN4+iTftkmtQVK1dHcVrgOLvDIF2kvJvG3V4myO5fMdWCjx4YO/HS+pY64z3iAjMa5j3GAc11UmN/zUaVRKps7tLiyiiccLYa70x+KRg4KgZr3i+im1hd+DN4dXhP9jTQHauLpowg+LT6H8iRErusTSEpb/xrmdMQR+9uqVW2pcxB17+oKeiu8mX+MW5dWiQe42CvHv1Wn3uKlPm9ddgZ8oYwhNs/3ANDHy/q7mSb5L78FNBQCvWd0hvngx/8o149ocTc4sW7ij4O1Fe4Yf1Mtln/mGmKzEVKbt6NesrXspEMa9j7OeZlEg9FAge6500rpjNWWp5ljrUhXyCJZhvxsWMmGSOH/2msBgwDwzSeCCY7w3JJjJUx+E7f7dZyph1GazOXVfIR/p339fyqtXr7S8d2XvzrdaOc67KzGR6eDj6KGL1KBvfLbXwl6CpZfxHPswNAghIRGERMPavkstpeWFKWWfc9Qb14SAQGmGwFoAABAASURBVMia7wRemA7aFfcFR9q8/kch1hPWNNRp588zZMaiXgLYePTInzJzyhrFBPH9GreooIJf8z1554EjWigrBTPqDWAxb3l/IQYXQf8dmUfcrXp1nKq14TvKuiZ/4ayCQGOsGy7jxIExnvP0fte+DeR9Qgro9QGERNuNcI0La9M6Q5RVk349JG2NDCjjIisv46Y4ZuhiWTp/s1urmvbzpEoQTJU2saz/bo/TZ6fLmFL+1QAshCDHDLQbVkQFALHZbAoURujV89HmYZjNZjoZO+LEjalcfWCOGfsCAiH1sTqsJhA/vP9YRg9ZFGxt5Ma1OxIYEBJrJeYmrFAAgndsPeSnjeDeyrvv+eGI/lncumXOViC1JgiinGMs66cBkkalhV6gsW0DQmKhtXz9cCmkgYB6HnduWYwFt1KEop8PnFLWc8bnMx5g1VuxaGdl6X/x/DW7wMp7GfOyT3sH4L1964HQHzwFClBWQAn3NwQ++lb75qMVCMp4UUgDUF2BkNABYVAHH/UyaG86oIBymPfUr7lri7ujpqdQj+Pb58idQRbN2SiEEkBIjRU7urDQE3OTyvTuh+MGzcoKgCug2bvT1iYACnyp8eP37z1S7QLrQMZo/RbGQ1cgJAoBDAZYlMPd8zu8Dlb9yAPwHUP7zhX4CLxcqBtgacWqBe3Wjtu3HBL6pM1mk+Jlcsmg0S3J5idRT+Li3bnzMFg8X4wVQkEBcIeVY0D96PnzfzVQ/V+5cO6a8RH2/dYdq0v0T6J6dLE5FsdkkUdojyXkkjWDlbs3lnrw0j//dEo4z5xqr1gw7tAG8GCZPmG14KH15Wf1Zcm8TfLgwWNftaLuyAM6CElIgcN/Lla8+D9Pn6sFu3zd4MED2v3MRb0l9WdJZZCm5AecZtxm3ENJ5sj7O5snF64aqEJQeLCaQXr0DY1nwbgoa+q6UrlEVwXCY4XMPgYL9HXGnSAVYt3sLwUsANJf8lgXPzYKMHiizTx+YbkQc49JrHHL8n4YBeKWxI0XUxA4dDcLAI3UmuCLSydMBsxzpWqFBAsn6ITGh5UdAQ6wluRccCYEvcCAkDBw4cOHE581ezTGwr2Bu5nIAK+Kl8qlMW4/+wEfoQ8WLw2/LucUCGYCcAVCsqjI4u8Gq1hMPMfMVKBIVgXMIWRQLovOsNWTfyAkLje4thTO0cKp9YT+DDO2MD2jNOACzSpxlpImSyD5Cn4hly/dELTZiRLHlfka8EdMU1zeAA4QYi9fvCExYkaTitULebyaMJNYhxUpkUMx+qxa6KxQ2vvMKWuFuKIwwQg0zvKZee5DQgro9QOAQbjGhRVmST8fErcwoIRRoA0BdACGBRF89POaOvgIEICghMuVn0zaCcCrGDGjSpasabQjv3/cO33iKsGCLGrUyJI+U0qVibGG94DRVifc9JMzT0Y1Vvj3OPpf45oDhW/N2DB72jplMcC7uLKERCihzV/767ZMHb9K6Mv+leHpa7TRgEBIaItlO5YxKVInEgRJY72Yi6rXKaYpwn71yCJijCUFimRT7vkIe98t/0HRmXmKGIOuQMi5Xus9uuAM5dd/F/cTq0qEIgAXaMM1eA+2tFHozHm+96BesxXgoXiR6oWdWkJiVUt+xm3ozr4ZCVrv/XWOLF031M8cTR/k/bDEpO7OQEiAPFycHcFHT9c9XcYUQtlRokRScTIBi9ZrvBHgMPQf1GuWAskQxrHmnTK3m6zZOkbGe3USLLImzOgsESNFlFVLt6m25en6hvbnEwt2649ThdiCJ46dkzIFO0jahFXEkYeG9rQZQF3mGcbt9T9MkGXew5SFlrvpQH8DfGS8YEzGg4I2wHbkwIXCPEeZWEKSh33qiJKAaxEjRpA6DUoJIQJ4Ftf1RH+OGSuaYAmpnwsN2/KV88vrV69l17ZfnFbXjHjPzJXfb/pJ8XkstoYCLmv2z8RrYU+hHXE9+idRpErNwk7raOZJxsASpb8SLEdRvlE2bQQFM8oYjo2JMZ15CRCS87Qh4sdOm7DKjzKK655KdRuVEhRzc73WqXkYcJoF6JYt2KIWpkL+ZS43lg/v5Ol50lieO/d1EB4gnn13Ptt6lmsKhHF9ybpiUeDjogCTwbfeQwXNNpMUgz1ASrhw4RQDg6ZKf+PrV+8IsUwia0xooiTx1Glcss/9+ZdgoTJIY/yZJJj8KlcvJFiOMQHWqFfc7SCeKvwDfxBQ/QMhYf6q1S6mFizAQuH/xQR9D6YL8JH4guEjhJPqdYs5BRn3/PCrIEwDBOOy7FgyE7YRhCQm1IadE6Vl+yryy8HTyurN8R5PHQOCTJvXQzJooMWVSzelZvleyvUHCzXalLFcRxBy6JjWyoV5ypxuyp3LmNfT+4DoxCw6e3OtIBQaV36DEWIhI2JopklQRVjBEcsT3LAB1wF8YPh3bjss9av2k8ljlsvw/vOVyzNAvSfrDr2xjkVxQDmRIkUQ4kDSlzl2TAjYaMgBSxMlfttvHfOYecxYEVpCCgSVLjFjRReYZU+DjzabTWibWDw4q7Mu/JWvUsAeC8oxn8+avXLk5z+EcSle/FiOl912jLvY/OX95cdjc4WxkPYcmIcTj9I/EJLnkBDY833RTNwN9rqqI/0Qa7VTf62SC3fXy9lb62Trvimiu2QBjgUEQvJsXIHjxoupLFCZJzgH6AOIAzDMnMU5dyesc5lrBvaYqWgGyDFi4AIFJlAPVyDkiaNnlcUK4AcgCHOSu+pGuV4LesqgUa0EqxOO9WezDwgyZso3wpZj/RpbeBh4EQRCgDxnXhlmgALUxZhom4zbxIJzXJxIz+cfCIn7c9TokRUYhYutfo87ttSNvojC2PF5tMH5Wn8lHAmKriOHTku9yn2VMk7/5tSb+Z62QPw8QAKA8yo1iwjzEmPg4D6zxd31dqzrx3AM/9m1T301nkM7LOz8ey++Af0PK2F4EhTneMh803Kcf7e99zX6Gf0N3pV4qY7jK3zGkvmblVIiQsTwossIFETexfM2yfPnL9T8UkPje9dtGyt4kPBc5q12XWrKn6cvy8wpa7glxCQW5OC9GecdKwVvXrRkTlnjz8KD8DoAsI73BuWYuhDWhblBf87albvk6pXbAhA5feJqQV7jGnxBh261JUHCOMK3C24rSIwNIkeJqKyhqZ+emGcAS+HHiSe646CXUnpwnTG9etmewvy/eO4mad1opJqruGZWypU3kwqDgryrl0n/zFfoCzl98oIaDxkH9Wv61pPzpF6GtTWDAuaUYQGQ5tDZKiWYKcDgiTUjzHi10t3Uym7EPymUvYUQN+bwod8FxgAGlKqOG75EWFBk9bLtwj6gR+ZsaYWVL7m+a/thQVOlVuALF1aIHYYr8+I5m7gcopIzEHLOsn6ycsMIIabHzm0/K/c5d1YaRgsmv3ipXIoRw1ogYsQI4gxkjKUBFxE1Js7VdeoF4wkIqceEgtZzpnsLgjrXzUi64FKmYl5Nu1pEnj75R4GfuP7cuHbHaRWMICQ0YcEZAqRjVeH0Bg+cxA24a9/6GlMWWwDMEQo796wnCFnOikN7XKZCXmXVAQMFo++zZo+vINJYn927+0gJ7s6e4a5zrBKJhWyjGgMFLSwCH31twIivlbDnrJxDB06oMAkIkM6uB9c5vQ0jMFEHaEsfoV1xHJoTgAGWfmM84HaNADJodCvlzoNgt3HdPommgROU6Yx2hM2gzRKnrV2XGi7JShy9p0+eye1b913mCeoF3MQvnr+urIWx7CNu1ZI1Q4SYqwE9m7ENIYR2gyUkgvqQMa2VAm34hHYSJ14MMVNbD61Z4ClfwSzyy0+nlNAH0A+dUa7o1oOMhY4gJEoX3J55d+JzEWsYN0vAqc17JssPh7xUXC+ESuL78c4B0ed9rgN0IPBlzJJaBZY3jr8ABoDmANeM0QiH+rvoZXgqkD7lAT7mL5xVLaqSV6OtEYTE8ltfcIYt4AD36PViCy/iCELOXtpXJnh1lo27JsrB/SfUInrkNSNRvwEjWkiylAm1OfKZConBd8ZFnL5srANCLICSbglZpER2OfLnEmGhMRacMeZ1xz5tGACdeJh37zzw9Uh4ROhNHWPHjSGJk8aXeAli+cqjH9DG4R8BIhmPTv12XvWJKWNXSJVS3QWlnp7X2jqnAPRu17mGxNT4P3IwlnCO8YFjV4mxgdAxWL/t3nHEF1/i6p73OU/7pZ/R36JEjSRNWpR3ymts3XBA4P//ffHSzxyCNRgLXdy981C1fxa5gGc5cWmFTJvXXVl++zvOvU+F3ZgX0B9DgV2/zBAWfmLcnrGol+w/Pk/x7tCdd3NjkYq2qzaNsiuxjM+mLzJu0F93bP3Zfgll/44thyR7rvSyffNByZulqbBwztk/r6g8hNZInTaJ1G1cSh0H1w8gdKTIEYWYwcxByFvQstegJgp0hx+32WwqlFO/Yc2Vhw91vaHJE8P7z5P+3WcIMfI5Z2YCNCUWsT7+0S9pvw8f/O0LfEReZu7m/aifp+ZJnm2lj48CYT6+V7LeyKKAXwoQvN0WxiZY+cH0GnMwwNfTtNy5MzYWwDquweQQK4w4Q+wXL/2VRNWYEVbn5DoJAAYruC0aIwII1bXtJGVJyLWQlniv/oaYkMlSJJQvtckbhgJh0d31TZQ4rrx5/Ub6dfOSjElrCoHvAY8cQUYEAoJ1P3/+r2xYu1cunL0mDZqXFcAFxzrxHVgggkkQwRwB3TGPp45hShGqAI1sNptE0ABTXPh1yx//ymV1TgTrq1duKdAagdG//O68hgYYMJEV3wBD50xfJ+yHjxBOqtYq6hSE3LJ+vxCfCAvgWzfvK8EKsB3663WDIYkWLbLH4xehUQd83PPDEenYcpysW71baEf+gZC8Hy7xju6det09ucWyFG02ggZp39E5QgByGGnKhYYA6c5AyHZdaklwhRSgbkFJCOGNagyQpfPdG/OROsGMszJ47Yq9ZYA2hrVrNlr6d5uhwAHABMYQ8ukJt1r6WtiwYQSLsAkzOjt1gY6lCb6PHz9VMd30e9295XtjrQPYxrMjRowgWBHMW95fWQ4SK47zrhJjHGMdz2EMqt+0jMzRwCUsrniumWMJoBxAKN+hYfUBUiJvWwEQJiZyFG1uzJ4rnf01+GbMK7rCiJWvEWCYg/fsPKosf5h3uYG4rrHjxJBvF20V+gb3ct5dCcEP8BbrGMYt5g/HZ9NujSCkDkJC5659G3gkkD7fE/Axc9Y0slkbc3H/IsTFF1+mVfNf+661pFipXMpdHKtQ2jOgCOAI9xrfgXZgBCGLl84lRUvllFXLdih3YWNeT+8z91+5dEMpdiuX6CLHjvypigwIhPzz98sKrKFPesLtmnGC8QJglLbmyAcy/jLnXTx/Tc0xMWJGk54DGgltRr2Akx/mJcajcoU7CgsWEELB3e3XSbEfzal1q3ZLpuS1ZObkNUpRTazN7v0bSUAgJMocvF8Arxkb3UWQqBpPQ/8qV+nKlmUBAAAQAElEQVStqzHPZe4eMaGtn3bAgjPPn7+QJ5oi+vSJC2T1leC1MHDAffsHDTzTF0yqX7W/AF6HxHbC/Dp76lp580aE/oIXQcmyuYU+ybWeHaf6ekd3HMDLEbqq75Bmvr47dAd8ZNyIFecTGaIpIYlNzjei3DUrfhAMEXQenHmyRJ62ypji5PHzwlyDoi+ZJuuQPzgS353vDBhKu8ITifjYNptNmIdQUMKXA6ii8NDfJTjqiqygl4uXAHM9Xn+Mf8zd1JewTMZx8+yffwkAPN4M3PtNi7ES0hacoV5WCpkUCBMyq2XVyqKA+yhAvBWAI6w29u89/kEPZoLEHZvn6A/AnQsmldWy2jQeKTCj+rWQuAWEZJL+55/nAqPtvXqXmqw9UVcmqbZNR9ktL7q2nWgHjxDCsYRk9ehJs7qq4lmdtn3zMcrlqnenaYIbrbpg+CE2U3YNNJ0/08dUy0eq8EW2tPL69WtByMMyFsaTSRe3lICYhmatK0rYsGFNBx+pd9bsnwmazEljVigmH2a4c5sJynIzvAsQkngzWVLWlhple8jjR0/k54OnxJHJRwBAKIYJpBx3prSfJ1WBt8d7dVJbGGH9+cZ2BOMKYwSDpF9nC9MJs/T9pp84NCXBFOMmBEgTVgO+YIwBZWAq0Q4vXTtE9HpCS4AWHYQMzpAC7iIO/R0rJnc9z/E5BP6nDP087o2AFGjoARWMbYTYRLi2YdHGt2D8h/5Gl0u+RaFi2WX3jiMCeKM/1xNb2uHNG3cFoej2rfuacPdGGw/CCJaDg0a1VNYl3fo1dAqSUh9AyCF95ghCCuM2bRtgHoCP62YkgDjGEtzW9e9AO96ngYkP7j0S2nJrbQ401gXBizrSLrCAB4zkmPPcC4iJ9wFzJ27kA3vO8jPOGJ/3Ift8Z6ysPokRTd3un5WVIwiJEgzLnPQZU6p73fkTVQM6AB+xjOrefrIwVxIAnzhbmVPUFsZpwEPG4JIa0IsbHtY9tGf/QEgUrLQP2r7ZMR91+tA+emlzOP2QfYRW3VIXMAFQAXBBz8+WfAA6WIzRr+nfnHdXYnxgnICHiBA+vLI4cnw2QGKp/O2lSM5WsvrbHUqwpp7OwCfHe63j96cA4+6owQtVnweEmTPdO9AgZIcW48Td4CNvQKzrtJ8nU4rzWhV6ib4QjrN2QD+MFz+WUmBt8v6R2/0kxrk5mtIXUKZCkU5CTGdd8eIncwg5MW74Upkx6Tv1XeDxemmgY6l87ey8vLuqibL20OmF0n94c8HrBvAZy0AURpRBv0PGQl5h/gCExJCEcFcoC65dvSP7NXkuT/4svkKtoMgpX6SjUoAwjl6+eIPHmZJQEJatlM9eFuPa8P7zVZxe3oHEGMf8XbpABwGwA3wfM2SxMI8iG9lvNnGnZYeq8t3mUdJ7UBNVKoA6SlN46fHTOymwlHGc91EZ3v3w3bDifHdobSwKvBcFLADyvcj1X8n8cb0n8aYAYVyt3BaYt/335UtBeKlco7ByW2bAZgJl0vj5wMnAPCJE5IkZK7qyMvAk+OjqRY3gERNtk5YVlCVh787TBGFFv8979W5xxqQhyFYs1tl08JF6weggMMM4oAVeMHODYpYTJIwtAYGQCIVYDcFw8ywzEoI3ro1lKuaVq3/dluWLttqLpR4IiAABrkBIMqP5ZlEaLMU4JiE4T/DqLFjtYDHkyJCQJygJAO+7LWOkWetKQkwttgSax4pQf66xHQFCcq1a7aKSRQOJp83rIV/lyyTEbTK2Kf1eT20nzewigAmtG42QwjlaSrY09QRXe2hss711sYGh5rtQBwQTQEhAGY4BLOdM9w6Wtk35oTEBUgBWxEsQSwAXABn09wBMmj5xlWKcbTabAPIuWTNYdh+eJbiWTZ3bXbniDu49W7/FY1vaIX0OiwIWKKNdYMkNmGiz2QSLiDYdq8uB3+bLRK0dGd9DrxRxtfQ4rSxQAiCpXzNjSz9j7jCWhfsVLqvnzlxVlou0aa637VRDeg1szK5Ejx5Zga20cx18VBfe/TCu4j2g3/vutFs3WFmhUEHQQ3GEoOvKyop2M2boIk3x8lQp6QCo3Q10MIYCPmIVw9yHYlB/YYAO/fszdujjK/Nhv64zJCAQMm26ZNq89K9HVqGlXrhj6mOYXme2gPv0K2LdkY9zeuIdEF79AyFpS55acIb6MD4APlKncOHDSu2GJdW8zbGeoLfeDpnjUa5h3cM3MY7den5r+/4UKFUuj4yc1F4t2IM1GH1BfwquvcyBAfVR8hu/FcfuSljPA14x3jJut28+2m5BbGwHtKlGzcsJq3ajsHVX+SHlOSi9poxboSmq7/qJX+iOOhJbnFiNWNABEo4ZskjJALj+EoeSeJnD+89TygA8qABBsZCmbEDfzr3qyrb90+TRg78lgqZId2Yxy5hpplEIlvJYaA4e3cqXJSfjO0qNVHErCYkVllG20YZ5H9Ljx0/lyZNncuvGPQ5NTciybTvVlFMnLsikMctFRMRnzR5NbrilYphGix5Fjv96VhjHHStWqnweiR37EzET5HWsg3UceilgAZCh99tZNQ8kBZKlTKiEIGJxBPIWe7baDUsJFm7EG4ExgmGCcQJ0ihQpgtKU2zOH8B0YcLRzm7z3eczyMSASGMEj8hKPEKaU/ZCYipbMoYAwtsb6obEPLAiJUGNkNozPed992h8umEfPLVOumBw7PgMBEXcPvnexUrnkxYt/HbMIgIgzEBImGwYQBjtKtEgSLnw4qVitkGChBRi4auNIyV8kq0wbv1I9w8+Dg3ACBq5hs7KydtVOYXEf4mjh3kk/IyYYq0nqjze2I1YihaFlJdL0mVLIMI1xBUjQ83p6ixvtl7nSq7EAuurlEUC8TZNRGvN2Rlm9QdvmbSvrl4V2ARCFxRKWyTD99ovWTqAo4B8ICeCEq9sm7x81QfGxaJoXSfhpHPUtoDWrmfINxIR/27ccUsw8cwntAkurprUHy4+7jwkWHlQBawKsNfU4kfq4iPVh/+FfK5c48nkiAd5XqVlECNfgbEzRy8yeK52qB4CRM/CRfFj9Fi6Rg12h7r+fuqTmG3eNgerBgfyhP76vldXd2w/l2bPnyjrWk+AjIV6on/FVmrWuKIvXDPElwOrXEagDAiGJcT1++BJZMMtHv80tW+YDQLzkKT4VwhsYH8o1LNHZ0o6cxbVFeHUEIYkvR1zQ5euHC+B8mYIdPLJwy4iJ7SVylEiC94LPmr0KWEYBihcGfJzxXYz7/oGQjOW8rzG/2/Y/wgcxpsxd1k+mzesuteqXUDwV8fC2H5im+Gv9lV2BkFhi0U5QNOp5zdjSbhkDUH5THt8dAHXKnO4SI2Y0AUgCqOTax5aYP+mTKInc+W5YljN/4DlWt1IfmevlLdMnrhasv+tU7KM8yYivDu1vXLujigYQxgpTKe9+v6zOobhr27mmxE8YWwoUyebSg0Bl9vAPVpsNmpYVxhX/FFyuqkG7hk/30YA/V3k8cR5LUsBHPJ327PzVXgS0RxmAJT1GCnUbl5al64aq+VzP1KVPfQGEP3XyguJ99fPW1qJAYClgAZCBpZSVL1RTIGy4sGoRg/d9CSbK+k3KClZsS+dvURY1mNETJ2hgr1keYZjft46BzQ8T9XW9YUoYDOw9nshnBI+YsAMSBDxRh4CeCVCw65dZwmI94706qS2rSNdvWsZ+qysQEmYbVwZnWln7zR+4g1Vi7vyZFfPLSnXE+jI+CqGI1Uc/TRxPAS1Y7eI+jmWhMR/7CL9GELJWg5Ky//hcYSEEru/8/hdNI3tXucdgoYXAgIYaF3mAH/K4K2XJllbKV84v+zRAZkD3mYJVcafW46Vvl+lqtW1cgQ4fPOWrOGM74sKVSzdkcO85AnDJsVkJ6zq08M4srBFOqKfuypUt++cCYEndAIiz50ovwRFSgPJDYqL9zlzcWwDhAChod47gv2O9aYuuLCGhP+6tX6atJ2niV5bPE1UTBBkAX8fn6Mee2NLXTv12QfIXymp3F8M6A+u/F8//VdYFxC6lbMZE4kR6LewpJ6+sFATv3PkyccntKXe+zIrWWK4xzk2b30PW7xhvDxegF3juzF8KxE2aPKFgPegKfCT/3bsPlfsq+3wb3Mx0QZJznk4At4AEvA/KQsZjvUxXAId+na2nAulTDywfWXAmoqa8jJ8gFsX5SiuXbJNn/7xQNHY2fzgDIbGaBRzEXfygBxacoU/yfCy8accIp8ZK9xvWXLk060A6Y7l/IOSJY+c0XYBN9LigL1++ki0bDhgf6dZ9XKvLFf5GgbKASd6rd30wCEm7ArRcvn6Y4C7q1op+pA+j3c9c1FtSf5ZUBvWeLcRyZlyGjwbQGziihRjbumMfZfHI2Uv6CBZinmwnrshPe6fdwD+TB6+XREniCfE+6Q+cs1LgKEBbKF76KzXf8Z0d76JdtG8+xqVcpZR3+dop7xLdIhLvtjSfJ1FgmOPzzDjOmSejEDP4t6NnhVAxWE27AiFp58gRzOnwNqQte6cIc8KsKWsUXcyoM2M6dcCSFMUn7bnngEaCgQHXqANK/OnvvEgI/ZG3QBZhjjl5eaWc+muVtO1UQ65rAPHUsSvJbiWLAu9NgTDvfYd1g0WBUEYBAupS5S++TKtWumY/sOnUifMSN15MYZLB7Q33t1RxKwkm9WYDHYGts3/5iCPm33WzrgHKrFu9W1hQBIHbAEKaVQWX5aDN7DO4qdy8flemjlspJ46fk9ev3wiMZ58hzaRL73r2ex1ByKFjWgsxaspUzCcs4GLP6KadE8fO2l1inj59pgBxx0f/uOeYlM7fTgZrYBwaTJg+GCT/QMibN+4JAsHxX88Iliow3TDXPb6ZKmxZHAGX6/JFOgkuJY5lBvU4T4HMEiv2J3LpwnX7o6h32Ur5BVdVACbADPvFdzvGdoSbKJY4WIC+uxzkDVZhqzePFixOf/59kTiLX5YwURzBSjN9Juex4qAlCgxi/wDgps/4Nh8CTXCFFAgyYTzwABjfYePaCEqfTFlSCwHwsbyd+21/OX/HWwDjcKGGSQYIoJ8CdlAV2gZtJJ4G6gCW8CzOh6S0bfNBBeaXqZBHVYv6d+vbQE5ogEyVkl2lwJdfC/G3rl+9o/qizWZT8VsB/wDxaEfqRjf9oGSZOKuLpM+Qwg4Y2mxvwwV07lXPl0UJ48Ifpy6qMCTFS+dSYxshBJxZkGbIlEreaP/dVM1AP4bxYm4QrKwAY3tr4z5u0cRsc/Zuga6MQ0bqpoOPNptNXAmofONrV2+7vM5jHUFIvkehYl/KxnX77O6i5HNHoh/Rn9JlTCG4LhcpkUOwajU+G1CAECOECMDVnmv0S1cg5O4fjsi9Ow9VG//j1CUZpCly3UlryjcmwG/j8wkF4P2BIGSChLGlRfsqQliT3p2nG4ux9l1QoG6jUvJ5huQy12ud0Fa8Nb4Pa7dlC7YIypeL568p91vj7YBTc73Wvx2XtP6y9Med8AAAEABJREFUT1NMAgIav6Mxv6f36ZeUz5xNWYA28IHu5DV47seeUJ7DL+H14d+7AkzDe6HcwDqQ8dOYn3aEInFAj5kqlEqECOGlQNFsxiym7aMs7/D1WKlftZ/gVYFlJ95yzsZ4+JStGw9I1hyfKa+iDt1rC8p1xiSumVFpaMmCmhgnVCvdXRrVGCinfjuvimacx4BBHWg/WMHybvD/yGoAkcQ2Dxc2rOzbdVTaNB7pNFyWdqv1Z1EgQAo4ASADvMfKYFEgVFEAyyQGz9hxPpEadYu9V93faMBT9OiRhZUd3+tGK3OAFDCCR44gJIwHFlABPsTNGVKmTiwNmpYVYp4QhBwtN8HDvSatFlfMrxGEZHKHqe7XzUsA7txcPaUhbVJ7sArA3qL+MD9lwCgP7TtX5cMND9AwIBASl7pn/zzX3vmM6OCjXm+stHBjBSDRA5Pr19y5jRo1skSIGF7oozwXOiL4ZvoitYwbttiXRhwASl+8iLzGdgQISUzIspXyqbiAOw56KUsb8r1PonzAjDFTOkj2XOmUxWlcTREBUzzv237KDVV/HgqOsOHCCiAAArt+3riF6cTdlnOEhGBrpf9TALoBPubInUFZR/3/yts9m80mUaJEkmQpEgp5cOMjzID39nFy9uZaBRA3b1tFgfNYatF2eObbu0PGL3FYL567JqUr5JX6TcuIDj7qQB7jy9RxKyRvlqbKIgyFAAKvp8DH7n0byh+nLqqFv778rL4smbdZEJygFv0IYIt9PS2Zv1kpZTjOqAHExNFEUORYT1iHfZU3o/y07zf9lClb+mtQrawWrhr4QV4SgXlB2mOWbGkFV3wsd/i2zgRUAI1UaRKrRzq7ri5oP4CQ44cvVUAe47snFpyh/1BvtvBPWrEKSBoxoZ0vEBJgHcslgD4E6YBAyE8TxZUftv0ieJTgHs+cxbPNTNTTe/X7WULu1QRuvhvvx/28r5l1Dq1l4amBleu5P/+yvwLtHCvv0ycv+OE59Ewnjp6VBw8eeyQUgl7G+2xpp0YQkrHv44sN+j4Uef+80aJpfJ4GFqZKk8gXD6U/Cf6KOX3P4VkqTiiLzhBeB6U+c6aeT9/qQCR86zwNsNbPm7HFmhE+k7JQ0LElGeUBZ2M4Hj7zZ/ioOMO4OaO8gc/mXjMSbtPpNYUSC20xblM2IY9YSI7yk6X8lI09cR3+P3+2r5XcAeiYLW09ISY+fcKe0dqxKPCeFAjznvmt7BYFQh0F9u85JvfvP1aCLfHriDUX2JewhbGpGHp///1PYG+x8r0HBYzgUcSIEZR1Aeb9TO4EqH6PR7kla/7CX0j8hLHl5PFzvp5HjCqY6DnT1iorJV8XtYMFszfI1Su3tXRL+nb18gMMalmC9Ie1FNZfxCRF8PFZs1cBhjwUZn77T9N9WWZynrRUAw0CAiFr1C0ut289cCkI8JygJOqMNQwBuhFmnT3ryZN/1GliPWFtjODrDHwk043rdyVOvBjs2pOxHRETctq8HsqVfObk7+SXg6ft+QKzo4MZ+bS2cFwTgn7Y+rOgpeZem82mCeEppGWHahyqdPaPK8KKganTJhEWplInnfwcPnRaxfvTXW2dZPnPnsLyDPoRrxGX9L8u3xIdWCFA/Ya1e5Ul8p3bD4S4oEZCAf7GiBlNCTSs1IylFpp82pCr9ma838x9lBKpNICJvoDlow4+GutAndNlSK6s2TwJPh498qcQoxQhAvCzn6Y02bhun7I4DhsujALdjfWi7lPHr1J9AUsIxp3NeyYJQD3uzrjNN2tdSS6evy7LFmw13urx/ZBuZTVm6CJhRWuURu2ajpJffjqlLACNAiqWhT36N1LtHqsU0vkzf0n1Os6Vphk15czLV689suAMH4z6nD97VepX7S/N6w0V5h3OY83mCEJynkQewDlAOo4BXRn7adMc02Zy5cko9+89FtobbYrzwZGoZ2BBSOr/aaI4wntxH+8ZHHUOjWVi9Y+bLNbp1J82gKcCVnAAR4w/nMfy/YdDXtKweTkOlaLmt1/PCqAf45M6Gcw/1JX6oBiiKo4gJCEfCL/DNSv5pQDGIHx3eDSvhb2UIo5QDH2GNJV9R+cIHiaMGeEjhBPjPxae6dqngS9XfeN1Fg9CEWI858l9rF8HjW4ljIPw5o5l+QdCwptMHb9SOrYcK96rdjne6vHjbDnTSdTokZVnn14Y/QtZwT/elDEPuYOwMeTX77W2FgU+lAIWAPmhlLPuCzUUgMk9+OMJxfADcjVsVk4DEKoGqv5faczyo0dPTbfoCFTlPpJMgEfe3+1Wgq/NZpPXmlCFZpCFItz5ikz8AHVL1w0VGEdnz4bRiRQ5gkSKHNF+edDollKpWiFZPHejL/Bx1pI+grUdGZu1rihhw4b1GPjYpXd95Z6MFRXl6QlmHkswwBsswGCM9Gv6FsbCGQiJUAUQsmrZdkE4hrnW73HHFhdP4mgOH99GCdHNNHBi7fdjxZkrOIIGIB+LEnkt6CmuwEfqZfw2HOuJduSjAVW4y+PujEvu+7q16OBj6rSJpX2zMSowerO6Q6RmuZ6Cqw0WMLiufJU3k8AoU/aaFT/IX1duat8/jGonaOw57yw9f/avnD5xwdml//S54f3nSbkinYR4bYN7z5amtQcpMB8LiIcPnwhxobBEzpmuoaRPXF3yZG6qBFPASgBi2i6CDdbHOiHp71jKYtWsnwvu7WafA0K4gz9OXRJn4CP1I87r3TuPxFPgI1aKhDWY5+Xtx6p76rhV8tflm4JVL26m1MeYGEu6t5+sgYzX1HwaM1Z0KVoqp2C5kjFzKgFk79RqnJgd6iOkW1kBWNBGoSVbFqAxgpB8E9oq40vbJiPVQgxYnmCZQuI+x+SpBWf0chg7iZ+KteWu7YdFjxfM9fcBIYmRu3LjSFnmPUzGT+8kAFIohXlOcCfAxMCCkNCA/AjiwV3v0FQ+YwkK3ApVCgj8ijPwkfdB4Uz8vLjxYnKoxj/m3pAGdtB/HUHICTM6y7YD0zTeprbdily9hPXjiwJYCu7fe1yFNIJnHTKmtRBXEOCWxctsNpvKTzzZ346dVRbjekgSlIyulDHqJpN+ABwbNi8vhN2hXbNoI+cci3cEIVlIDvljwcqBUrp8HiFeJG3J8T5PH0eMGF4tllOpRmGltNXLYxEaDHWuXLqpn1LboiVzqPld53fVSevHooAbKBDGDc+wHmFRwF0U8NhzALP0+HLEb2nfpZawipd/BWIpiZUBDHhIY4L8q3dovIb7H4w9dGaBCL6XO98DwLFC1YKCwJwnf2alaeWcYxlYOYYNE0YKFsmmFotwBT5yn81mkzSfJ2VXiPGHKwVCijrhph8Ym6596msMQ3jBCsz4WABE4rXAuHEehiiwIGT7rrVk465JgvaZe92dWnaoKoNHtZIkSeNpDPm/9scD8DVpWcGPJhum9PA7S0Wsgi5fvOEnLhQPQYABnLx65TaHTtPdOw8kSODjZ0mUsG3UqMMoAhoAHFEozHDK1InYVe7uAOZY7IUNF1Yqa4zdkjVDfDF3vHcpjekE3Fk4Z6O6z/r5PwWgL/1fP8MxANy1v24rV2X6gX6NLXnRxgNWIqSWzNtWiM/7eaJqwj6WNbhnLV2wxXQwjPq5SgBz+3YfFfosjL2zfNMmrPKYQgCgizh2AP1Dx7bx5UpLXajfixcvlSs7wh4B5y/cXS/E4CR4fv2mZYR+QQxkYsz+uPuYstTEtZiYeIyBfDueZWYC1ApNVlbQiPFEByFjxflEhZ9Yvvh7NZ4EhnYLZ28QVocNTN7A5mFO0d0KHe9hbntfEBK3PkBVfd6NoAm/zPU8y/H5wXUMqOi92rk7NuN2i/ZVJU7cmIISj3EnuOoZWstF4YaHAN4NANAPH/wtjM/0AeM7wZczfxrPhdR96m4EIWnfSZIlEMLeEMc3pNY7JNSLOXv3jiPK4MCxPrQNXIMrFessFYt2lq/rDVUhSVicizaUPFUitWCL431mHgOk8/1RfOKNERAIuXHdPqWsYyxJkiy+8H5YbJpVZ8rt0K22APKyf/L4eeWx81m6ZIIVKv2SurTuWF24vm7VTg6VsoAQRvpCnGu2jBY8i8ijMrj/x3rif4wCFgD5H/vg/9XXZcKYNGa5sj6BBgyibTvVUCuAlir3dlEAzpO4BvCExdal89dlwcwNnLaSBylQrHQuteCCJ8BHgOYteydLG22CBdyy2WwCCDl5VhdfIBGvd/K38/L48VMFLBKD0pnlI/lIxE1kSwI4dbdwAugC+Ahz+z/27gRQprKP4/h/7FuliCJlKyVp06ZVeStFEaWQhEj2Qghl3/edrJE1S4pIlogspSwVEhJJpEiyv/N7am73XvdyLzNzZ/mqM8tZnvM8nzN35pz/eRZdxB07dkK7ipkUxNBdYnXo3rbFcNc08mxBSDUFPHjgL0uVymMaYCmhC4GYHZzjCwUfa9cvbxoMR/3GqMaaTsp1cqkkFbz732N36mWcSUFnX4BPgVGd+KivP99KaqLlq3GaUNMVLb+2cF5TB/aqvePbLinP+ptXH3LF7ytql16a1Q2AEn87fYco+KJaGkePHrPY3TKoZpg6H9fnIHXqVKb+rVTbU7V++gx9zWZ83MPyeC9Q1Keo1omfNu9PF5D3mYKQp2/xzxxtp5P8Ns2GmI7LP3ND51GDl6lWUPzfnUDmULWRFXzU356vlmhCtdgU4NcF1XVF8ro+TT3e7wl993g8HjcIV9NWVU3fS8qrLrbV8X6p+xq4C8X4tbO1TrAmeSrfujhUGcKhlpU+p7GDkPoO0oWiuh8Jllvs/Sj4qG4LXqz9hLsQjb3M91qBw+QEIfX5UKBagVZtqyb/+p73pRcqz/GDkKp5PW56e5u9uK9Ve6m0ZciYLlSymmL5eLLC/Ym2HDlTpmZN+9R2/rTH1Kw2ywWZTP1r67MffxvdoLvkkgtNNx/jLwvF9yrDqKHv21+H/nbdgiTWPU8o5j0l86TznxrPtbOubUebBjdR7XB9P3RsPdLuvrFGgsHp9q1GmM51M2fOYJfmuDgls2+6yVahVDOrUam96ZifLQip1gy6ua7PiYKROj8NZgHUoqjR689Zy3Yvml6r+feKZetdULTA1VfY6Mlvmrq9qvJiKRvQc7LNmrbEdL6g/k3VXYzyqjKm8p7XqnWG0tI8JgTOVyDV+SYQJdtTzAgQ0IWfqsX7AkUej8eKFC1gg8c0t3XbJtq8ZQNNfdCs+m6sqZm21tNdb9UKiYDih2wRVBNR/U2NHTHb/H1xouaw1b0XVKrF+nqDfvZqnd6mkd3U3OeW26612P1TCeiTj1bad99sc81pry+a33RiNKTfNC2KM+liTTXxztRnSpwNkvlGJiVK3uqaoOjCXk0m4yehCzo1h1RH0goG9Og47qxBSHVF8Nu+P7wXAZsTPNGLv4/kvlfwsVbdcjbvw+VW54XOMf2GaXCNHh3fMQU/lab6ANJz7Ekn9Aqk+gZpuEMh1h4AABAASURBVDLvZda5Tz13cqSaWIPHtLBLsl3kahksW7I29qbutYKDCoacT/DR4/GYamGU9V5s6bNj8f6pDyMFH/ft/eO0bhn02dUFto6HgpQKKCjQ/fDjd5qatSiYpmMWL0nenkFAnwm5JVYT8gybhuwifT6+XPWdC1Ir2KTvPgWqdUMskJmeMv5jK1boedf0e+eOPW5XsYOQ+ryqlkTaNKlNNboLX/G0aerV+d2Yv1sF+Z6t+rDbNhgPz1Z9xDTo1Jebxv3zPbBjsusrrEvf+nFuHoVrLSt9vmMHIXWDrFmbF06rIR5oa/2eKfh4ee7sNm7k7NOa5sfevwbluvCiLC7oovmxP0N6H3/Sb9PTjzc3DWamZuXxl4fK+9hBSAXL7r7vRkuXLo21fHWg3/t0DpUyJzUfTVo9b/qbG+I9V9ZnJaHt1Pfhim/GmP5WVVPKt54+474WAnKtVO1RUzc4+t7zpaObxC/UfNy+2bDV1RDzzQ/156uvvdJOnjzpAlG6yRrq+Q2l/KmygQY30Tmbvh/eHjQj0e8dBS11XnjwwCH7acc/v13+LouuBT5a0t9eqls2ftKJvtcxP1sQUkG+Ld/vtPLeoGWbZkMTTSsQC1SbXV2jqPaox+Nxv5mFb8jvzgEUbFQAWMHRzd/96K41dMNWNxjf7PSSu9kg977dJrrzhplTF5tuSN55zw2ByCppRqEAAcgoPOjRXGQFITV615xZy8w34qfH4zHdmdUJU74CuS1d2jSmpmUKVhEwCPynZfeuvVa5bCu/Bx910nz/Q7dYvx4T7eWqnU2BqemTF5qC0GqmqQs/NUfYtXNvTCH1GXhvwoKYwJn6Nxs5oU2cpopaRyP2XpT1Aps3+/OYbf31QukrLXX8rxqKK5d/YxqFNM9VOTU70UknD2cLQgZywBkFH+s2fsZ27vzV+nhPWuJndNzIObb2q81uto65exHvQYFiDb4wc8pidzLq8XhczVg1sdyxfbe1eX2ICyDH2+y83rbtWtvUNEZNSJVHfS8kFoQsenNBF6DUhbROzuLvWPNVI/Way58y3eXXpCBO9WfbJdikPP72vD9dQBewkRaEXDBvlRsUTX1gTf6gi2XNmiUg3yU+Tf3u6WJJn1n9pmmgrNhByC7eQP+oiW1MfZ82bzTAhvR9z7ep6eaBLg5VC0Izs1+a1YrfW1QvAzapWZgGtVH/sRr1XE2U1cQ6U6YMrvm6aka/91F3a92xpsvDrDCuZaXPt36LdLNLtU0TCkLm856XuIIG4EG/Nwo+qs9U+V5z3VWJ7kV9DFd/+Un76INlcW4wnS0ImWiCSVoQvJUUhFTzUO1Rv1Gq7am/F72P1kkBieerP2YZMqRz/R4rUKPPTGwPDR5Svc6TliPnxaa/VQU+1Ee2aiNrPZ2bDOozxdQKInXqVO77Q33/6caial/p5svP3vPAAT0ma/WwmPT3ou9BBdj13RoWmQ7TTGbOktFVFtmx/RdbtXxDQErh8XhMAeUWbV+01RvfMbW2UUWAs+1Mxz52EFLdItV7raLbTK0OdMNGlVhU01O/v25BEB40mON11+c1DdzXu+u7pmDjiMHvOz/lQ61xFABW8Fe1G9XqSH+zLd6qZlkvvsBVZtD1hG6sa/1+3SeZuhBKn57a4EE4fFGxCwKQUXGYKWRsAZ3wv1Kti2lQA11c6cRfPw7r125xfSpp1Ec1HVJNldjb8Tp8BNS8UcG2pYu+SjRgpf6zdOGnH1eVTM0Oxkxpa7ffVdiNLKpabh6Px24vfr1NeL+jqx07d2l/04XvTbcWcrX8Zk1bok39Nulk/51p7ePUgPl1z35Tc980aVKfdT860ddJgwZ00QWDr09IXTCoL6uRQ2cFpH85X/BR/TgVKVog0T42Nbqx7sZuWPtDomXRhV/jOr2syFUVTQG8RrV72iN31zP1O6dASqIbnuMCDV7zQLHappqmrZsONnW5kFAQUhdT6jxcoxerhtjZdqdOxjWdbb2QXx4CGdR3duwgZLVaZeLkKl8AAzRxduSnNxpARB3tp02XxjZv/NENuLB54w4/pX72ZBRUiR2EVNBJF1+6mFJN4vgp9Os+0dSfX/z5gXiv75J+w5u4Jt+6aeSruT52xIf2/aYdrumY9qvvmhdeKm2DRje3Xd6bSG8Pmmnqh1Wm4VbLSsdev0U6F/EFIXXx+mqLyjb0nZbu90ddTKjc/pz0u9BveFNTMEXpyq76y0+YAo16H3vSvOr/Bh8VqNNnSAE6fV9rvdhByMzegIEuxPWdqWXhMinfquWrMqlsKmO45D0Q+dTxe7lBedv/2wFXi1/7KHrz1XFajqhp9oMP32a6oaFaUupGRZ/hvPlzmQbIUxraTi1PGrzUwxQI0Q1VBSIzZc5gaVKnNp2n6ZxcNyC1bjhMumZ4/IFGcQYmDId8h2oe9blKLG/tutW2XLmzB7R27AfTl5haB3k8HtNNIP22zF8+0P2+3Hn3mWv96XfTF4TU75K+Kzf9PM1q1S9nar0x78MViRUtIPP12zF2alt7ovz93qDhHhvcZ6op2Pj2oBkJ7m/P7v2mVkn6jdF3oH5He3QcZwqu+zbY88tvpj7yfWMp+ObzjMC5ChCAPFc5tgt7AZ3064dDd4DUDEAByeYN+1uonQSFPXQKFEB34NV8KqGL6YSyo+CjfrQ1AIP68tOFb73q3WzdV9+bmj/rrp+CHLpQ1/ZDB0wz1RTSa39NCj42eaOKO9EfMXhmTLInT5yMueiOmXmGF/GDkHUaPW0fLuprjz1R3C64IOMZtjy3RQoYvOLdx58H/3K1ij2ef/rYVK2I+HeQ1YePAqpqTqMTnTPt8cq8l3kDDj+ZLmr0t3qmdf25TDVk4wch1aTsjfbV7ff9f1rLxgNc7Ux/7pO0zi6gz4CCkBoVs/lbL9iAEc1cf4SqKffujPamWnNnTyU01rg058WuRpEuYlUmlS3YOVNwJXYQUrUe1AQ7dtPI2HnasvknU+BANSqWJdAFQux1z/W1vktqq//YxV+7Gw76PdZ3sWquv9lsqP3vrrrWotGAmBrqCmI8/NidpgtUfe8NCuNaVvoMxA5CqiZZ/SYVTRe/qpGa1N+y5Ng3er2S+23p0GqEa4Kn37oMGdKZ78aVLy1dUMcOPvrm6zOkQJ0CdpqnIOTIiW1syZfDTYEpzQunSSPVXnZ5NlOZVLZwynsg8qqgogbF0g06nSMrUKj9KFjkqwl5R/EiLkBZs1J7083CR++tb/p71Wcpd54cFjsIqRYCCoSob2gN4qKg481XVza1StLnX2kzRZ+Abii+O6ODLVs70n1eVLNUCvoOmTSrsz1auri9O3aua8Wk+YGY9Peu/knVfY5uQGsfOkctVaa4KZg3bW53U8UGzU9o0rVkT2/QThUXtDxN2tT29ZebTd/pqgGpecGY1PKrWu3S7vxC59A5vd9nKseZ9q2KOPp90c0B1TD9ZO5K0+9p7G2erlTSdHNGf8Ox5/M6sAKRnDoByEg+upQNgSgU0I+tanSoyeDvvx08q4Av+JjzskvirKtA9BMPvWpVy7exUUNnubuvbzUfZg/fXc90ohFn5fN84ws+KgiQUFIej8fU/0pCyxKap5MH3cHUncxADjijfXs8HlN/PsWLVrf2b4zwBukOuual6v8wdhBSNSHULET9jPUa3NjWbZtoan61fN1I04AtmqeBn8o9U8KdhL73UTdr/Hol7SLoU/wgpALaHo/H1B8YF0pBPxwxO5R913ZjbP++A/Z42Xvc5+TyXNldjeVwOjHWgAsKpKZU8NEHqouu2EFIBZA6965nCQUhL8l2oZ08ecoWzlvt29yvzwo+1mlYwRZ+vMrqVu+aaJBfNdfV16pqWikDCkKWfPQOU3+R4V7LSp9vXbDqWWXT93fvLu/GqYmi+f6a5PzY/Q1NN7wUPJo17VNT4Ch2EDKx4KMvD/oMKWDnC0LqN0wX8Pqu1DLfeuHwPGro+1b92bZR3+ej71jpc6iWAXqvliJ1qnVxtRX13heEzFcwl636/FvTupqvSTVkZ05d5D5L8YOQWq7PyqxpS0xdISldzQvRiWwFQUA17fr3nOS6wtK58HhvMHLrvvdNA/gVuOYK9/sejMFbFIT7/feDrtWUfmd0nqHiq2a4fhMHj2luHy8faC83LJ/gQF2qYah+ltVyp0q51q7WYTBb0qkGY/mKJWzH9l9szy/73c2lwjfkMw2wqOsilSWhSXmsVaWj+53JWyCXqaVS7PVU9grPPWRLFq6xd0bMjr2I1wicswAByHOmY0MEEAhFgRtvvtrdqUtK3uIHH6/Mm9N8d/Z926u2T7uWw039MY4Z/kFM7Rvf8vN91gmXaj7qwk1p6cdezeJinzDoBOjSHBdrcZKnlcvWu5oJa9dsdnmPfYGQ5ESSsKJq5+gOqlYdP2qOKfCpJuAez381IXWxoiZ5sYO8Ho/H9e+oWpI33XqNKfDYqkMNUyBSwQTdjW7VdLCSTZEpdhBSGcib73JX406vmVJOQEGNzz5d6zKg2gbdvAFJ1ZJzM8LkQTV/FPgJ1N9kchjkebYgpG4eqFbKyuUbbGj/aclJPknrKvio/mN/3L7buncYF2ubhF/qgql+zW6mGqRaQzUzdPGl1wpEh3MtK30mVEs80MFHWcWeFAjS52BWrCCkAsK16j3l+nxUUCn2+rFf6zM0deICU+0hBZcUkNS82OuEw2t9nuQfDnlNiTzqMxI/CKkuV/b88ttp2dHnJaEgpM5vfH+rp23EjKgV0M0j9Uuo7z0h/Lhttw3qM9Xuv7WWKbCneYGeFGzftmWXFb/vRu/N9Lft3lteMt3w3L51twvmeTweK3hNHmvWuqot/mLYaf1E6pxd57PqekfXDYHOb/z0FUCtVLa1qaVAlXKt3GCTWqf4fUXPGoTUeqrNnP3SrHbrHdfFBFj1t6pzcp3TB3sQHeWJKXIFCEBG7rGlZAhEpUDWSy5wzQ90UVqwUJ5EDR4ve4+97j2R0MWemqCpiaHH43Edrfcd1sSNGJfoxn5aoB/3eq8+bRrZTycPOsFXjR43eM7wpjEnAWr6eGXey+yVRhVcoE7NQnSyk1g2dJLfa/Cr9ufBw+cXfExsB2eYn1AQUn1oZsiYzl6s2NaeLPmavd6gn7uTqj7PdMF69MixmBRVA0cDAaiJljxiFqTAi9hByMQGpkmBbEX1LtUVgi56wzX4GIoHT8EiBZ/U5FL5i10TUk3b1f2AggxtWwxLtGaitjuXyRd8VN9ZOq6xa02fKT0Figb1meJqXGu9wkXymmpY67Umfa/MCsNaVmpCd3WhK12tH9UMUlmCNen7Vp+DWf8GIfWdd/LUKVM/ZmfKg36Lbr61kBvwIFyDj2cqH8v+E9BnpE6smpBZLshk9z94S4LnS/GDkKqJ9e7Mjq62sj4z/6XKKwTM1cDr1n6s+05XX4Pdva/1eQumjX4LCxTMbU9VLOF+63SD/YFitUyVD3SDReenHo/ghojWAAAQAElEQVQnpp/IBSsH28T3O1n/t5vaotVDrU3HGn7Prv5WNFCTuuM4W+K+5t76fVSlCVVA0DZJCUKqexX10a7WS3M+7ef6vVdXNzt3/GpN6vV1HkqLCQF/CBCA9IdiANMgaQQQSJ6Aml2r+XWmTBns/oduTXTjTd9uN/Vv9GyZlq4Jmn6s1azP4/G4Tvl7D3nNFOxINAE/LFDQUXcs1f+omkCoGcrBA39Z7CBkmrRpTBeCOilo6g2Y6m6kBl5Yv32Sff/LdNOzmjHrhEHTvGUDTU1YDhw4ZDUrd4jTNMoPWU5SEvGDkBkzpjcNFPHdN9vdXVnVWGvTbIip/9W7bqhuhXKVt8plW7njMX70HAuF4KOvoGcLQj5TuaTrp823Ps+BFXj2+f/ZRRdnsXCs+RhYmfNLXRdeCj7t3LHHJaQgpPrfGjmhtbvw0PejLmrcQj89KPj4SqOnXWq6uPN4PKbvuaQGIWd5A4yfzF3lmoZfcGFmuyJPDpdWOD98/cUm69DqbXcxnhLl0AW/Pgez/g1Cxm6OnVh+Hny4mGXKnMF1UaHPUWLrMT98BFSTS4GPhHKsz4gvCHnKG6AucmOB01qO+LaLHYTUeYwGswql33dfPnkODQGdO9av2d3dgEmJHM2Ztdz27z9oD5QsFrP7hs2e8wYkH7T5c1fas2Va2OyZn7nfRK2gc9s77i5ij5e9x9S3ebs3Rmi2XyZfIk+Uv8/qNKpg46a1s5nze7oAvm/ZmZ71e63f7cSCkBqETH/nvjTUukFdT+l9nqty2iXZLrIJY+da7aqd/N7yS/tgim4BApDRffwpPQIRJ6CmD3/s/9OV67Y7C1uV6qXc6/gP+nEeN3JOzImEmvWpj0eNtOrxeNzqqvXjXgTwwXfHUrtQM5SBvSfbwVhBSN35TOcNQmp5/Ekn9LpI0EmE+r3UVPCaK0xl0Ym/agHF3yZY73UimVBzbOU1oTzouKmfnzebDY05JgmtlxLzEgpCqmPyKR92MTUtVz9FKZGvaNxnvx6TrNzDTQPaIX00uqrMCh4p+OT73lBH+uvXbglYLeq/Dx+1If3es6L5nrW2LYe7mi8eT/KCkAvmrbIDf/zzfa8yhPukm1KzvIHVlCyHAkz6HMyadnqfkAnla5Y3v0890jTS+k5MqKhRMU831T5Y2DtOs011w7Bw1RBr9PpzzkCfEV8QUjPUzUr87ms0X9OKz9a73/RQadmgPDGFrsDSRV+5c9iUyKHOx+d9+LmpRr0GnVHwsfrLT9hnn37tfgdXr/jW9VFc8q66brAl9XerIPzypessUOfcE8bMtW/W/eAqIujvrFOvV2zpV29bvdcqxrSSSsxK1znxg5CjJ79lXfrUcxUVnq70UMym+pvWgFBVyrU2dRNz9401TNdEmh+zEi8Q8JMAAUg/QZIMAgiEjsDqFd/8Wysmkz1f4/EEmwcllFvd/VMgTE2C1eFySvzwDu03zWIHIYt5g6hqHt6kbh97tU5v04WhOsj+YPoSU3BAwYLDh4+4PmoCfSKUkNmZ5iU3CHmmtFJ6Wfwg5L0lbjaNit6ry7umcqZ0/iJv/wmXSH+T+swnvJS55yugIOTiBWvc98naAPcfq2Ztg/tMdVnW31CPjuOSHYRUUEPN8Y8dO266GHSJ8XDeAvo702/NrESCkLrxFbvJ+3nvkARCRqDUE3fbJdkuNF+zzYcevd06965rx4+fsM+Xro/Jpz4jSQlCagCL1d7ADTUfY+h4EcIC82Z/7v2sn7S6rz5tsYOP+rz7sq1zkJXLv7Ejfx+zQAYfffvT77Lv983j8ZgGd9IAYZ99PSLR2se+beMHIYvdcZ2p//tpExdaf+8NXd96vudlS9YyQJQPg+eACRCADBgtCSMQ5gJhnH01kfDVXlQzg6T26aiLqltvu84U8FMz4ZQiiB2ETJXKY7fcfp099uQ9phMjXag3b9jf1ExFTbfVhLnwFU/bI3fXs3o1ugXsLuy5Wii/iQUW1AemahJqgItzTT+Y2ykIqQ7Gtc8Dfxwy9Vek8uk9EwKRIKDvy9vvKuy6SlDNCV28BKtc+ltK7LsisTzoovDkyVO255f9pmBkYusxP/kCsk0oCDni3db23pxu1nNgIyMImXzXUN9C/XgqqKJ8uiDkmBb255+HrXWTIaabtJrvm/QZSSwIqb6o9RvfoFbPkOpWxZd3nhFISEAtiL5c9Z0VLpIvpuajPuex11VLnsovPuoqAQSq5mPs/alp+M4dv9qq5Rtc7VB1WaLlF2XNYgrwz/ykl42a9Gai3QHpd7xti+Gm/nwVyBw99APT+azSYELgNIEgzCAAGQRkdoEAAsEV0B28aZMWulE5PR6P69NxwMjXE/1x9uWuXbfaluuKS2386I9MTTF881PiOXYQMnXqVHb/Q7dYv1gD08TPk04wFHjVndn4y1L6/fhRcyx+YOGjJf2s7/AmduzYCft6zeaUzmKS958+fToj+JhkLlYMMwEFDbZu+dk1N9N3SrCzn9B3xZn6hNTNiyxZMroLs/gXicHOeyTuT6bxg5APPnKbXZQ1s6kfX10QR2K5o7lMOodQUMUXhEzlPf9QgH/b1p8TZNFnJH4QcsrsrvbOe+2sYpX/uf7jtE6CGzMzQQFmpqyAuvb4/fc/beeOPa77gPi50d9I2+bDgnbDX9cj8z783K64Mqf16z7RKv7bF6W6a1Le1BelukkYN729fbCwT4L9RBa+Ib+lTZfWCD5KjCmlBQhApvQRYP8IIBAQgUG9p7hOo32j1l1z7ZU2bNwb1tYbZNTdy9g7zey9gO3ar4E9/Nid9u6Yj/zWpFZNJNRpdFJGr4udH9/r5AYhfduF4rMvsKDgncfjMY2euXzJurCqGaHmOIWL5KXmYyh+wMiTXwRU87vGc+1SZPAqXwF83xW/7z9oHo/njAPTPFLmLtdcXDdffNv74ZkkYgkoeKQgpGoGabYuvlVLTs0C9Z4p8gSuLXyV5S+Qy9S9i0p3tsGh9BlREFKDzGh9/b6vWLbBGtbuqbdMCISVwMypi+3rLzfbgw/fluhglOpWQN+FwSqYWkDpeqbcMyVcLci61bvaw3fXs2H9p9neX3932VBlheuL5jdfP5Et3qpmut6p6L0RULXm4/bx7BXUfHRSPKS0AAHIlD4C7B8BBAIioBNiNSGc9d6nduL4CbePCy7MZFVrPG4LVg62uUv725CxLWzqnG62fN0o00hz701cYBoIxa18ng+VXyxlVWuWNnUa3b7Hy2etfZnY7hIKQiqQWrfx07Zo9VDrMbBRYpuG3HwFFtZ9/b3pJGrxJ19a4n1ChVzWXYbU92a5R5r5LUDtEuUBAQROE9B3RY+z9Amp79hHSxe36VMW2bIla09Lgxn+FdDFrS64CT761zUUU3vhpdJ28OBha1Srp+uOQXlMShBSQRKde4Xj77vKyISAT2DR/NWWLftFVqnaI26WWgfoN8e9SYEH3QBS0/BbbrvWlBdlQd/Hp06ZZcqUwT75aKVtWPuDO7/2eDyun8ha9Z/yXt+MtI696tpPP+6xzm+N0mZMCKS4AAHIFD8EIZoBsoVABAjoRLhxnV72xmuDbNsPu1xNGRVLzRU0gMgjj99lt9xWyPbt/d3een2oG/FNy893UgfP9ZtUtAsvyuySKnhNHvNnEFLNDl97o4rt/OlX00W624kfHp6scL+7W+qHpBJMQk1E8hfI7fpqC7fgowqkz5NO+PSaCQEEAiuQUBCy//Am7uLr5YblTSPyfrHyWxv870A2gc1NdKcu6+yXZjWCj9HxOVB/0hoR9+M5K1x3DBqQSiU/WxCydNl7bOXyb8Lu5qLKxoRAbAF146SgnfpYHDGhjb09vpWVKlP8rCNPx07D369V0z9NmlSutZbSbv5mNXu+xmNu0JialTtY6RKNrPqz7Uwjz/v6iUz2DX8lzIRAgAUIQAYYmOQRQCDlBVRzrcRtL1uVcq1t1NBZNn3yQjfpteZpmdbxR07VKX+jZpXcQDY6Ifh0wZfujqQ/gpDvjJxtOqk45b3lqf6Z1E/T7l17/ZFta9LqeevSt74NGdPcNBBFQom2bPuirfhmjH25aZwNHPl6ousltK3mXX9Dftd0JByDj8o/EwIIBFcgfhCy2J2Fbdrc7tbkjedt7ZrvXXBENwaCm6vo21ufrhPsmdItbNH8L6Kv8EEucUrtTk07J77fyeZ82s9GvNvadMNQeVFfsGpNcqYgpFpi6JyAAWckxhQJAvpdWb92i2W9+AIr8b9b7btvt1uTen0T7BMyWOWd++Fy+2b9Nnv48TutVYcaMcHHJnX7xGRB1xzPPtHSPpyx1F17LA7D1kYxheFFxAoQgIzYQ0vBEEAgvoCa6bVrOdxerdPbTXqtefHXO5/3q5ZvcHf/K5dt5ZpEvPJiVzd6te5Cnm8Qcuv3O+3vv4+av4OPalbyfPXHLEOGdK7JePcBDU8LLmogiOp1nrQcOS+2i7NdaI89ebfrU9N3kZIUs4G9p5j6rdGJXVLWZx0EUkCAXYaYgC8Iqf5jlTV9l3JRJYngTfrO9tfNruDlmj0lRUB9YPce/Kp19d6AVNPOa6/Pa3fcXcQ69Khjoya96VpFJBSEHPZOS1NrjPbd69ijpe+yH7ftZsCZpICzTtgIpEmT2rWc8vc59/kALJq/2nJedonrTmrOrGUWO/joS1fn5fob5nfSJ8JzqAkQgAy1I0J+EIh6gfAH8NUUUEl04abaA/Nmf+7uRp5rEDJfgdxWrVYZUx+K/qz5qBOVlxuUt/2/HbAd239Rlk8LQqpptjrj1oiAM6cuto3fbHcnZXnz53IXKUrDbcgDAgggEAABBSHV6T/BxwDgkmRUC7Tp9JILOLZuOtgK5Spv7d94237ds9/U5+f9D91ibTrWcD7xg5A33FTQxs/oYFWql3LnDtMmLXDr8YBAJAgoGH/bnYX9fsP/fG2mTVpo23742Tas+yHB4KPSV0WBzz792lWG0DWI5jEhEEoCCQcgQymH5AUBBBAIcwGdAAzqNcW+27DNleRcgpBbt+y0t5oPNX8GH5UZBRVVM/GBYrWt1H0NbOmirzQ7ThDyjuJFXICyZqX21qh2T3v03vquCbuCAbnz5CAI6cR4QACBQAnoJsc1114Ztv3HBsqFdBE4k4BqNw4a3dwmf9A5wdVUg/HeB26yBfNWma8bmpFD3vcGNvra7p/3ua5kxr49O2ZbXxDyqy82uZuQWrDth13Wtd0Y0zK9ZwpjAbIeI/Dnwb9s8riP/X7OHbODc3yh6wn9vV6V73LXBDuhZCaPn2+q+KB1E1rOPARSWoAAZEofAfaPAAIRL9C6Y00bN7295SuYyzWhVoHPJQipGkD+bgani4aJY+cqS65vmzrVupwWhFS+V33+bZwLDAVCZ05dZAQhHR0PCCAQQAH1H6ua5ZHef2wACUk6ygQUfFR3Kvfcf5PNfn9ZgqVXn6oXXJjJftt3IGa5+oBu/uYLdvDAwOP6KgAAEABJREFUX9a6yRD7/LN1btllubK7rll0zvDUI01NNyRf8Z4vlC7RmL5BnRAPkSSgz7luzvv7nNsfRtMnL3KVAh4pfZc/kiMNBIIuQAAy6OTsEAEEoklAg7uULnevqRP/6/M8Y8UKPe9GrFPg7lyCkIG20x3T+EHIIkUL2J5ffjtt14kFIdV05X+l7jht/TCYQRYRQCAEBXQhSP+xIXhgyFJICviCjw8/dqf77Z7y7vwE86k+7tKlS2uqTaUVFHzsO6yJpUmbxto0/S/4qGUDRjSzZm1e0Es3LZi32p3L6JzBzeABAQSCIqAWUcuXrLWbby1kDZo+62pCLlo9zF5rWTko+2cnCJyvAAHI8xVkez8LkBwCkSOgZoMVnnvIPp79uY0eNssVTCfrahoxzzsvXIKQWS7IZPc/eIur/eAKEeshfhBy6NiW9u7MjvZs1UdMF0GxVuUlAggggAACCARQQL+7qvmo4KP6cbw8d3Z7ulLJBPe499ff7fiJE3b3/Tda2WcesMSCj9pYTa0zZkqvl0wIIJDCAgvnf2GHDx+xxs0r2Zuda7nuEob0m5bCuTqf3bNtNAkQgIymo01ZEUAgqAIlHi5mF2XNEqd5kzJwtiCkaiGouZPWTalJefTVhDx16pQVubGA6aJGeYufp9hByNRpUtuyT9fS+XV8JN4jgAACCCAQYIFOvera3ffdaLNnfmYavOnE8ZNWu3450w3R+LtWX46/7T1g2bJfZN36NrCEaj76trksVzbfS54RQCCFBQ4f+tuOHTvuukFa/MmXnHOn8PFg98kTIACZPC/WRgABBJIskCv3pabmTZdku/C0bRTgi18TUgG+wWNa2DvT2tvTlR46bZtgz1AefUFI7bvozVcnGoRc8dl614ckJ0KSYkIg+QJsgQACCJyvgJpbV3vmLReQaNVksHv++++j1rl33dOCkOpXdcHHq1wQI226NN7zlTSmPiHj56Hyi6WscJH8tunbH+Mv4j0CCKSAwDXXXWWZM2dkYLYUsGeX5y+Q6vyTIAUEEEAgIgT8Xog/fv/TUqXymJo3JVRzUAG+2EHIK67MYeo78bPFX1n/HpP8np/EElRty6HvtLTvdk21rfvet7VbJ1rDZs+51ZXHpAQh1dRcg+QwSIRj4wEBBBBAAIGgCyxd9JWtWb0xZr+L5n9hbVsMdwPgJRSE7NZurH2+dJ2ppYP6guw5qLG1717Hdbmi5tw6F2ja6nn74/eDNmHMRzHp8gIBBFJO4Mabr7aVy9a7Gww6T0+5nLBnBJIvEGIByOQXgC0QQACBUBXY9dOvduzocctz1WX2csPyCWZTJw4fz15hB/44ZCeOn3AXAm2aDU1w3UDMVGB0yJjmdt31+ezTBWtcflUDokr1UjG1JZTHxIKQvgFnGtTqyYlQIA4QaSKAAAIIIHAeAmcKQur3vUm9vq4m1YkTJ10NSP3+z1s20NZvn2SNXn/OtW7o1GaUaWTg88gGmyKQiACzkyvQuE4vq1m5g/vbTO62rI9ASgsQgEzpI8D+EUAgYgUWfrza9vzym6kj+MfL3mNNWj2fYFmvK5LPdv60x1o1HWJtWwwL6glFzbrl7NIcF1vzhv2t8cu9bOXyDa4mhC5K/vj9z5j86n2dal1s6aKv3Lyi3ruvU2Z3tXfea2cVq/zPdu/aG9R8u0zwgAACCCBw/gKkEPECZwpC6vf7xYptrWvb0abBZnQzVDUi/zz4l+k8pl6NbvbxnBURb0QBEUAAAQQCL0AAMvDG7AEBBCJcQLUbV347xn7YO9NNqze+Yy3bvuiaQc2YutiOHDlq6dOns1reYF/Xfg3ijA6tjuFLe4OTP2zeaRPHzg1qDYN8BXLbHcWvt60/7LJlS9a6AGLtqp3spSod7dkn3nD5t1j/fEFIDTKj2Rode8WyDdawdk+9ZToPATZFAAEEEEAgqQJqHq1+oz9c1MeGjG3hbnCWKlM8zvlF/LTOFITUusMHzrASt71sBXOWs/zZn7Qb8j5r1Z9td9q5gNZlQgABBBBA4FwECECeixrbRKIAZULgnAS69KlndRs/bdu27LLvNmyz48dOWLbsF1n1Ok/aiAltbHCfqfbB9KWueXXadGnsmcolbfm6UTZ3aX9TE6dBo5ubx2M2ffLCc9r/+Wx0XZG8dlHWLJYhQ/qYZBRk/OSjla5GY8xM74tnqz5iZZ95wAUp583+3D0z4IwXhv8RQAABBBAIooAv+FjumRJW+Ib89sjjd7nzEJ1PrNs20b75aYr3PGOkTZ/Xw3oNbmw1vOcjxe8t6nJ4tiCkW4kHBBBAIDoEKGUKCBCATAF0dokAApEhUK1WGXvo0dutZ6fx9kzpFvbY/Q2tddPBLninZtfXXZ/X1FF0k7p9rEencfbrnv2uebP6WNQIdup/8Y/9B61r+7Gmi4KUUil4zRX2ZIX7z7j70uXusae8FztaSTU2Vy7/hj4fhcGEAAIIIIBAkAR8wceHH7vTde8Sf7cej8cyZkxvGlzupluvMQUpW3WoYeNndLDv98wwBSjbdKppv+07YBd6b0AmNDBN/DQD+57UEUAAAQSiSYAAZDQdbcqKAAJ+Fbi3xM2mfhKnvDs/Jt3FC9bYD1t22c8791rLVwe6ps1aOKTve3b7dS+4fhYnjfvYpk74xAUrS95V12ZMXqRVgj799OMe+/PgYVcLskr1x87YdGv3rn2WKvU/PxkMOBP0Q8UOEQicACkjgEDYCLRqX93uvu9GWzz/C9N5xabvfrS//z5qY4Z/YB1ajXCtKb76YpO7EXr48BF309NXON0YVdcp6n7lltuutUyZMrhAJUFInxDPCCCAAAKBFvjnajLQeyF9BBBAIAIF8lyVM06pVOOg56BGli9/Lhd8XOS9QNAK/yt1h6nvRw3cMnPqYjfgS9N6fW3cyDmuKbPWSYlp7ZrN9uWq79wFys3FCpn6k1Ltivh50bxrC+e1/fsOuEW7GXDGOfCAAAIIIIBAMAUGe29mlnmwsdWo1N66thtjTz3S1FYt32AVn3/YLs52ob1ap7eVe7iJ3XVDdSt8xdOuH8dXqnWxgb2n2NwPl7uuYvRbrqClL986d+nUq675mmn75vOMAAIIIICAvwUIQP4jyiMCCCBwTgKX585uT1cq6WoRJBR8VKKZMmew+0rcZAWuvkJvU2S678FbbNSkN23Op/1cv1AaOEeBRfU9+cvP+1xTrkdL32UjJ7QxBSNjZ7L+axXtiitz2Pq1W2LP5jUCCCCAAAIIBFHgx227TZNvl+q3uY43wLjKG4RUX49NWj3vW+SetXzOrGXWo8M79nLVzlbqvgZ2yzVV7LrcFVyQssFL3W3U0Fk2ftScmBYbbkMeEIh8AUqIAAIpIEAAMgXQ2SUCCIS+gPpnVL9JevblVq81GIvv/fatP7smTM9Vfdj6DXvttJqPvvX27f3DDh362/c26M+vt3nBjZKp2g2FCl9l6heqWeuq9u6MDq4J+YBeU+z3/QfN4/HY7cWvd31FTXy/k+u8ftbC3q4D+/Vfb3E1NoOeeXaIAAIIIBChAhTLHwIKMp4pCJnYPtSaYda0Jdau5XBXQzKx9ZiPAAIIIICAvwQIQPpLknQQQCBiBBRo7De8qVV/+Qnr2PMV03tNet3kjSqmJtUqrJovqxmTBpQpWOhK69hmZIKDyRS9qaCp36UjR45qs6BOjV5/zipUesgG9Z5qhXKVt4a1eti2H3a5PKhJeOuONU01H9p6L0C2b93tmmOrA/s77i7iOq+//ob8tu7r761ti2Gmixy3IQ+RI0BJEEAAAQTCXkC/z+cShAz7glMABBBAAIGwEiAAGVaHi8xGogBlCj2BXTv32q979ruMFbuzsHXpW99NCjT27vKufTxnhVs29u0P7YsV37qg3cWXXGBNWz0fE5x0K3gfFKx8vsZjtmP7L7b4ky+9c4L3f+YsGa3UE3fb2jXf24Cek9yOVdvhhaffss0bd9gvu3+zsSM+dPM1EM7jDzS0Tm1G2erPv3H9ROm5Xcu3XR9TWt+tyAMCCCCAAAIIhJwAQciQOyRkCAEEEEhQIJpnEoCM5qNP2RFAwB58uJibYlP4TuKXLvrKzdZokYWuu8p6dR7vagu6md4Hraeagd9t2OaCkFflu9z6j2hq0+Z2d82X1edi7yGvWvoM6W3K+I+DXoOw5KO32+W5sscEU71ZNgUlO/SoYxdelNm6tB1tCjz65mtQnbcHzbCnH2/u+onS8+hhs7SYCQEEEEAAAQRCXEDnJXVi9QnZ/M1qcXKsEbDjzIjeN5QcAQQQQCAFBAhApgA6u0QAgdAQ6NqvgQ0b18pNbbvVjpMpncR3azfWfvh+p5uvgWSeqljCNcd2M/59UM3A6s+1d7UbTxw/YenTp3ODuJR7poQ9UPJWO3jgkLV7Y7hNHj//3y2C95QqVSpLlcpj+QvkcjtV8HHw6OZ29bVXutEzfcFHLezSp54bBVuvmRBAAIHAC7AHBBAIhIDOXxSEVAsNDUwzfkYHq/xiKde/89TZXaxK9VKB2C1pIoAAAgggcFYBApBnJWIFBBCIVIHLc2Vzoz+nTp3qtBGqry6Ux9p0qmnZL81q36z7wREUvflqF6TTMjfj3wd15P5ixbamQOSHM5a69dV8uX+PSVbukWYxtQz/XT2gT5flyu5qOWonB7zBT/VRef2NBVx/lqcFH7XSv9O2rT+bx/vfv295QgABBBBAAIEwFVAQUi00vt+0wzQAnVo+3Og9hxk7YjYDyoXpMSXbCCCAQCQIEIBM4aPI7hFAIOUERg553/WFqP4eF85bHScj6gdy50+/WvcO71iNSh1s+dJ1bnliQUgt/HTBl1avRjd7/IFGrhmzmmwrOKllwZhU41K1G5q1qep298lHK+3nXXstU6YM1uKtFxOs+ehW9D7kyHmJpU2XxvuK/xFAAAEEEEAg3AXUQmP+3JV27Ohx1wXM8IEzrG+3CeFeLPKPQNgLUAAEolmAAGQ0H33KjkCUCyya/4U9XLyu3X7dCzZi8EyncXOxQm4gGdUeaPxyL9fno4KIr73S56xBSPUnGb92pEs0CA8KPnbuXddy58lh+fL/0+Rau5098zNTLcg0aVNb2rRpLEuWjJodZ9K29z5wk23d8k9z8zgLeYMAAggggEBkCURNaXROc/ToMSP4GDWHnIIigAACIS2QKqRzR+YQQACBIAroRL1z73rWY2Ajq1arTJw9ny0Iqf6VOnm3ffCR2+JsF4w3CiB26lXX0qVL63aX64pLY5phD+4z1WbPXGonTpy0bNkvslYdatiAEc1MNTm1skboVuAyXfq0Nn3SIs1iQiAIAuwCAQQQQCCQAjqPKXhNHoKPgUQmbQQQQACBZAkQgEwWFysjEEECFCWOgGouKohXqPBVduFFma1x80qmk/fYK8UPQt54yzU2dmpbGzXpTXu9zQuuidO8D1fE3iTgr33BRw2WM3Hcx66pVdaLL7A777khZt9tmhkPB1kAABAASURBVA219yYucMvSp09nj5e9x2bO72lb971v7bq9bBkyprcBPSfb3A+Xx2zDCwQQQAABBBAIX4HRw2bZc0+8QbPr8D2E5BwBBBDwr0AIpEYAMgQOAllAAIGUF2jZrrrlvDyb6xPyyJGjSQpCnjp1yjToi4KAeq0+Jf3djPmZyiVt9uK+rll4fCXtV0FTBR9rV+1km77d7ppbZ86S0Qpec0XM6mpO/nqDfvZ6w/62Ye0PdvTIMbfs8OEjtmb1RmtYq6eN9l6ouJk8IIAAAggggEBECPj7nCQiUFK4EOweAQQQiGYBApDRfPQpOwIIxAh0ajPSHru/oalPyN5d3rWDB/46axDyg+lL7Y/f/7TtW3db9w5jXX+RMQn64YUCifkLXmH5r85t7XvUsbLPPBCTqoKPajp98uRJ69lpnKt9uXXLLpef9OnT2lV5L49Zt95rFW3K7K62/uvvrXSJRlYoV3nLl+0JK3zF0/bUI01Ng+fErMwLBBBAILIFKB0CCCCAAAIIIIBACgikSoF9sksEEEAg5AQ0WqSaWCtjQ/tNs4G9J581CNngpe52U4FK9kCxWjZu5Bxt6pdJgce3utSyz74eYbUbPGVqNp3zskusVfsaphqR2okGm1HT6dRpUlvGjOk1y9au2Wy/7P7NPB6P5S2Qy83Tw2eLv7IcOS+2vsOamJqaa17KTuwdAQQQQAABBBBAAAEEEEAgmgQIQEbT0Y5dVl4jEOUCCsS91rKyC/CpGXV8jqQEIeNv44/3ysvQsS3tqYoPuubRqo05Ycxc1zRcfTs2a/OCC0KOHzXHenQcZ2nTprFHytwVs+ttP+xyr3Plzm75CuR2r9XMesnCNXbNdVcRhHQiPCCAAAIIIIAAAgggEEUCFBWBEBAgABkCB4EsIIBAcAVUq1BNktU0ufmb1WzeZwOsYbPnTstE/CDkqy0q2xvtq9vUOd2sW/8Gp63vjxnd+tW3Alfnttde6W0vVmxr/bpPtJavDnRNw6s/28527thjt9x2rduVgpAdWo+wn7b/4t7r4cdtu10fjxdlzWLXFcmrWW7a9dOvduzYcftt3wHbtXOvm8cDAggggAACCARPgD0hgAACCCAQzQIEIKP56FN2BKJQoMxT99rLDcpbliwZ7a+//jYNHnPBhZmsTqPy1qTV86eJxA5Car2ar5R126pW4mkrn+eMOo0q2E23FrIPZiy1j+ecPpq2+mp8suRr1rzRgJg9zZi8yIYPnBHz/vtNO1y5MmXKYAWvyePmq7/IKtUfsy9WfGsarEaD0rgFPCAQfQKUGAEEEEAAAQQQQAABBFJAgABkCqCzSwSiWyBlS1/y0TtcTcAm9fva9XmesTbNhti+vX+4fhZrvvJkokHI9yZ+YieOn7CN32y3Fo0HuObR/i5JiZK32qFDh23hvNXnnPS367e5gWjSpU9rV+a9zBR87NSrrv3w/U6Cj+esyoYIIIAAAggggAACCCCAAALJF/hvCwKQ/1nwCgEEwlzgf6XuME0JFUN9Pl57fV67PFc2m/fh56aag1pPg8d0azfmjEFIDQpzdaErXT+MgQo+3vPATXZV/lxu4JtlS9Yqa+c0bd2yM6aJdeEi+ax99zoEH89Jko0QQAABBBBAAIEIEaAYCCCAQAgIEIAMgYNAFhBA4PwFKr9Yyrr0qWe3F7/+tMRuLlbI+r/dzCbN6myX5rzY1q7ZHGedyePn29mCkF99ucn1xagBXeJs7Kc3l+a42DJnzmAZM6a3ojdfnaxUFXQdMKKZqZzacNuWXa5puQKu27f+TM1HoTAhgAACKSzA7hFAAAEEEEAAgWgWIAAZzUefsiMQIQIKPjZrXdV+3rXP+nSdEKdUqvmoJsiFCl9lF16U2S7Pnd2yX5o1zjp6k1AQcsSENm7AGW3fo8M7AWl2rX3Hni7JdqHdeEvyApAnT53ybnON+YKv27f9bEeOHLNln64l+Bgb14x3CCCAAAIIIIAAAggggAACKSBAADIF0KN7l5QeAf8K+IKPCi4ePXrstMQbN69kWS+5wL7bsM0blDvq+nqs3aC8abv4K8cPQj74cDE34MzoYbPir+r39wcOHLK//z5qmTJnsEdK35Ws9D/5aKUdPnzE8hXI7bZbMHeVvT1oBsFHp8EDAggggAACCCCAAAIIpIwAe0XgPwECkP9Z8AoBBMJMQEFE1XzMkCGdGyCm8A35rE6jCnFK0e6NEVbyzles1H0NbHCf9+zQn4ddTUhtp+3jrOx9oyDkhLFz7djR4wEdcMa7qzj/f750neuHUjPVlLparTJ6mazpiitzuPU3b9xhPTuOc2V1M3hAAAEEEEAAgegVoOQIIIAAAgiEgAAByBA4CGQBAQSSL3BZruz2VMUStviTL+3+YrWt+nPt7cdtv9gLNR+3hs2ei0lw9669MYG4vt0m2PCBM9x71ZhMKAipAWduvrWQbdn8kwVqwJmYzMV6ocDoquUb7OTJU5YpUwarXb+caQTrWKsk+lI1H9OlS2O7d+1LdB0WIIBAygqwdwQQQAABBBBAAAEEolmAAGQ0H33KjkAYC+z2BhbLP9rMGrzU3Rt422ufLvjS6r7Yxb5dv9VqvvJknCDkv8V0T0kJQn4V4AFnXEYSeHhv4gLbuWOPW6IA65udX0pSELJUmbss68UX2OaNP7pteUAAAQQQQAABBBBAAAEEEEAglASCHIAMpaKTFwQQCEcBDSqj4FxCed+8cYe98dqgZAchX2/zgr3RvrpNndPNuvatb8EacCZ+Gdas3mhq/q2+ILUsb/5c1rl3XatY5X96m+CkWpLP13jMdv30q837cEWC6zATAQQQQAABBBBAAIHgC7BHBBBA4D8BApD/WfAKAQRCXEB9No6b3sGervRQojk9lyDkBRdmspqvlHUDzowYPDPRtIOxYHCfqTZm2AduwBztT8HWjj1fsUmzOtuTFe7XLDepqXi91ypar0GNLVPmjDZ+9Ee2dctOt4wHBBBAAAEEYgR4gQACCCCAAAIIhIAAAcgQOAhkAQEEzi6g4KP6bPx+0w4bOeT9M26QnCDkjCmLXL+LG7/ZHtQ+H89UgC5tR7u+Kg8e+MutljpNaru9+PXWZ+hrtnHXe7Z++yT7esu79lrLypYmbRob1GeKjR81x63LQ2gKkCsEEEAAAQQQQAABBBBAIJoFCEBG89GPrrJT2jAW8AUfNXBMUouRlCCkahGqmfOmb0Mn+OgrX8+O46xWlY722eKv7djR477Zli59WlO+zeOx9Wu3WL0a3Wxov2nGPwQQQAABBBBAAAEEEEAAASfAQwgKEIAMwYNClhBA4D+B+MHHO4oXsQ496vwThPtvtQRfxQ5CVqtV2p6pXPK09VJqwJnTMpLAjM8/W2dVnmpt991ay95qPsymTvjEpk9eaAN7T7GnHmlqZUo0doPvJLApsxBAAAEEEEAAgRQWYPcIIIAAAgj8J0AA8j8LXiGAQIgJ/K/UHVa/SUVTIHHJwjWuJmDq1KmszFP3WXKCkH26TjAN7FLhubh9Rx7683CKDTiTHOrdu/bamOEfWNN6fe3VOr1dnteu2ZycJFgXAQSiVYByI4AAAggggAACCCAQAgIEIEPgIJAFBBBIWODjOStcM+QKpZpZ1Qpvur4fjxw5askNQi5bstbWf73F8lyV02676/qEdxbAuSSNAAIIIIAAAggggAACCCCAQDQLREsAMpqPMWVHIKwFYtf00+Aso4d+YOcShNy39w9Tv4lp06Q2/iGAAAIIIIAAAggggEDEClAwBBAIQQECkCF4UMgSAggkLnCuQcgrrsxhB/44ZF/TdDlxXJYggAACCCDgNwESQgABBBBAAAEE/hMgAPmfBa8QQCBMBJIbhNRANkWKFrDvNmwz9fsYJsUkmwicvwApIIAAAggggAACCCCAAAIhIEAAMgQOAlmIbAFKFxiBhIKQ3Qc0tMxZMsbZ4QMlb7V6rz5tfx362ya9My/OMt4ggAACCCCAAAIIIIAAAggg4C8B0klcgABk4jYsQQCBEBeIH4R8tPRdNnV2V3vhpdKmwGOHHnWs3/CmlilzRhvYe4ppMJoQLxLZQwABBBBAAAEEEDg/AbZGAAEEEAhBAQKQIXhQyBICCCRdIHYQ0uPx2LXX57W3utSyUZPeNDW9Pnr0mHXvMNbGj5qT9ERZEwEEEEDgPAXYHAEEEEAAAQQQQACB/wQIQP5nwSsEEAhTAQUhO7852rZv/dlOnDhpp06dsj9+/9NmTl1szz3R0saNjNLgY5geT7KNAAIIIIAAAggggAACCCAQWQIEIAN8PEkeAQSCIzBm+Af2QLHaVjBHWcuf/Um7qUAla1S7p23euCM4GWAvCCCAAAIIIIAAAgggENUCFB4BBBIXIACZuA1LEEAAAQQQQAABBBBAILwEyC0CCCCAAAIIhKAAAcgQPChkCQEEEEAAgfAWIPcIIIAAAggggAACCCCAwH8CBCD/s+AVApElQGkQQAABBBBAAAEEEEAAAQQQQCDyBcKghAQgw+AgkUUEEEAAAQQQQAABBBBAAIHQFiB3CCCAAAKJCxCATNyGJQgggAACCCCAAALhJUBuEUAAAQQQQAABBEJQgABkCB4UsoQAAgiEtwC5RwABBBBAAAEEEEAAAQQQQOA/AQKQ/1lE1itKgwACCCCAAAIIIIAAAggggAACkS9ACREIAwECkGFwkMgiAggggAACCCCAAAIIhLYAuUMAAQQQQACBxAUIQCZuwxIEEEAAAQQQCC8BcosAAggggAACCCCAAAIhKEAAMgQPCllCILwFyD0CCCCAAAIIIIAAAggggAACCES+QNJLSAAy6VasiQACCCCAAAIIIIAAAggggEBoCZAbBBBAIAwECECGwUEiiwgggAACCCCAAAKhLUDuEEAAAQQQQAABBBIXIACZuA1LEEAAAQTCS4DcIoAAAggggAACCCCAAAIIhKAAAcgQPCjhnSVyjwACCCCAAAIIIIAAAggggAACkS9ACRFIugAByKRbsSYCCCCAAAIIIIAAAgggEFoC5AYBBBBAAIEwECAAGQYHiSwigAACCCCAQGgLkDsEEEAAAQQQQAABBBBIXIAAZOI2LEEAgfASILcIIIAAAggggAACCCCAAAIIIBCCAn4OQIZgCckSAggggAACCCCAAAIIIIAAAgj4WYDkEEAAgaQLEIBMuhVrIoAAAggggAACCCAQWgLkBgEEEEAAAQQQCAMBApBhcJDIIgIIIIBAaAuQOwQQQAABBBBAAAEEEEAAgcQFCEAmbsOS8BIgtwgggAACCCCAAAIIIIAAAgggEPkClDAMBQhAhuFBI8sIIIAAAggggAACCCCAQMoKsHcEEEAAAQSSLkAAMulWrIkAAggggAACCISWALlBAAEEEEAAAQQQQCAMBAhAhsFBIosIIBDaAuQOAQQQQAABBBBAAAEEEEAAAQQSF4iUAGTiJWQJAggggAACCCCAAAIIIIAAAggJZrNuAAAQAElEQVREigDlQACBMBQgABmGB40sI4AAAggggAACCCCQsgLsHQEEEEAAAQQQSLoAAcikW7EmAggggAACoSVAbhBAAAEEEEAAAQQQQACBMBAgABkGB4kshrYAuUMAAQQQQAABBBBAAAEEEEAAgcgXoITnLkAA8tzt2BIBBBBAAAEEEEAAAQQQQCC4AuwNAQQQQCAMBQhAhuFBI8sIIIAAAggggEDKCrB3BBBAAAEEEEAAAQSSLkAAMulWrIkAAgiElgC5QQABBBBAAAEEEEAAAQQQQCAMBAhAnudBYnMEEEAAAQQQQAABBBBAAAEEEIh8AUqIAALnLkAA8tzt2BIBBBBAAAEEEEAAAQSCK8DeEEAAAQQQQCAMBQhAhuFBI8sIIIAAAgikrAB7RwABBBBAAAEEEEAAAQSSLkAAMulWrIlAaAmQGwQQQAABBBBAAAEEEEAAAQQQiHyBCCghAcgIOIgUAQEEEEAAAQQQQAABBBBAILACpI4AAgggcO4CBCDP3Y4tEUAAAQQQQACBoApkzpLRmrauap+sGGwbd71nW/e976Yf9s60tVsn2rszO9rnG0Zbl771LUL/USwEEEAAAQQQQACBMBQgABmGB40sI4AAAikrwN4RQCAlBP5X6g77YGFvq9OwvGXKlN4G9Zlqd91Q3U3DB0y348eO21333GA5L7skJbJ3Xvt8tUVl2/TzNFu/fZKVe6bEeaXFxggggAACCCCAAAKhJ0AAMvSOSdJyxFoIIIAAAgggEDUCD5S81dp1q2158+eyjd9st6oV3rS+3SbY7l173dT5rdHWutkQ27f3D2dyxZU53DMPCCCAAAIIIBABAhQBgQgQIAAZAQeRIiCAAAIIIIBA5ArkK5DbmrWuapflyu4CjH26TrDNG3ecVuAPZyy1D2cutRMnTp62jBkIIHD+AqSAAAIIIIAAAucuQADy3O3YEgEEEEAAAQSCKxCVe3umckm7utCVruxff7nZ5n643L1O6GHurOX26579CS1iHgIIIIAAAggggAACKSZAADLF6NkxAuEqQL4RQAABBIIpcE+JmyxN2tT2999HbeXy9Wfc9bIla23L5p9OW+fmYoVs5MQ2tm7bRNOANZr0WvO0zLeB+l9UP4y+wW00sM2TFe53izWwjW++nrWe1tfC4vcWteXrR7kBcbRMA+Q0aPqstWz7oq38dkzMPheuGmJln3lAm7jJl2b9JhUtbbo0pkF2eg1uHJOOlmtSmr7poyX9Tf1hzvm0n32/Z4Zt2DHFlcu33Pc8bnp7tw896LVvvp7nLRuo2UwIIIAAAggggAACZxTw30ICkP6zJCUEEEAAAQQQQMCvAvc8cJPlyPnPoDKH/jxs3286PbgYf4dVyrU2Tb75qkE5fHwru+/BW2yZN0D5yN31TJNea56WaR2tP33yQqtZqYNt+na73lqqVB7v9M/pYvOG/d2AN9ru1KlTFvuf5lUt38aWL11nWubxeOye+2+0S3NcbJXLtrJqz7S1H77f6fqwfLV5ZfMFPZVmvmxP2KRxH7vkVMZX6/Q2zdOk5Zo6tRlpB/445NbJdulF1qDZs/bJvFX29+EjbkCebVt/ttUrvnX7PnH8hM2atsTaNh/m1tdDk7p9bdI78+zokWO2+vNv7PUG/TSbCQEEEAgPAXKJAAIIRIDAP2eUEVAQioAAAggggAACCESagAJ4mTNncMU6duy4HT70t3ud1IerC+WxOo0qWLbsF9mKZetNwT31H6lJr9es3uiW1XutYkxQ8PPP1tmaLzYluAsNevOFN9B3/NiJ05YrTQX3tCx1mtS26bsfrXGdXq6/yk8XfGnTJi6wI0eOulG67y1x82nbn2nG8IEz7Jfdv7lVPB6PDegx2ZYt/tr2/3bQFHD8ctV3NrDXZNdHpvZ92eWXuP26DbwPyveP23a7NAb2nmIqt3d2sv5nZQQQQAABBBBAAIFzFyAAee52bIkAAgggEFwB9oYAAskUeKrig3ZFnpz2119/29wPlptqGPqS0OvlS9basaPH7fJc2e3hx+70LTrvZwUFf9t3IE46P+/aZwpOqqn1ZZdni7MsOW+UrvrBVK3Le2+uaQVzlrM3mw21RfO/sLVrvndJXXPdVeZrOu5meB8eKHmrC0pqPe9b/kcAAQQQQAABBBAIogAByCBiR8auKAUCCCCAAAIIhIvAjbdeY+o/Us2Xv9+447Rsf/fNNjt06LBb54abC562PBAzPB6PpUodmFPQRfNX21+H/rYLLsxst91Z2Hz/Hnr0dstxWTbTct88nhFAAAEEEEDgbAIsR8B/AoE5+/Nf/kgJAQQQQAABBBCIWoEDBw65wWcEkDZtGsv4b3NsS+K/7JdmPeOav/92MCZ9X1+TZ9wgxBdOm7TQtm7ZZeq78q57i1q+ArldjkuUvNUO/PGnabmbwQMC4SRAXhFAAAEEEIgAAQKQEXAQKQICCCCAAAIIBFYgpVL/fOk616+h9p/lgoxW6Nor9TIgk/pnDEjCQUxUzcqXLFzjmnrnznOplSpzlwtCFrujsH22+GvT8iBmh10hgAACCCCAAAII/CtAAPJfCJ4QQCDkBcggAgggEHUCCpitWr7BTp48ZenTpzP1Y3g2BPV9+MmKwVb+2Qdt76+/u9VTpUplCTV7znrJBZYhQzq3zu5d+9xzuD/Mm/25/bJ7X4yXgpBqhq754V428o8AAggggAACCISrQDIDkOFaTPKNAAIIIIAAAgiEp8B7ExfYzh17XOavvT6fValeyr1O7KFMuXvtz4N/2UcfLLevv9jkagNeeFFmu75o/tM2ubZwXsucOaOp9uOaVd/FLN+z+zc3OE3MjDB6sWb1Rvti5Xd26tQp02A0ZZ66zzas/cE0P4yKQVYRQACBEBAgCwgggID/BAhA+s+SlBBAAAEEEEAAAb8LKHA2tP80O/DHIbvgwkxWt/HT9r9SdyS4n+ZvVrMbbr7aJo+f75obT5u0wH7a8Yur5Vjy0Tssc5aMMdvptWpUpk2Xxn7YvNPmzFoes0wD05w4edI8qTxunzELvC/yXJXTUqdJbR6Px9KmTe2dc/7/+wKeHo/HL2muXvGNHf7riF2UNYtdnju7LZi3ysL2HxlHAAEEEEAAAQQiQIAAZAQcRIqAAAIIIBBYAVJHIKUFxo+aY907jLVf9+y3y3Jlt56DGluPgY2sqDfYqLyp2fWkWZ2tQqWHbOSQmab1NX/zxh02uM9U14/kzcUKWa/Bje3qQnlMr4eNe8MK35Dfdu7YY93aj7WtW3ZqEzetXLbBfv1lv2XKlMEqV3vU7rz7BrevgSNft7vvv9FOeYOTGTKmt/sevMXlRxspoJk3fy4XnFSAsnCRfG5fvmWqgZkuXVq9tYLX5HF5cG+8DyrXsWPHLWOm9PZomeIxaXoXuf8VcFUwUW8uvuQCq1arTJxgqubHnqb9OxiN5m36drvNnLpYL5kQQAABBBBAAAEEUkiAAGQKwbPbZAuwAQIIIIAAAlEtMG7kHHviodds0jvz7PDhI1a2wv02c35P+37PDHuzcy1Tf48vVe5gQ/tNi+Ok2pCa/+mCL634vUVt7mcD7L2PupkChHM/WG71a3a3RfO/iLONal326jLetv2wy66+9kqb8H5Hmzq7q6sNqfROnDhpqVJ57PGy99j0ed3tpbplbf7ng6zMU/e6+Vr20KO329j32rl9Tp/Xw2rUedJU21I7uvX2a+0d77Jyz5TQW1PAUHk4evSYlfhfMVv61dv25ebx1qVPPevSt74pWJoj58Vu3eyXZvWW9yW3P5XHzYz3oL4zNRiNnpVuvMW8RQABBBBAAIHQFiB3EShAADICDypFQgABBBBAAIHIFNi9a681bzTA7ij8ghXMWc7yZXvCCuYoa7dcXdnqVu+aaD+HCihWf7ad3ZD3Wcuf/Uk33VzwzNvMmLzIStz2sltX+7nm8qesaoU3rUeHd6xQrvJu35p/V5EXbfjAGaZnvY89ad6yJWvt4eJ1Y9b3LS9yVUWbPnmh6Z8Chcr/tbkquPV8ZVJZmzfs7+b5tvM9+9LW9olNP/24x2I3LU9sPeYjgEBCAsxDAAEEEEDAfwIEIP1nSUoIIIAAAggggIB/BUjtnATUzPzBR26zJYvWxGlafk6JsRECCCCAAAIIIIDAeQsQgDxvQhJAAIFIF6B8CCCAAAKhLaBm2pt+nmZjp7Z1fUPWrFvOjvx91N4dPTe0M07uEEAAAQQQQACBKBEIlwBklBwOiokAAggggAACCCCQXIErrszh+pfUYDkde75id95dxCaN+5jaj8mFZH0EEEAgNATIBQIIRKAAAcgIPKgUCQEEEEAAAQQQiCaBhfNW2/7fDlqatKntzntusOEDp8eMBB5NDv4tK6khgAACCCCAAAL+EyAA6T9LUkIAAQQQQMC/AqSGAAJJEhgxeKYbiEcD7Nx5fTUbN3JOkrZjJQQQQAABBBBAAIHgCBCADI4zewljAbKOAAIIIIAAAggggAACCCCAAAKRL0AJAydAADJwtqSMAAIIIIAAAggggAACCCCQPAHWRgABBBCIQAECkBF4UCkSAggggAACCCBwfgJsjQACCCCAAAIIIICA/wQIQPrPkpQQQAAB/wqQGgIIIIAAAggggAACCCCAAAIRIEAA8iwHkcUIIIAAAggggAACCCCAAAIIIBD5ApQQAQQCJ0AAMnC2pIwAAggggAACCCCAAALJE2BtBBBAAAEEEIhAAQKQEXhQKRICCCCAAALnJ8DWCCCAAAIIIIAAAggggID/BAhA+s+SlBDwrwCpIYAAAggggAACCCCAAAIIIIBA5AtEQQkJQEbBQaaICCCAAAIIIIAAAggggAACZxZgKQIIIIBA4AQIQAbOlpQRQAABBBBAAAEEkifA2ggggAACCCCAAAIRKEAAMgIPKkVCAAEEzk+ArRFAAAEEEEAAAQQQQAABBBDwnwABSP9Z+jclUkMAAQQQQAABBBBAAAEEEEAAgcgXoIQIRIEAAcgoOMgUEQEEEEAAAQQQQAABBM4swFIEEEAAAQQQCJwAAcjA2ZIyAggggAACCCRPgLURQAABBBBAAAEEEEAgAgUIQEbgQaVICJyfAFsjgAACCCCAAAIIIIAAAggggEDkCwSvhAQgg2fNnhBAAAEEEEAAAQQQQAABBBCIK8A7BBBAIAoECEBGwUGmiAgggAACCCCAAAJnFmApAggggAACCCCAQOAECEAGzpaUEUAAAQSSJ8DaCCCAAAIIIIAAAggggAACEShAADICD+r5FYmtEUAAAQQQQAABBBBAAAEEEEAg8gUoIQLBEyAAGTxr9oQAAggggAACCCCAAAIIxBXgHQIIIIAAAlEgQAAyCg4yRUQAAQQQQACBMwuwFAEEEEAAAQQQQAABBAInQAAycLakjAACyRNgbQQQQAABBBBAAAEEEEAAAQQQiECBeAHICCwhRUIAAQQQQAABBBBAAAEEEEAAgXgCvEUA8/lUJwAAAbRJREFUAQSCJ0AAMnjW7AkBBBBAAAEEEEAAgbgCvEMAAQQQQAABBKJAgABkFBxkiogAAgggcGYBliKAAAIIIIAAAggggAACCAROgABk4GxJOXkCrI0AAggggAACCCCAAAIIIIAAApEvQAmjUIAAZBQedIqMAAIIIIAAAggggAAC0S5A+RFAAAEEEAieAAHI4FmzJwQQQAABBBBAIK4A7xBAAAEEEEAAAQQQiAIBApBRcJApIgIInFmApQgggAACCCCAAAIIIIAAAgggEDiBUAlABq6EpIwAAggggAACCCCAAAIIIIAAAqEiQD4QQCAKBQhARuFBp8gIIIAAAggggAAC0S5A+RFAAAEEEEAAgeAJEIAMnjV7QgABBBBAIK4A7xBAAAEEEEAAAQQQQACBKBAgABkFB5kinlmApQgggAACCCCAAAIIIIAAAgggEPkClDDlBAhAppw9e0YAAQQQQAABBBBAAAEEok2A8iKAAAIIRKEAAcgoPOgUGQEEEEAAAQSiXYDyI4AAAggggAACCCAQPAECkMGzZk8IIIBAXAHeIYAAAggggAACCCCAAAIIIBAFAv8HAAD//3yEXCUAAAAGSURBVAMAx/9iFdl2ZPIAAAAASUVORK5CYII=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3" name="AutoShape 4" descr="data:image/png;base64,iVBORw0KGgoAAAANSUhEUgAABSAAAAMcCAYAAABAfQv9AAAQAElEQVR4AezdCbxM9f/H8c/ca1eSJUQhtNhCf1toJSlatCjSrr0oJZQkpVVatSjttKpIKkoRwk8pJSUVLUopZHev+5/3ydzmzj1z79x7Z+6dc+bl4dyZOed7vsvz+z1nznzmnDNp9ar0yGLCgDHAGGAMMAYYA4wBxgBjgDHAGGAMMAYYA74eA3z2J/7BGGAMlNgYSDP+IYAAAggggAACCCCAQDEJUAwCCCCAAAIIIJB6AgQgU6/PaTECCCCAAAIIIIAAAggggAACCCCAAALFJkAAstioKShSgNcIIIAAAggggAACCCCAAAIIIOB/AVqIAAFIxgACCCCAAAIIIIAAAggg4H8BWogAAggggECJCRCALDF6CkYAAQQQQACB1BOgxQgggAACCCCAAAIIpJ4AAcjU63NajAACCCCAAAIIIIAAAggggAACCCCAQLEJlFgAsthaSEEIIIAAAggggAACCCCAAAIIIFBiAhSMAAIIEIBkDCCAAAIIIIAAAggg4H8BWogAAggggAACCJSYAAHIEqOnYAQQQACB1BOgxQgggAACCCCAAAIIIIBA6gkQgEy9PqfFCCCAAAIIIIAAAggggAACCCCAgP8FaGHSCBCATJquoCIIIIAAAggggAACCCCAgP8EaBECCCCAAAIEIBkDCCCAAAIIIICA/wVoIQIIIIAAAggggAACJSZAALLE6CkYAQRST4AWI4AAAggggAACCCCAAAIIIJB6AqkXgEy9PqbFCCCAAAIIIIAAAggggAACCKSeAC1GAIGkESAAmTRdQUUQQAABBBBAAAEEEPCfAC1CAAEEEEAAAQQIQDIGEEAAAQQQ8L8ALUQAAQQQQAABBBBAAAEESkyAAGSJ0VNw6gnQYgQQQAABBBBAAAEEEEAAAQQQ8L8ALYwUIAAZKcJrBBBAAAEEEEAAAQQQQAAB7wvQAgQQQACBpBEgAJk0XUFFEEAAAQQQQAAB/wnQIgQQQAABBBBAAAEECEAyBhBAAAH/C9BCBBBAAAEEEEAAAQQQQAABBEpMgABksdFTEAIIIIAAAggggAACCCCAAAII+F+AFiKAQKQAAchIEV4jgAACCCCAAAIIIICA9wVoAQIIIIAAAggkjQAByKTpCiqCAAIIIICA/wRoEQIIIIAAAggggAACCCBAAJIxgID/BWghAggggAACCCCAAAIIIIAAAgj4XyBpW0gAMmm7hoohgAACCCCAAAIIIIAAAgh4T4AaI4AAAghEChCAjBThNQIIIIAAAggggID3BWgBAggggAACCCCAQNIIEIBMmq6gIggggID/BGgRAggggAACCCCAAAIIIIAAAgQg/T8GaCECCCCAAAIIIIAAAggggAACCPhfgBYikLQCBCCTtmuoGAIIIIAAAggggAACCHhPgBojgAACCCCAQKQAAchIEV4jgAACCCCAgPcFaAECCCCAAAIIIIAAAggkjQAByKTpCiqCgP8EaBECCCCAAAIIIIAAAggggAACCPhfIL8WEoDMT4jlCCCAAAIIIIAAAggggAACCCS/ADVEAAEEklaAAGTSdg0VQwABBBBAAAEEEPCeADVGAAEEEEAAAQQQiBQgABkpwmsEEEAAAe8L0AIEEEAAAQQQQAABBBBAAIGkESAAmTRd4b+K0CIEEEAAAQQQQAABBBBAAAEEEPC/AC1EID8BApD5CbEcAQQQQAABBBBAAAEEEEh+AWqIAAIIIIBA0goQgEzarqFiCCCAAAIIIOA9AWqMAAIIIIAAAggggAACkQIEICNFeI0AAt4XoAUIIIAAAggggAACCCCAAAIIIJA0AgkLQCZNC6kIAggggAACCCCAAAIIIIAAAggkTICMEUAAgfwECEDmJ8RyBBBAAAEEEEAAAQSSX4AaIoAAAggggAACSStAADJpu4aKIYAAAgh4T4AaI4AAAggggAACCCCAAAIIRAoQgIwU4bX3BZKkBU0PbmA9enayqwb1slFjLrVxLwy11965wz5c9IjNXzreFq94zh57bnCS1NY71WjQqLYdf1IHO/vC4+zW0ZfYw+Ovc1ynzb7PcV34zdM278snnTTeaRU1TbRAhYrlrEu3Nnb6WZ1txF0X2d0PXWkvTb3N3vpwtDNeFix7yuYueYJxk+iOIP+4CWhfeMPI82zKzNGm8fvFjy/YkpUTTI/aBz776nDrcPjBcSuPjBBAAAEEEEAAgaQUoFKeESAA6ZmuoqJeElCAY+LkkU7gsd/lJzqByHYdm9r+B+1rVavtYQqGpJdKt7T0tLg3Sx84X5xyqxPg1IdRfRC97d5LnDLjXlgxZ3jFwNPslbdvtzvuv9yuG3aWnXjqYXbY0S0d1zr77uW0sVy5MpaWFghO8be1EvinsTJkxDn28eePO4GFxd8/b6+/d6d179mxBGqTfEXGMt7bHtrEJn9wj9376AAbdtv51rPXEXZsj/bWuGl9q1u/lu22e3krX76spQe3x7Q0f4ybwvSUXBSQ1RhTEOujTx+1gUN7FyYr1kmggPYJw2+/0Ca8OdLOOLuL1duvljN+A4GAU2ogEHDGdMvWBziBdgXdnQX8QQABBBIoQNYIIIAAAgjkJ+CbT1o620wfLHWG2Zwvxtmib59xzgRQACY06UPVgq+fstmfPWbPTRph513S3S687ATn7JdPlz9rCm7kB8ZyBJJZoNORLWzEnRdak+b7mQKcqquCKzoT8/7Hr3ECdJrHFF1AwaoZ8x/Ktf8I7UdieQzta3RWps581b6mRq2q0QvNY8kNI8+1Xn272B6Vd7NAIOAEyRoesI8NHXGuczafpfA/xnv8Ol9BqmtvPMsJyKanpzljrUrVStb3wuNMX2DEryRyKoqAznp8cuINdsqZR2bvz7/8fIV9/ulyZZtr2r1SBecLsFwLmIEAAggggAACCCCAQDELpBVzeXEv7tyLjre3Z91nE968xfkwrjPMKu1R0cqULZ2rLH2oKl+hrFWusru1OKSRXTOkt/W//gznTIFciZmBQBEEhg963C488zZ7fvw7tmH9piLkVLBVu5/c0faqWSXXSoFAwA5u1chOOKVTrmVemvHQ6Ffs7FNH2MvPz7C/1m5Iwqr/W6XQvkZnZerMV+1rps0aYzorVsHgf1Pl/1cBNp3hp/wiUyuwcPyJh0bOTqnXsY73+XO/sj4nDbfbhz9j3yxdaVlZWSnlFEtjNZY0piLTauxpDGosRi7jdfEK6MzHwTef43zBFAj8e7bjls3b7M1XZ9nrL39k/2zY7FqhMmVLuc5nJgIIIIAAAggggAACxSmQVpyFxbMsfSB6Y8bdds3Q3rZP3b2cszWc/IN/1v31j73xykdOAKhZ3d7WtvH5NujKB+3tN+dGDQaVKp3uXBobXJ3/CMRFQEGPO0c8a69O+MAydmTGJc/8MqlSrVKObSE8falS6VateuXwWZ58rrN9Rt4w3m4c+Kit+f3vuLdB/XbCUdc6+4y3Jn1s69dtjFrGju0Z9tgDr5v2M6FJgWcFSH/9+Y8cga7SZUqZztQeefdFpnuzNW/ZMGq+oQWV99zdubQy9DrycY/g8sh5qfS6IOP999VrbcLT79rAyx6w7775OZWYYmprXmNJl6drLMaUEYkSJnDZ1afY/7U9KMc+/s8/1tm82V/aaxM/sJnT/2eZmTtzlL9zZ5Z9uXhFjnm8QAABBBBAwFcCNAYBBDwj4MkA5KUDTrF7H+lvuhQpEPj3LACJ68B79szFdupxQ23YtY+ZAgmav3nTVps2eZ5df9VD1rPrYFMapdWy0BQIBCwR9+Mz/qW8wKf/+8Y2bCiesyAVfI8GnpGRafqwGm251+ZrO/7x+9UJqXZonzHk6rHOWXMFOYtV+x0FSLt26G/jHn7TlFd4JXVpvO7N9sgz1zu3gQhfFvlc42br1u2Rs7Nfr//7n+znxfFk3ISh5nYJ+oz5D5kuXS+OOoSXUZjxvvKH1bb0yx/Cs/HFc/mrH9z6R/2WXyP/iXL2nNbbsmWbrSvmsaZymf4T0BcWnY9tY/qy9L+5Zlu3bDeNac27bdjTwWOduab+0mt9QfLxh5/b4w+9qZdMhRDQtuO2TWlb0zZXiCx9uwoNQwABBBBAAAEE8hPwXADyqkG97ILLemTf+yjUwKysLFs4b6lde/kDpjNdQvMjH7VMaaZNnpvrTIHItLxGIB4CWzdvsx07MuKRVb55TH5ttuv41/ahe4Rpeb6ZeCjBzp05z/ZJRNVnTl9ka/9cX6isH7z7ZRs9aoLrpZG6VcRlV59qV157WtS8P5rxqX384WLXfZUCRlPfnBt13VRYoPGsfXpkW/Mb75FfQEWu79HXRar2lEmzXceprOZ89LnzxV2RCmDlIgkc3bW11XC5vcbatf/tm/Rlx5ABY63Ngec5Z2W3anS2XX7eXa7vCUWqDCsjgAACCCCAAAIIIFAIAU8FIHWT/DP6drGyZcvkaqouxXzC5WyjXAmDM3SQrjOUln31Y/AV/xGIl0DJ56OzAodf/4R99cX3lpmR6VRo4z9bbEowuND/ontznY3nJOBPngLaX+zcWfh7Bupy7Befm27btuU+k7FcuTJ25jldnfvXRquEzmp6Kbj++nUbnUu6FRD67pufbNTwp517YUZbLxXmM97j18sap/fc+rxzNp3GmIK4us/qc0+8bTdc82j8CiKnQgk0bl4/19mPhcqIlRBAAAEEEEAAAQTiJEA2BRXwTABSl1ufec4x5naTfAUHdKaQLn2MFUBBhWfGTc3z/m6x5kU6BJJJQGcrndHjRmvRoK9zFkz7phc4AQSN+WSqZyrVRV+OLF3i/oWH9mnnX9LDdImlm4n6TT+e0vHgi6x5vT7WYr+z7ORjrjfdn9ItfarNY7zHr8cnvfShdT9ioDPGNNYOb3WJcwZv/Eogp8II6Mdn3M5+LExerIMAAgj4ToAGIYAAAgh4RsAzAcheZ3ex+g32doXVvalmzVzsuiyvmdMmz7PF//vWOasor3QsQwABBIoioCDirPc/dT0LUvnWql0tz7MglYYJAQRSU6DZwQ1y3XYm2SSoDwIIIIAAAggggAAC+Ql4IgBZt34ta9+xmaWnu1f3t9VrTWdA5tdYt+XTpsxzve+VW1rmIYAAAoUV+GTOV7b2jw2uq6elBax1u4OingXpulLOmbxCAAGfClTbq7JVrFjep62jWQgggAACCCCAAAKpIuAe0Uuy1h96WDOrUatK1Fqt+uG3qMvyWzD1jTmm+6nll85t+SlnHmXjXhhqsz97zBaveM6WrJzgTF/8+IItWPaUvT1rjN0+5rJgYKGx2+p5zjv+pA523+NX24xPHnTyUp6h/BeveM7mfDHOXnzrVhtw/Rmmy9PzzCxioS7n6tW3sz323GD7cNEjtujbZ5x6K//F3z9vsxc/7rRL7YtY1fXlYUe1sJNPP9xuGHme3f3QlfbS1NvsrQ9H27wvn3TqPnfJE6b2aGVdZjp6bH/7+PPHTW3SpOdDRpyT5xkeDdBWzgAAEABJREFUugG/PKbNvs/JU+upvpr0XN5qy9inB5nSqiy3SW3v0q2Nc7bZiLsuyre+HQ4/2HFSHVWOypO/yrrn4asK1bdu9dI82dz14JVOn6gMlaVJbXt12u127kXHK5nrVNB2uWYSMVOOMtcYXPjN09ljRHXSa82P1UD1O6ff8fbsq8Od9ml95ROa1N75S8c724z6paBjOqLqSfnyy89X2I/f/xq1btX32tMOO6pl9vKmBzewHj072VWDetmoMZc62+Rr79zh+MlKZtqGs1eI8kSWMtX+SGMpNI5lr21fY1n5aJ9w6+hLnP3BFQNPc3JT+SpLaTW169DUmR/5R5eHPjHxhhxjROlVrtJGtkXj4PX37nT2nQu+fsrUluG3X6ikzn6gf3C/9s7H9zvzlc//vn3aab+2ESXSeCrIdqx1Cjqp7c9NGmGffPWks69SPVRPeeU37mWufd7ZFx5nMn14/HWmvtM2I0/lM27C0BxVyq9N2ma0fqs2B2avJ1/VS5P81Q/ZC8OeqN+UJnxSPdTGGrWqWrcT2luortrmX3l7lGlfqzRu5YZlneup2q73Jb0/6X1KbQ2Vq7GnMah2qBwZ5cogYobyU7oLLzshpu2gdbvGpv5RP4XKdsoNjrOXp46ynr2OiCghfi/Vh9qOtD2pfNmF2q5HbW86XtC4Ou+S7sHjmqquhbc9tInNmP9Q9vZ0x/2X2267uwcg3fpW6yoP18wLMFOWtwePYfLad4yN8p4b2ubd+s3Z5oPHGhq/4dXJbyzKb9K7d4av4vpcY0Z551Vv9ZH6Stun8o33Ps+tYvEaH6G8Q166P7raq20qfNtVu96dc7+F9hnaf0Y7xoi2bajO51/aw3QMon7TtqSxrG1LeevYTfUI1SmWR+Wp44EX3rjFdHyo407lqUn5a7/zxoy7nWNK9WW0PENjLPQeWdT3lchy1K5rhpxpqovqpLqpjprU/vBtWXX4dPmzpn6IzIfXCCDgZwHahgACBRVIK+gKJZG+SfP9rHz5sq5F79ieYatW/u66LNaZ55x2i3OvvOGDHo9pFR2MTZ/3oA2//QJr17GpVa6yu6WXSs9eNxAIOPXdp24N696zoz3y7CDTQZ8OZrITRXkSyvv2+y5zAmlaR20PBALZa6isSntUtCbN9rMLgh/KJk65tUD5T/3oXufA7tDDmlvVantYmbKl/8s7Pc0q77mb066b77gw+wOQDrgiJ32A1oHZw08NslvuvtjOOLuLHdujvTVuWt901qo+MKnu6cE809LSTB+4Hnnmejvm+La2R+XdLBAIOJOe9+rbxQbffE52PUJP9GFR9R3z2ADHo86+ezm2gUAglMTJQ+WoLZ2ObGFK+9RLw3IFZvWBbPIH99i9jw6wYbed73wQjVbfMmVKmT5YPTz+WpOT6hgI/Fum/FVW1+7tnL4dcWc/J2iSXaECPtHBuA7iFcxWIEB5q4xQNmrbAY3r2oDBZ5qslT60TI8FaZf6QevkNUWaawzqx1LC19FrzQ8ZaLxG1kvpNU9t0/Zy7Y19rGXrA5wxp/W1PDSpvUqrbUblv/jWbab1Qsv98rjyx99M96x1a0/p4JhTP2uZPsRMnDzSCbj0u/xEJxCpfc3+B+3r+MlKZmnp0XfhSqN+0RcCMpWtxlIg8O84Vjna9jXeNMZvvPV8pxzNq15jTy2Oy+TWFo2DhgfsY9p3lq9Q1kJtUcBDH0ovCH7grb1PdWe+KlG2bBlnn3TTqAvshFMOs1i347TgfkfrF2TSfuvpl2+y2+69xFoc0sgq7lbe2ccoD9VTXnmNewX1Jrw50hQ0um7YWXbiqYfZYUe3NPWdthn1i/JRfqEplm3Y2WaCfVc67L0mtH5hH9UPk9+/23n/CNVVXzwc2KSeaV+rusZaroIbDz91nfMFlN6X9P6k96nwtgYCAWf/LQeVo/Gp/bvGp1sbFBR65e3bHUsFpWUbbTtQXbUv1vut+kf9FCo7EAiWGxxnBzWtZxpDCjq5lVfYeSpbfu8Gg+bajrQ9qXzHLizTMsH3Wo15jatrhvS2Se/e4ezntH5YshJ/qi/etN/Qe7yOYfLad+g9d/TYq5wvCELBIvWbgkGjgl+cuPWbs82n59x3qW/zG4vy88I+L7ID1b/xHh/aZ7zwxghn2w0dz2ibCt925aVtQPuMK687Pfhl6hDnywaNTc0P1VPvC6FtY3TwC2LVV8vU969Ou8P5olvvTeq3QODf9w+tv3ed6qZ7s+s4KdT3Wi/apHxDDjoe0D5D90BODxsLgUDAOZ5SfjqmfP71W1y3kRzvK7veI7U/K+z7io5Zw+s96Ka+9sb0u4LHrT2cY0nVPRD4t+1Kp/aHb8sXXHqClQ6+h+9dp5oWMyGAAAIIIIBAFIGcR4BREpX07MgDg/D6ZGVlmYKQ4fMS9VwHIDo4u+ra063m3lWzP5Tq/m4Tn33POre70s7vdat9FnFfybJlywQDc+0sr4M05f3w+OssMm+174cVv9rNg59wgqRnnjDM3ps6P0ebdfCowNULr9/sBDyjtV8fupR/teqVs+uutMp/wEVjrG3j8+3Be16xdX/9o9lxnY7o3Mr6XX6SzZ31hc364DOL/KcD0MOOamH6MBNapg+T+jC3b72a2fVVX7/95lyTQ7T6BgIBO6TtgU5AU66h/GJ9TC+VZhcGD2jX/73Rzup5s+M+uP/DtuyrH3PdL1R9e3KvI2zMowOcg+ZYywilSwsGSO5+6Co7uFUju/f2CU4faAx9umBZrrJkdGinZnbZ1aeEVo/ro6wUSI40VyE/r1pjtw17yrG465bnTL+srfmaZKAzlBRM0OvQpA8QT068wfmAokBEaL5+WfeBu15ytpeTOl9n7771SY7xrHT64H7KmUc6Z//ptV+mDes2WejXyd3aVLtOdbfZBZ6nvrz/8WucM4/VP6EMtG2PHfOaY9+sbm/TuF40f1l2ndLS/vuApXX06+nazpRW0ydzvtTsXNPvv/1lF555mzM+lC40xfqljjKsUrWS3X7/ZbZ9+w57ZtzbtnVr7l8Nb9CojnU84mAlT8hUpkxp50udn39aY71PvMlpj4yibfsa93KWd0IqlE+m8g1Zy1/94LaK+i2ULvSofv1s4TduyQs8T2fA3z/uGjvsqJYWPt7UhxpD2s5V3h03P2val4QKCAQCpv27goJ6by2sY6n0dHvwyWvtoOCXX3ePfD57Pxr5Xqxy04MB3GN7tIvbvkX7OX151PeCbqaAhMrQpPfuLz77zvTeKvPLzr3L9EN5mZk7tdiZtF9UAOeFN26x1u3+u1JC6Tq3vcIZf1p36NWPmI4znJUi/rj1rdZVHhFJY3qpQNW9j/R3vkjUe05oJe07dHygfrzqwtH2x5p1oUUm07Ydmjhn+xa2D7MzK+QTlattUdtk+BhUvUtyn5eI8VEQokAgYGecc4wdc1xbG/fwG/luG0cf29oGDD4jGHjrblcOPM0+XbjMTu4yyHnPeHXCB7nuYxwIBJwvVxSwy6tectAxbuR2ov4JjSttKzoeDc9HXwhpGynsMVas7ys9e/13ZrS+fOp9btccZx1r+3vpuRmmfZm2SW3P77+7MNsj8r0zvA08RwABBBBAAIH/BNL+e5q8z/QNabTaZWRk2i8//RFtcVzn3zDyXNPBmQ62Qxnrw8Sbr82yUcOett9Xr7WFnyy1e2593lb/8mcoifMYCEQ/SAsdOHcKBuDC89aKK5b/YldfPMZem/iBXpou4xx42f02bcpcU9nOzF1/dFbJ4OFnO5cX75qV/aCglT50Rea/Yf0me+yB100HUjrAevzB102/hJqxIzN73dCTb79elX3wpQOwfr1HBT+kD7MbBz7qGpwLradvzXUG0IvPTbfrrnjQdD+r0LLwx4q7lbeGB9RxZumsIZ3FUjr4jbIzY9cf1X/9+o2OQ171DQQCdvAhjez0PkfvWtOcD399Thputw9/xr5ZujJXgC87YfDJlEkf25CrxzrlBF/a1DfmOMGa5ct+0sscUyAQsDbtm5iMcyyI4UWLYOBxw7qNdv4Zt5oObtUmjaFbhj5pP7mc2VuqdLodfnQr5wzTUPbz535lF591u91354v23bc/59mu0DpujxrfJ5zSyfkWP3y5xvWom562F5+d7szWNpceDNI6L3b9CQQC9n9tD3ICXrtm2TkXdbcmzffLDh6H5qenp9nKH39ztheN72svf8CWLP4utDj7UR8ij+3e3nSZVfZMjz9Z+cNvtmNHRtRWaBtQexVYuuaS+0zBdo2JqCtEWXDxlSc7/REI/BdQVPD+5Qnv2yP3vebYa1WN63NPvyVqwE9pijqpLQqORX5xEpmvvnz44btf7bzTR1rZcqVNwcDINBr/2p/EY7xH5q3XOzIy7JnHpzr7NO1rNU9GV1ww2r4OfgGh1+FTIBCw1u0bO192hOYr4Nb7xGH26P2TYv4yR8GizsGAk5w+nPFprn17KO94P6quFwQDx089+pb9+vOfhcpel39eN6yvVateOcf6Gm/Pj3/HFDzTdq5x/MJT75j2JdqnhCdODwYFuxzXJtcXOQ+NfsXOPnWEvfz8jKgBOOXT5OD9bFVw2zr9+KE59qMjBo8LBjxzHx+ULVvGunRrk2M/qnwKOimooqsbdCZXIPDftqZ8Fsxbav36jHLeW/V69szFpsDdwuB8BSc1T1MgELCG+9cJBu8uzvEFnJYV93TVoF52Tr/jcn2Z9s+GzfZgsC90fKB+3Bn84lf78fD6BQIBa3TgPtY7GOyKtd/C19dYVHBT+z23wHF4WrfnFyfRPi9Uv0SOD+0zdDyjL/Py2na1Xe4WPLbq1f0GG//IFGc70jGG23Gq6q1+Pem0w+203p3t1hufcvaF2n61zY4Y8oTNn7NUyXJMgUDAeZ9W8DfHgl0vdIw7+OZznC+GA4H/thN9QfH0uKkWGlc6DtXxqI5Ld63qPAQCAWvboWmO/Wy831f2a1TbKUtnXXbp1jbXPeenT1sQ9BhvslBCbc8KmI65/UVbHzyG0zwmBBBAAAEEilHAs0UlfQBSl5noG9CSFlZwSQExHZyF1+XPP9bZ+9MWhs8ynfXws0tQNBBwP0hT3greBAL/HZgpQ32Ae/+dhdkHPJoXmnQg6XbQuUfl3ZwzznTgG0qrg78jOh+S48yU0LK1f663mdMXhV46j5/M+dL+/jv3WZAND9gn+K14DydN6I8+jLz56iy79vIH7btvfg7NzvEY/KxiM4IHbzpQ1gJ9+NNj5JQWbH9omS75cgtA6Fvm+g32zrGqgm46ayrHzOALnRmqOgefZv/XQfSEp991PtQu+2pl9vzwJ5kZO12D2jrwnPDMe6YPY+Hp9VyBkWN7tDeNV72OdVoWDISOvHG886EgfB2VpQ9h4fNCz2vUrGKtWu8feuk8Kv2TYydbn5NuCgaD3dvlJIzyRx88u3Zvl+ugW4Hod976xHSwHVq1VesDnMsoQ69Dj/IO75tatavmCn37zW4AABAASURBVD4qbYUK5Wz/A/fV0+zpx2DwIPtF2JNq1fewRruC0mGzffs0PRjYrVixnNM+feC5/qqHbNxDb2SfZeEsiOFPu05NTWMyPGl6MMhTObh/CJ8Xej7mjon23JPTssupUKFsaFFcHvVhWV+cvD15rkW7BF1nvtxx8zPOtqD9gLZ1t8LLBL+UKOp4d8tX87J2Ztm6vzfqaY5J+42Xn3/fddvXe8JhwS+PFEANraT6PXzvq/Zo8MudLVu2hWbn+yine259IRgM/CPftPFKoECrzr6+7ooHClyu3mcUsHL7knBl8EsGjd3IempfMiP4vhZ5JnAgELDW7RpbvytOyrGK6jfyhvGmfa/eE3Ms3PViyeIVpuDIrpfZD+qHFcvd35eqVa8cDJrsl522ME8uHXCKE3SLXHfTxi025bXZzlgOX6b3y5eDwVSd9RU+X8/3rlM9+KXN8bmCf1pWHJMCyWf07ZLrOCEr+AauKxdU71A9dLyyxx4VQy+zH7Xd7lOvpvM61G+vBL/00PuIMzOGP9rvPfnIZPu7gFdiJNs+T01N9PjQfmncw2+arkrQlQUqM3LSMd74R/8NPIYv03Hqj9+vDp+V/bxUerrzJbe21eyZu54sW/qjuW2Hu+1ewfnSd1eyHA8KPuqLmkAg5zGuzoaeGDymCk+s41HVOXyenms/2/bQxjl+qE37y3i+r6gc3X5AX3Lpefi0Z5VK4S+zn+tLlQfufjn7vaFcufi+d2YXxJMkFaBaCCCAAAIFFUj6AGRBG+SWXveKWbLrB2IK8qgbSl8x8DTnLIluJxya68BcZW1Yt8k5s07Pw6fIMyBDy/RBTd/khl43b9nQORMjMlig5euC36ouWrBMT3NNK5b/EgxMun+wqle/lnOftNBKzQ5uYFWquR88rQ/WXx+KQmn1OG/2Eov8BlrzFRDQ2Vl6Hjmt/GG1rV27PnK283pr8AP43FlLnOf6o4NmPUZO+qD+/Xe/OLM//3S5bdiwyXke+Wfrlu2Rs6K+rhHlx4vU5m+XrYq6XrQF04IBFB00uy3Xj4gc3a2126Ko8zZv3prrQ2ooceQZrqH5pYKBpNr77BV6meNR7XI7UytHoogXGoPHRRvfwT5Y+MnXOdaoXGX3HK+jvVj6xQ/m9sEzc+dO27RpS7TVcszPq605Evr4hYIrbkGxvJqsQEDkcm2/x53YwfShWF9KRC5/IvhBdvGi5c7sWPvYSVyAP7/9utYiA0+h1fWBWPs1vdb+c/u2HXqaY1LwUoGt0MzCjPfQugV9zGvb3zP44fSIzq1yZakfOHPbl+ZKGDZD+9Jffi6+AGSoaPkX9H7Kvc/tanX2rRHKIsfjV198H3Xf9unCb2xjMEiXY4Xgi9LB4HLnY1s777nBlzn+fx98z4t29vDO4D4lR+KwF9ECMwpk64uusKQFeqqzvdp3aub6Jcua3/+26cEv3dwy1PzVq9e6LbLmLRoG37s7uS5L5EztD3r2OsJ0fBJZjs5SizwO0aXj+kIjMq3b62+WrnJuq+C2LNq8j2Z8GnsAclcmybbPK87xoTMHowVstW3sDLvsfxeX8/Db6r+cR7c/+jLGbf6PK1ab23ao9xe3PtAXM/qCRgHEyPzW/PZXrn2E9unhl/eHr1N9rz2d2zyEz9PzeL6vlCtfRlnmmtp2aGz6obQatarmWqbg/Efvf+p8uea2DeVagRkIIIAAAgiksEDSByB1gOT2QTTUZ4G0QI77tITmx/OxSzCopLO53PKMFnSLFjwKBAIWntfRXVvbXjWquGXtBAEVDHRdGJz555p1rpfbKpipswGCSZLyvy5N04ea8MrpLIvF//vWub+l5uubd10WqA9yWqZ527ZtN90b0e2sGi0v6BStj/LKRwfHChC4pdEB+EFN6rstSup5utF8rdrVXOv4W/CDsj4Mhi/8PfihZefOrPBZznMFjD8PBo6dF8E/jz34ur3z1jzbsvnfM8DUjwrGvDXpY+cyyWAS/kcKZGXZjozMyLlxe62zyXXG9fvzH3Z+NEIBpNAHKo1tnakc6q9YC01Eurmzvshxj7lQGQpMavyEXhfno3zy2vabtmhQnNUp8bJ0b+Y2hzYx7fciK6MzpBQUiJwfev3nH+tNX0yFXoc/6v7KR3U9JHxWQp4HAgHTFxyFzfywo1q6BuyU3+8ugRXND01uZ0Bqmc680hlYel6cU6++na3B/nVci/x77T+mL0HCF/4RDLCqj8Pn6bn2HV9/+YOeJs1UUvs8P42PonSmvpjRFzRueej43m3+zihfKOgLiupF+IG0oryvKLh6au+jbMrMe+yFN25x7hWsM8BD9X/7zbnBoPmG0EseEUAAAQQQQCCKQNIHIPWBb/v26PdM06Ui+kW/KO1zZuteMZefd5fph2J0hp0CIc4Clz9apvv83X/ni85lurqX0cGH7O969qNWb9ehqbmdVamzCbTcbdK3uKH5uu+MAoah1+GP/2zYHP4y13NdppKxIzPXfM2oGfyW9vBdZ+Qs+XxF9uUhWhY+Va1WKdfZJjqrQ2c4hKcLPV/vcml2aFmsj7pUWPeh+/OPfwOo+iCjQKsuAw3P45lxU+3oNpdb83p9nJvx/9/+59o5p93iXOKudF26tbF7Hr7KBg07y/TBTfOKY9Ll6TtdAnAqe6/gwXG0s0S1PBknBU3dggiqq9sH5VE3PW1vvT7bCZBre9GkQLECxgocaz1NCtgMGTDW2hx0ntN/6scOzfuZLpXUMgW+FAB7btII048oaR2/T6VKpbmeMRVq98aNW50ge+h1YR/d7h8anpc+lLfr2NSGjDjH3v34vuCHqtF2zZAzbeb0T53+0v1dw9MX93OdjafLbpcGgxn6okBjbNWPv9lD976Svf0Xd51UXl7bftWqlaxVmwOVLCWmAxrva3tGORs6IzPT9P4UDUJfJGmsuy0vV66M8wMobsuSaV69BrWibstu+83wukcLvChNg0a1c70na34ip8ZN65vc3crQ5eS6nDp8mY6LdOlp6D1c2+f6dRvt1YkfZN8rODx9cTxPtn2en8ZHUfpPX8xEO77QcbLb8bOOq6OVuXedatEW5Ts/lvcV3Qok2vGdCtCtZpq3bGgDrj/DXnv3Tntv7gOmq6x+/fkPO+KQS00/UqN0TAgggECCBcgeAc8KpHmh5r+vdr9cSXVX8K5qtT30NM9p1geLTT8Uc+LR1zln2emA2W0F/UjE1ZfcZ0+MnZz9AySV99zdLWlc5uWV99at/545Fq0gXcaqy1ndluvDRKVK/96jScGeOR99bm6Xw+rb5M7dcl42fEjwQ3TlyrvlylZnLc6auTjX/MLM0D0sj/y/y5zgYqtGZ9vFfe+w0OWX0fLTBzMd9L067XZbsOwpu/fRAab7FlYOfggOBALRVov7fF12H+0yUn1D76VLcHQWU9VgEDoa0m+rc1+ipfF0wzWPmoKJzYPBYU0KFCtgHC2f0HxdjnX7mMvs3Tn3mwJfCoC1OKSR6z0lQ+v46VGXzpcqlR61Sb/nsa+LupLLgrffnBPzjfHTg/Wpt18t5/6uL0+9zc6/tIdLjsU/S/usXsffYC32O8vZTxx/+DX21qSPi78iYSXmte2npacHv6gqbanyr2rwfbdMWff26vLNjf/kfZsFndEezUr79GjLkmG+9pu7714halU27zrrO1oCtT1akEOmNaPcOiRafkWdX3Pv6EGdaFd5jB41wULv4c2D7wMdD77IuRdhUetS2PWTaZ/nt/FR2D7Jz6Gw+RZlvfzeV/QeozPtYykjPT3NdPWIAqnPv36L84VehYr/3sM5lvVJgwACCCCAQCoKeCIA+e2yn6LeNywQCFi1vSoXqO904223YJwy+S0YANBZl3oemvIKKOkHW5rV7e2c4RXrY/g3pHnlHSo/2uOfa9ZbtHv7RK4zdsxrNnPGIsuMuBdQuXJlTGeh6Zf/dOB00ZUnW6+zOuf6JWQF3N596xPT2YuReSfytc6Su2bImfbunAecb5svuOwEO6BxXSdgpTrpzAydeadLvxJZj1jzrlixXK5fg4113ZJIpw+6+sCbyLJbt2vsBIvnfDHOHn7qOtMl33vXqW4KfCmYqXui6ReSE1mHZMlbQRt9aeJWH+2Tov0wklv6vOZNmzzPXnjq3Vz318prHS2rUrWSXXXt6Xbr6Ev0kqkAAl7b9gvQNNekzlgOBl1dF8YwU7djiCFZ3klKaGlR95t5BbJLoklFOQ4pifq6lZlM+zy/jQ8371jm5ecw6aUPC3TsrGPsRJ+dr7MkH3tgkkW7d2y0du+2e3nnByDHBL8Y17F0tHTMRwABBBBAINUF0rwA8L/5X9v69e4/SKL6161fM6G/HPlPHpdCp6UVjTCvvNW2vKZqe+1haemxla9AzzWX3GcP3P1SrgMrXTZ8w8jzbP7S8XbltadZ5NknOhB74J6X7caBj+ZVnbgvu/K60+2N6Xc5Z2btXada9i806+xVXZp5+fn32JknDLPl3/zkei/MuFdoV4aBtOhnW27duj3qj+fsWj2pHn5b/ZfldY/V/Cqb13IFj8c+PcjGvTDE+aElXdYfCPxrpzOA9IHxhKOvM41Ltx+kyCtvry7bN7ivCgT+NYhsw/r1G037usj5hX2t2xxcc+n9pm1F20ys+SgwfNQx/2ennHlUrKukTLq8tv1Nm7aaLklNFQxdYp2RWfj7lWp/4FWrou43K1Wu6HwBkyztL8pxSLK0QfVIln2e38aHbAsz5eeQHuPxa2HKLso6r7/8kV15wT32ycdfmr7ojjWvQCBg+sL1/EuS4yqCWOtNOgQQQAABBAoiUNS0sUWvilpKEdfXj2B8+fn3UXNRAK1LtzZRlxd1wbo87ntYfa/KRQp+5pV3Wj7BzYoVy1t6mnsX/vPPZtMvDEa2XZc+d+s0wMY9/Kbp3k6Ry/VaB1y6h9XiRcvtnltfMKXXelpWXNNVg3rZOf2Oy/UDQwqkzJ/zlZ13+kjTpTT51UftyC9NQZdXq1451xmioTy2btlua/9YH3qZ9I8621djJVpFdQZDtGV5zdcZALfec7F1POJgU0ArPK2Cj88+Mc0GXfmg/b46+u0VtI4CHAp06LnXJ90btM4+e7k2IzSuw++h6ZqwgDO1jegy5gvOuM25fFn3qdL2nV82Opvj4FaN8kuWcsvz2vZ1L1u/BHJi6Vhtl9G+vAgEAlaqlPt7UyjvsmXLhJ7meNS2sPqXvPcLOVYogRf57TfT0/Nve1qUL7I0hnTf5uJsVl7HIVWr5n+Lm+Ksa35lJcM+z2/jIz/zaMvzc9Dly9HWLen5OhOyX59Rdsqxg537murKqWj7u/C6li5Tyg4+hPfOcBOeJ0SATBFAAAHPCuR9lJxEzdKPXugm525VUrDj0MOauy2Ky7xvlq40fbh0y2yPyrtZ6/aN3RbFNC+vvHWJW16Z5HUWhT7AzZ/7Va7VdX+3KTNH24WXnWA6e1I3k9dlLeFTiwZ9rVPUALMnAAAQAElEQVTLi61vz+Gm+/rp7MlcGSVwhgI1x3Zvb24fUPXh7I1XPor50tL87sVVmGbkFZRbtfK37HuHFibvklhn1Q+/RS12r5pVYgqw161fy55/fYQNHXmuk/70Pkc7B+GBQO6z/b5f/qs9EQyARy00bEEs95ILS57UT9t1aGJVq1dyreOvP/9pLzz1juuygs7UDfE//+EFC7+MeuEnS23I1WOta4f+1rXjALv39gn21RffR92vBQIBq1W7akGL9n16v237Remwjz/83PWXypVnqVLppvud6rnbpH28fszBbZnOIk+2X1J2q+c3S1dFPfO+Rj73cNStDtzy1Lzvvvkp5vc3pY/HpOBKtC8mdJzR9tAmMRWjW2yMeexqq1GrePcdJbPPy5vET+Mj75bmvTQvh1p7Vy32H1zKq7ZXDDzNPl3+rI2bMDQ7me5Nftuwp6zHkQOd4+JbbxxvC+YttS1bot+jvfpee2avzxMEEEAAAQQQyCngmQCkLtf86P1PLTPiHoZqTiAQMP2i69Fdc/6YipbFY5r1wWfBD1p/u2alH3pp9X8HuC6LnFmhYjl78sUbbezTg7IP0JW3fkE4Mq1e6xdGQ79krdeRU916Nc3tLAoFS+fP+TIyud127yV21XW9bK8aezq/3ql1965dzfRhMFfiEpxRv8HeVjXKD6P8sWadTX1jTonVToG2ferWcC1fZ/bN/zi3u2viJJq5aMEyi3YPzdp1qtsJp3TKt7Y9enZ0frn28KNaWsP961j9hrWd+3S6rfj1Vz8W+wdst3oU5zxt+8cc3y5qUH38o1Pi9uvOugxYwQRdRn36WZ1zNVNnneq+qWf0uNFuuv7xPH+tONfKUWaULl3KylUoa8X6r5gLi/e2n5aWVmwtKFcu/n2jL6YU2HZ7T9ZZQHXr14zaPi2Ldgn2zyvX2NxZS6KumywL5s3+wqLdx1L7zbrBL2Wi1VXL3ZbpC7ZP5nzltiih8xYEv6xct26jaxk6AzKWL3h1y4aWwWOhNsEvZP+v7YGueUXOzO9M0cj00V4n4z7PT+Mjmnss83UsqnHtlrZa9crWvlNTt0W55ulHCF975w4bcWc/50vOXAniMOOXn9ZYRkamtfy//U1X4URmqX3eS8/NsAvOuNUuP/duU+A+Mg2vEUAAAQQQQCBvgeL7BJR3PWJaetuwp21h8JtHXaIVuYLOKDjnouMTcmCiSzHmz13qGvzUD0p07tbadHAUWafI1zeMPNf0C9ONDtjH6tX/98OZ8p42ZZ7rmUh5BTebt2xo+uXayDL0+ttlq0wBDT0PTa3aHGg6iyH8gF9nGPY840ibOHmkLVk5IXtavOI5536Quiekpmmz77NnXx1u5/TL6RvKO96PdYM2CmjEO99Y8ytTprQTRHNL3/GIg6P+6NF33/xsE555z221pJ43+bXZ9sXi71zrWD4YVDruxA55blcai91P7ugEtfWDMhrTe9ep5pqf32ampQWsbDn3S0nD26ptf/+D9g2f5TzX2V4Tn3nXXn5+hvM6Hn901qjy0Q9LXHTFidbpyBZ66Tq9NeljZ58auXDnziz7YcWvkbOjvtbZbFWq7B51uVcW5LXtdwnu5/equadrU5Yu+dF129+0aatlZux0Xaf6XpXz3K7cVtptt/JWc++qbovynLdH5YoFLivPDHctfOnZ6VHHyYFN6kU9u6lV6wNc66PtYeqbc0yXbu4qImkf9KWobpmgbSWyknkFVo4/qUPwC8gqkas4Z1N+Gvwy6LWJH+RalugZase82UvMrS2xHOPoC5bTeh/l3DJF+YR/Sagv5nbsyHBtQmEuwdXtIXQsE55hMu7z/DQ+wq0L+lxjQT8W6HbcHsvxhcrT+Bp88znW6MB9rEnz/ax6gs4wzAjuq7OyspwvCs/o28XcvsBTfTTpy5cPZ3wa3L/nvg/uTyt/VxImBBBAwJcCNAqBogqkFTWD4lxf3z7eeO1jNn/OV87BemTZLQ5pZI88PSjPYGCNWlVNgYD0Uunm9q9ChXJus+2Om59xPqjr4CQygc6IG3LLucEPFe4fDHXwdMvdF1u3Hofaxn82O/dfDL88etxDb5gOZiLzzuvAv1ffzq7l6eymh+991WQVXk/dl3D79ozwWVGfy0Z1Dk119t3LWgY/MA68obfzozA9ex0RdV23BYFgkEYfGtyWuc1T4GPbth1ui5wPOJEfPirvuZupDLcVKgQDaG7z85on967d25kCa+HpFGRW2xVsCZ+v59HctUxnhkULqOqDqpyVLtYpv6BXtDaXLVvaGfuR5WisPPP41Kj3Y5SDLud1q6e2J50poA+S+gGVsWNec7LXWUyR49lZEPzjFpxUsCy4KNd/9WteYyfaWWRaT+MiV4aFmNG+UzOLdraWthXdK9HNRkVpfmjbDw/+a5l+3OmeW5+3B+95RS+jTnmNn9p1qkcN8ihD9c/w2y8wjVu9dpsqVCyfa/Yfa/6296ctzDVf26ZbkEJB2KKeSR1t3OaqRMSMaOtFG+9a3W0Mar62fbcvlLTtdzvhUOeDqdKFT9r2tQ/XdhQ+X8/1wVu3ZdDzyKla9cqmPCPnn3dJd2vavEHkbOd1xWAA8pL+Pa3PecfmCuDpPUX3ZXQSRvypWm0PO7LLIRFzc7+Mdqakxv9+jWrnWkGXJ04MfunidnsU3e/0tD65f8hIAfHDj25p2o+FZ6gzKd+b+ok9OXZy+OyYnqt+MSWMSBQIvjdFzCrQS91KYnnwC7/IfV20wEqFiuXspNMON7f93fJlP9mYOyYWqHwl3mOP3XKNBc0v6KS26PJvt/V0jHPTqAtcj63UpmG3nW8KOKsNj9z373tAKJ+P87hUX182Rr6faz3dyqPOvtX1NNekKziuvbGPKZCba2FwRjLt82S6vBjGh/ogcnsKUjj/9R6p2+04LyL+RL4nhS+Otm3o/Tjasmj71btuec6WB8d3eP6h5zq+0PhRG0Lzwh/Vn/c8fJXpVkerf/nT7r/rpQJ9QRHt/SG8DLfn2kb7D+plF115sttiZ57yDqSlOc9Df3S2pwKTodcJeiRbBBBAAAEEPCuQ853TA83Qh73+F91r+tCz8Z8tOWocCARMZ/o9/fJNNvKei50z/pRABzbdTmhvt4+5zF59e5TzQSwt7IOHPjwoGDDpxZmmX43VOpGTPlwqCLlo/rJcwc9AIOCU9fLU20wHUqEDah049bv8ROcMw5NOO8z+Wrve7hjxbK6znZT31ZfcZ9PfXpDr21Qd+D/45HXZHzj1IX/02P5OMDP84FFt0OUgI4Y8aTqbIbL+OqPknbc+sW3btkcuivl1IBAwBZquvfGsHN8Mq079rz8j6odmBezOvai7XTOktx12VIt8y5s5fVHUA0x9+Lh84GnWul1jJwCrDyonBT/QRfuxmXYdmtq5hTgzVgfSCrrpsjJV+Oiure2O+y93voHX6/BJY0dBXzf3Lt3a2Dn9jrPKe+4evkr28/r71bK7H7oq11lq+nCly4CyE4Y9UdDr5NMPzzHGtVhBksuvOdUUMNPryEnrnXrmUc69AdVnFvZPdb8veGCv7StstvNU46zzsa3tudduNgW+tT3VCAbyNbaffnmY0xc6c0fbh8ayVlow76uolyeqXcNvv9DpP/XjuBeGmu4FtcXlnkoaOycF26qghfINTar/9cPPdi77Ds0Lf9R6F11xkg0c2tv1Q3N42mjPVcbZFx5n197Qx6pVj/5DDPoA9Ujwiw/1WSgvjXPtC6Z+dG8w4HBYjh8t0i0S9Oua+pVNXc4VWsftMb/xoy8HRo+9Krtf3PJQX90UDB7oTOfe53Z13JVO+6nRwX1J+445L4FTH742caYpoKV04dPsDxbb339tCJ/lPNf+9Jjj2jof1jQ+nJlhf1QHBUGPOb5tDouwJMF9Q0u784ErrEfPTtl1DF8e+bwo4z0yr/DX2ueOfmSAaZvXfPVrtG1fH4h1Zr62H6V1mz6c/qm5jW19wNW9eM84u4uzmsb4ExNvsO4ndbTl3/zkzHP7oz4ffPPZNnPhWMcqPM0ns7+0jB2Z4bOc5ypL+8FQm5yZYX801rVNHtA491m6SqbtSYFPt+1JZ+/qfS1y36Fgrtqm4IHy17hQ4HSoy5d1el96/aUP7YZrHlVxOSat1y34/n1an6NNgb0cC3e9aLT/Pnb/uGtc96PRLgfWZeKn9z7aFMxS/XZlFePDv8kUgL3+qofM7bhAX4g+Fdw/avwotfr3gScGmgIpgUBAs5xJ7906a1w/yqX8nJm7/qjtJ556mJ15zjFR235gk7r2/KQRziWj2u/sWrXADyr7jpufte++/dn1GEfHVmOfvt6039f2rLrp/UBXR+gseX05ofWVT3jh2p/oh2HcxqXez+UfGpeyeil4HKX+XB3lh4gCgYAT7NQ2OWP+Q86xV3h5eq76lfQ+T/WQRSLHh8rQflzvNTpm0evISe9dV157evb+LLRc1novDr0Of9S2of2Q7hmufg4tU1kdDz/Y9YsYpVF+9z1+da7tUA4aG25jS8cXqosur9YxYmhb1P5d+5vnJ91sHYJlanzdOPCxHMe36ud4v6+oHaFJX2xcMfBUe/P9u+3iq07OPpZQHWWuKz/03hdKr/f26W/Pt9dK4CzmUB14RAABBBBAINkFPBeAFKgOaG8f/oxd3Pd20z0UIz/cVa6ye/BD/+GmD3NLVk5wLie+68ErrXvPjqZlykMH/TprY+6sL2zIgLF2eKtLbPj14yzyQ5TShiYdRF1+/t323JPTzC3gpcvAdclGqNwZnzzofCiovU/14EHT58H63mG65DGUX/ij2jTwsvvtlqFP2k8r12R/AAgEArZP3b1scPADpy6HVhAh8kO87kOlD2+9ut8QLGdxeLY5nj8QDDA9M+7tqIGhHInzeKEPs+df0sM5Q1A3f1ed9EFa34xHW00Hxzqz5+GnBlm0Dw2hdWWhgJ5+sTc0L/QYCARMB7njX7rRps97wA5u1ch0YPvWG3Ncg6vq74HBAJLs3phxdyibPB81NnSWV/0Ge9vNd1xoGkM6qNYZHoFAzg+OS7/8wa697AF7/eWPcuSpA3W1895HB5iCbOEHqeEJFRTUh8b7H7/GrggGVrVMN0DXhyuVr9du0x6VdzMFXh955npnPfWD2qcggZa5raN56iN9oH0yGOhQoEfzQpPG5sV97zBdRq2AQGi+HgOBgHP25I23nu9sT6GxrcDqi8++Z9outH0orSZdfvbSc9NNl1TqdfhUtmwZO7X3UaY8Hnl2kOn+XQMuvs8+X7Q8e9xb2L/GTevb2GCAT/2gdspn4uSRdtb5xzpnxIYlzfFUfX/uxd3tseeHuH5ItSj/Qn2ncX3dsLOcdgcC//V75Gr6AKUP5+oz1VGTxrn2BdWqV3YuTdc6+sJkVjCAJ+N+fUblec/HUB3yGz+BQMAOaFzX1C8KwKicjIxMx1HjOPShX+NMH5qGjDjHcVcdnwiOgfB9idJrNIshzwAAEABJREFU33Nn8EuSRyLOYlK+mhRoey344cqtX+V95bWnOeND+WtSX2mcTQ5+gFPf5TWm9UH3uBMPtVFjLrVps8Y441pluk3Kq6jjXfmqzV9/+aONHjXB1Ha9DgQCzgfN+4IfpNUG9Wvktp8ZNFYQ+drLHzB9YaK8ok36caFpb851vc2Ggok3jDzPVM6DweBU1s4sUyAqcvuLlnfk/McefN0WBIP/akf4skAg4ARtQm1SefqxBe1z1Eca69omFWgMXy/8ud7fom1P2nf0Oflm03YfXndt6127tzPlP3/peNP7mNocyldnPcp/6NWP2IghT4RmZz9qO5j8wT2m92/t9wOBQPay8Cely5Qy3fNUwU6NNy3T+FDf7Vuvpl66Thqz5/Q73p4Mbguh9VwT5jFT+73zeo20++58Mfgl44bslIFAwPmCRHWQ99jgPkzt0f5CidRH2veNe+gN63PSTaZ8ND80Ka3ari/CmrVokL0fCS0PPQYCAeeLMQUGtd/RthFaVtBHXYmhurweDAZrfxW5/t51qjnHNNp3qz+136nXoJa9G/xy85Kz73Su5IhcR691Zvzc2UtM/a3XoSkQyDkuR9zVz75f/ovzfhKZNrSO22Oy7fPC66h+TcT4UBka49qPKxCmbU3zIqdAIGAaP3c/dGX2PlXraVzmtW2or68efKbpiz7lqXGlsg5zOXtZyzWpDkcHv6wdGxzrSq95oUljS2Nk6utzcl2hEwgETPsFHSNqX6HtRXXU/kZBQP0Ipcal8gjlp+013u8rO3futJ3BfbC2TQUTVVYgELD9GtZ27FQn1U111Pu73rOURpO+iH7o3leczxF6zYQAAggggAAC7gKFDkC6Z1e8c3XWwOXn3W09jrzW7r19gukDoS5BU0BSBxCh2uhAVj+yoeCi0ox7+E3rfeJN1vHgi5yg4NRg8CqUNr/HzZu22t0jn7euHfvbPbe+YIuDQRMFI7dHXDKsD+i6D8yk4IF8r+NvsMvPuyvXBwy3spT+uMMGOEHR999d6ARElVd4WpWlMlW22t2z62DnoEd1C0/n9vztYFt1OcxHUe5d47aO27waNavk+kbdLV1h5ynQcfapt9jk12Y5P5KhPlRe6lf1pS5tHDHkSZOtDkoVXL131ETn7I1wL6237u+NTj+98sL7yiLfSfkrCKMP0xpPCjaEVgrlp3Gks3VC5YeWe/1RH5auueQ+x/Xpx95yxuymjVtyfHCUh34MSGP1rJNvstuDXwa4jT1dWjzgojH22cJvTHmo7+QTMlSg89Kz73LGurZNndn86oQPTHmrDKXVpPGu5doe3ps6X7OSftIY1BcDuqRRH84H93/Y2je9wNkPaLwmsgG//PSHcyP9lT/85gQ2nhg72bS9aJ8hy/Cy9VpjXF/EaHvSvkf9Gp4m8nm0flU69ZvKUXkTg4Hp++98SbOTbgoEAqbt/PWXPrRzT7/FNNbV9hHBfYosZKI+DK+4Xmscqj/79bnd+uUTRA5fV19uaZKLyg1tC3pUoEf7k4HBLzKUp7bBnZk7TZbarlTmt1+vct7fpkyabfcHA10aT71PHGZ6HV6O0ivArWCYzohX/4YvD7VB5T04+mV7Jbi9hS8vynPVU8FT7RN1GfVXS743XY6o7T2Ur9qr92e9N7416WPTWcCnHz/UvLJdh9rh9jj+kSnWrdMA06/khsaQm7/Glpbrl3WPP/wa0/bkll9JzdMY0lg9qcsg0/uq+lH7Mo3HUJ3Up3pfDe3D1e/q/9DyyEflqWOg++6YGPU9OpTXkOAXwkqvbUB+ev7zqjWmbWDW+5/Zm6/Oco7BVGafk4Y7Z2p7YZ/nl/ER2bcFea0xMuTqsXbC0deZ3pfcxpazj9i8zTn2eOrRKU5aHWtpHBSkrMKk/XPNOtu0aYvzRcLVl97nHOPr+EXbrPad4Xlqe9B7nY7D9VlA2776ODwNzxHwowBtQgABBIoq4OkAZKjxOqh56tG3nA+ERxxyqbU58DxrXq+PNavb25la7HeWtTnoPOvc7konjQ6q9UEwtH5hHnUw9My4qda353Dr1PJiO2T/c5yyQmW2PuBcO+6wq234oMedA6mClqGgqII3qrPyCuWrR5WlMlW22q3255d/73O72tuzxthr795pOqPi8M6tTPcF0gF928bn56i7yjjzhGHOQf43S1c6Z1NF5q/L63RPMLVP6QsydW57hfOhITLPyNdqlw481afqQ5WhflVfqn46Eyt8nQlPv2snBz80hXtpvU4tLnL6SWcihafP67mCAvqA45TdoG+2Tyg/BQoiP/yH56fLV9VO1TmWqVWjs+2h0a84WfTrPSq7vPzWDa1X0H5Qn+dVfwVBdFbYSZ2vs3ZNLjC1O1SXFkGPo1pfFtPY1qV3Z586wslDfac8lJf6RIHO8GCctimdAay8VYbSatJ413ag7UH5FcRH66sf1B8Obgx/lFbraN3CThqDHZr3s5OPud50lpy25xiKzk5SmDrIRRmoX9W/PY4caDpDVwErbS/aZ8gyvE16rTF+cd87LHJ7Ul7RJvVDZL8qX/WbylF5o4Y97QQ+Q/XR8lin0LiOVn5Rx/uFZ97mvCco0KJxFypHBrKQifowvL56rXGo/gwft6F183uUg1y0/wptC3pUYFr7EwXYQ3moDrJUP6rMU44d7Lx36UxBfXDXeNI2Gkof+agPwup/9a9bG1Re6L1D4yY8TX7PtW1ofEaWGXqteikAekb3G+3QZhfm2HeovXp/1nujAhH6oim0ntujylF5+dUptFxeclZe2neF5uf3GL6e1i3spLGk2yqo/zSG3Pw1X8uVTumjlVXQtofaqG0jWp4Fma/3X31Zq37UvkzjMVRGtH14fvk//fjUqO/Rke8HPbte7xxXqW8U3NE2oDPtbxz4qD37xNumLwhVR5WpPlc6jflk2OepTm6T+lv9rv7XOCjk+MjOuiBjPHyfWpD1QuNJj6H+j+VR6bMrGvFE/ab3Jbex5ewjgsfrquO9t090voSPWN15GerzWOoSShNu4GQS8Se0zalv9CW9jvH1PqfX2v+H8tGjtge91+k4XOnUtxHZ8RIBBBBAAAEEXAR8EYB0aRezwgSuGtTLrhl6pu1Tt4aFLv/SYp2Fcu/tE3JdDqNlCtDqIF8HX8u+WqlZuaZy5cvkmscMBBBAwN8CtA4BBBBAAAEEEEAAAQQQQKCgAgQgCyrmsfS679vxJ3ZwvWn40iU/5Ht2pr7V/XbZKtdW6/IT1wWJnkn+CCCAAAIIIIAAAggggAACCCDgfwFa6BsBApC+6Ur3htStX9N0E2+3pZs3b3ObnWue24+a6IcGdHl2rsTMQAABBBBAAAEEEEAAAV8J0BgEEEAAAQSKKkAAsqiCSb5+6KbabtWsFwxOus0Pn6df+dOvE4bP0/PVv6y16dMW6qnvpkAgYKVKsWn4rmNpEAIIIOBtAWqPAAIIIIAAAggggIBnBYiyeLbrYqu4bqr9y6o1rombHLyfXTOkt+uy0MxL+/e0uvVqhl46j/pl0+eenGYrf1jtvPbqnypVK7lWvWy5MnZI24NclzEz1QVoPwIIIIAAAggggAACCCCAAAIIFFTAewHIgraQ9PbE2MmuvyRYtmwZO/vCbjbhzZF24qmHmc52FFeNWlWt97ldbeLkkdb3gm5WukwpzXamP/9YZ/ff9aK9/PwM57XX/qiNXbq1sVtHX2Jt2jd2rX5aWsCOO+FQe/rlm+zCy06wtoc2cU3HTAQQQAABBBBAAAEEEEAAgQQKkDUCCPhGgACkb7oyekNmz1xs11x6v33y8Ze2Y3tGjoTppdKtWYsGTkBu/tLxtmTlBJvxyYM2ZMQ5ph+w0XKtsGXLNps2eZ6d0WOYvfScN4OPCiRO/uAeu/fRATkCrmpf5KSg6yFtD7T+159hT0y8wUbcdVFkEl4jgAACCCCAAAIpIUAjEUAAAQQQQACBogoQgCyqoEfW/+Kz76xfn1F22nFD7Mmxk23J4hW29s/1psBiVlZWjlboteZruYKW99z6gh1xyKU26MoHXc+kzLEyLxBAAAEEEiFAnggggAACCCCAAAIIIICAZwUIQHq26wpX8RXLf7H77nzRep84zAkqtjnwPGter481q9s7e9JrzVfQUUHLZ8ZNtc2bthauwCRaS/fD7Nz2iux2hrc5v+fDBz1uZknUGKqCAAIIIIAAAggggAACCCCAAAIJEiDbeAsQgIy3KPkhgAACCCCAAAIIIIAAAggUXYAcEEAAAQR8I0AA0jddSUMQQAABBBBAAIH4C5AjAggggAACCCCAAAJFFSAAWVRB1kcAAQQSL0AJCCCAAAIIIIAAAggggAACCHhWgABkzF1HQgQQQAABBBBAAAEEEEAAAQQQ8L8ALUQAgXgLEICMtyj5IYAAAggggAACCCCAQNEFyAEBBBBAAAEEfCNAANI3XUlDEEAAAQQQiL8AOSKAAAIIIIAAAggggAACRRUgAFlUQdZHIPEClIAAAggggAACCCCAAAIIIIAAAv4X8G0LCUD6tmtpGAIIIIAAAggggAACCCCAQMEFWAMBBBBAIN4CBCDjLUp+CCCAAAIIIIAAAkUXIAcEEEAAAQQQQAAB3wgQgPRNV9IQBBBAIP4C5IgAAggggAACCCCAAAIIIIBAUQUIQBZVMPHrUwICCCCAAAIIIIAAAggggAACCPhfgBYi4FsBApC+7VoahgACCCCAAAIIIIAAAgUXYA0EEEAAAQQQiLcAAch4i5IfAggggAACCBRdgBwQQAABBBBAAAEEEEDANwIEIH3TlTQEgfgLkCMCCCCAAAIIIIAAAggggAACCPhfINEtJACZaGHyRwABBBBAAAEEEEAAAQQQQCB/AVIggAACvhUgAOnbrqVhCCCAAAIIIIAAAgUXYA0EEEAAAQQQQACBeAsQgIy3KPkhgAACCBRdgBwQQAABBBBAAAEEEEAAAQR8I0AA0jddGf+GkCMCCCCAAAIIIIAAAggggAACCPhfgBYikGgBApCJFiZ/BBBAAAEEEEAAAQQQQCB/AVIggAACCCDgWwECkL7tWhqGAAIIIIAAAgUXYA0EEEAAAQQQQAABBBCItwAByHiLkh8CCBRdgBwQQAABBBBAAAEEEEAAAQQQQMA3AlEDkL5pIQ1BAAEEEEAAAQQQQAABBBBAAIGoAixAAAEEEi1AADLRwuSPAAIIIIAAAggggED+AqRAAAEEEEAAAQR8K0AA0rddS8MQQAABBAouwBoIIIAAAggggAACCCCAAALxFiAAGW9R8iu6ADkggAACCCCAAAIIIIAAAggggID/BWhhyggQgEyZrqahCCCAAAIIIIAAAggggEBuAeYggAACCCCQaAECkIkWJn8EEEAAAQQQQCB/AVIggAACCCCAAAIIIOBbAQKQvu1aGoYAAgUXYA0EEEAAAQQQQAABBBBAAAEEEIi3QPIFIOPdQvJDAAEEEEAAAQQQQAABBBBAAIHkE0PZ4R8AABAASURBVKBGCCCQMgIEIFOmq2koAggggAACCCCAAAK5BZiDAAIIIIAAAggkWoAAZKKFyR8BBBBAAIH8BUiBAAIIIIAAAggggAACCPhWgACkb7s29oa1btfY3nz/bluycoK9PWuM1a1fK9fKl/TvaYu+fcZJo3TRphnzH7K2hzbJtb43ZlBLBBBAAAEEEEAAAQQQQAABBBDwvwAtLG4BApDFLZ5E5SlQOPKei23MYwNsv4a1nZpt355hK39Y7TwP/1OlWiUrVbpU+CyeI4AAAggggAACCCCAAAKFF2BNBBBAAIGUESAAmTJd/V9DR9x1kXMm4xMTb7CTTjvc9qi8238LozyrUKGcpaUFoixlNgIIIIAAAgh4VYB6I4AAAggggAACCCCQaAECkIkWTsL8hw963JrV7e1Mk176MKYa1qhVxX5fvdbOOe0WZ73Q+pGPndteYfPnfhVTniRCAIFsAZ4ggAACCCCAAAIIIIAAAggg4FsBApDZXcuTvASq77Wnbdy41T5dsCyvZCxDAAEEEEAAAQQQQAABBBBAIMkFqB4CCBS3AAHI4hb3YHlND25g5cuXtT/W/J3Q2rdqfaAxYcAYYAwwBhgDjAHGAGMgRcYAx34c+zIGGAOMAcYAYyCuYyChQZsiZk4AsoiAqbB61ep7WLnyZWzblu1276MD7OPPH7cvfnzBuY/k4hXP2QcLx9qIO/tZjVpVU4GDNiKAAAK+EqAxCCCAAAIIIIAAAggggECiBQhAJlrYB/lXqbK7cwbk4Z1bWZdubZwfrQkE/v1BmvRS6VZ9r8rW84wjbfyLN1inI1sUusWfLlxmKTrRbvqeMcAYYAwwBhgDjAHGAGOAMcAYYAwwBhgD/h8DCe3jQgdkimFFApDFgOz1IqpVr2w7dmTYovnLbHD/h50foTm/163Oj81kZu7Mbt6+9Wpa/0G9rG79WtnzeIIAAggggAACCCCAAAIIJJcAtUEAAQQQKG4BApDFLe7B8sY9/KZ1aN7Pzj39Fpv6xhynBQs/WWpXXTja/jf/a+d16E+9BrWsS7fWoZc8IoAAAggggAAC7gLMRQABBBBAAAEEEEgZAQKQKdPV8W/o5k1bbc5Hn9vWrduzMy9btoztU69m9mueIIBAcgtQOwQQQAABBBBAAAEEEEAAAQQSLUAAMtHC+edfIimaHtzAzruku7Xr0DRH+XX2rW6333eZHXZUbPdy/HPNetsZdhl2jsx4gQACCCCAAAIIIIAAAggggAACIQEeEUhZAQKQKdj1I+66yCZOHmnXDOlte9eplkNAZzB2P7mjPfzUIBs3Yag1b9nQJr17p33x4wu2YNlTNvz2C3Ok32338hZI+/cHabQgMyPTNqzfpKdMCCCAAAIIIIAAAggkoQBVQgABBBBAAIHiFiAAWdziSVDe8EGPOz8k06xu7zwf+/UeZd17drQG+9exQCBg5cuXtU5HtbC2hzbJbkXD4DIFLUMz1q3baAvmfhV6ySMCCCCAAALuAsxFAAEEEEAAAQQQQACBlBEgAJkyXV24hm7ZtC3HJdaZGTtt06atTmYNGtW2dh2bWtquMyC3bdtuk1760GbPXOws50/yC1BDBBBAAAEEEEAAAQQQQAABBBDwv0BJt5AAZEn3QJKX/9iDr9vc2Ussc9d9Hlf9+Jt9+fkKO/6kDjb6kQG2T90aTgu2bt1ur02caQ/c9ZLzmj8IIIAAAggggAACCCCAAAI5BHiBAAIIpKwAAciU7frYGr5501a7/Ly77I6bn7Gvv/zRDm7VyLkf5B33X2716te0v9ZusHff+sQuO+cuu334M7FlSioEEEAAAQQQQKDEBCgYAQQQQAABBBBAoLgFCEAWt7hHy3vx2el2+vFDrc1B51nzen1M949s0aCvHXHIpXbt5Q/Ywk+WerRlVBsBBEpEgEIRQAABBBBAAAEEEEAAAQRSRoAAZMp0de6GMgcBBBBAAAEEEEAAAQQQQAABBPwvQAsRKGkBApAl3QOUjwACCCCAAAIIIIAAAqkgQBsRQAABBBBIWQECkCnb9TQcAQQQQACBVBSgzQgggAACCCCAAAIIIFDcAgQgi1uc8hBAwAwDBBBAAAEEEEAAAQQQQAABBBDwv8CuFhKA3AXBAwIIIIAAAggggAACCCCAAAJ+FKBNCCCAQEkLEIAs6R6gfAQQQAABBBBAAIFUEKCNCCCAAAIIIIBAygoQgEzZrqfhCCCAQCoK0GYEEEAAAQQQQAABBBBAAIHiFiAAWdzilGeGAQIIIIAAAggggAACCCCAAAII+F+AFiKwS4AA5C4IHhBAAAEEEEAAAQQQQAABPwrQJgQQQAABBEpagABkSfcA5SOAAAIIIIBAKgjQRgQQQAABBBBAAAEEUlaAAGTKdj0NRyAVBWgzAggggAACCCCAAAIIIIAAAggUt0DxByCLu4WUhwACCCCAAAIIIIAAAggggAACxS9AiQgggMAuAQKQuyB4QAABBBBAAAEEEEDAjwK0CQEEEEAAAQQQKGkBApAl3QOUjwACCCCQCgK0EQEEEEAAAQQQQAABBBBIWQECkCnb9anYcNqMAAIIIIAAAggggAACCCCAAAL+F6CFySZAADLZeoT6IIAAAggggAACCCCAAAJ+EKANCCCAAAII7BIgALkLggcEEEAAAQQQQMCPArQJAQQQQAABBBBAAIGSFiAAWdI9QPkIIJAKArQRAQQQQAABBBBAAAEEEEAAgZQVSKEAZMr2MQ1HAAEEEEAAAQQQQAABBBBAIIUEaCoCCCSbAAHIZOsR6oMAAggggAACCCCAgB8EaAMCCCCAAAIIILBLgADkLggeEEAAAQQQ8KMAbUIAAQQQQAABBBBAAAEESlqAAGRJ9wDlp4IAbUQAAQQQQAABBBBAAAEEEEAAAf8L0MIoAgQgo8AwGwEEEEAAAQQQQAABBBBAwIsC1BkBBBBAINkECEAmW49QHwQQQAABBBBAwA8CtAEBBBBAAAEEEEAAgV0CBCB3QfCAAAII+FGANiGAAAIIIIAAAggggAACCCBQ0gIEIBPfA5SAAAIIIIAAAggggAACCCCAAAL+F6CFCCAQRYAAZBQYZiOAAAIIIIAAAggggIAXBagzAggggAACCCSbAAHIZOsR6oMAAggggIAfBGgDAggggAACCCCAAAIIILBLgADkLggeEPCjAG1CAAEEEEAAAQQQQAABBBBAAAH/CyR7CwlAJnsPUT8EEEAAAQQQQAABBBBAAAEvCFBHBBBAAIEoAgQgo8AwGwEEEEAAAQQQQMCLAtQZAQQQQAABBBBAINkECEAmW49QHwQQQMAPArQBAQQQQAABBBBAAAEEEEAAgV0CBCB3QfjxgTYhgAACCCCAAAIIIIAAAggggID/BWghAskuQAAy2XuI+iGAAAIIIIAAAggggIAXBKgjAggggAACCEQRIAAZBYbZCCCAAAIIIOBFAeqMAAIIIIAAAggggAACySZAADLZeoT6IOAHAdqAAAIIIIAAAggggAACCCCAAAL+F4ixhQQgY4QiGQIIIIAAAggggAACCCCAAALJKECdEEAAgWQXIACZ7D1E/RBAAAEEEEAAAQS8IEAdEUAAAQQQQAABBKIIEICMAsNsBBBAAAEvClBnBBBAAAEEEEAAAQQQQACBZBMgAJlsPeKH+tAGBBBAAAEEEEAAAQQQQAABBBDwvwAtRCBGAQKQMUKRDAEEEEAAAQQQQAABBBBIRgHqhAACCCCAQLILEIBM9h6ifggggAACCCDgBQHqiAACCCCAAAIIIIAAAlEECEBGgWE2Agh4UYA6I4AAAggggAACCCCAAAIIIIBAsgnEPwCZbC2kPggggAACCCCAAAIIIIAAAgggEH8BckQAAQRiFCAAGSMUyRBAAAEEEEAAAQQQSEYB6oQAAggggAACCCS7AAHIZO8h6ldggRqZ6+3EjYts4N/TbPBfUxIyDfj7HacMlVXgCrICAgj4UYA2IYAAAggggAACCCCAAAIIRBEgABkFhtleFDBTQLDvhjl20PZfrXRWRsIaUS5rh1OGylKZCSuIjBFAAAEEEEAAAQQQQAABBBBAIEKAl14TIADptR6jvnkKtNvynZXKyswzTTwXqiyVGc88yQsBBBBAAAEEEEAAAU8IUEkEEEAAAQRiFCAAGSMUybwh0HDHmmKvqM62LPZCKRABBBBAAIFdAjwggAACCCCAAAIIIJDsAgQgk72HqF+BBBJ52XWBKkLiVBOgvQgggAACCCCAAAIIIIAAAgggEEXARwHIKC1kNgIIIIAAAggggAACCCCAAAII+EiApiCAgNcECEB6rceoLwIIIIAAAggggAACySBAHRBAAAEEEEAAgRgFCEDGCEUyBBBAAAEEklGAOiGAAAIIIIAAAggggAACyS5AADLZe4j6eUGAOiKAAAIIIIAAAggggAACCCCAgP8FaGEhBQhAFhKO1RBAAAEEEEAAAQQQQAABBEpCgDIRQAABBLwmQADSaz1GfRFAAAEEEEAAgWQQoA4IIIAAAggggAACCMQoQAAyRiiSIYAAAskoQJ0QQAABBBBAAAEEEEAAAQQQSHYBApBF7yFyQAABBBBAAAEEEEAAAQQQQAAB/wvQQgQQKKQAAchCwrEaAggggAACCCCAAAIIlIQAZSKAAAIIIICA1wQIQHqtx6gvAggggAACySBAHRBAAAEEEEAAAQQQQACBGAUIQMYIRTIEklGAOiGAAAIIIIAAAggggAACCCCAgP8FvN5CApBe70HqjwACCCCAAAIIIIAAAgggUBwClIEAAgggUEgBApCFhGM1BBBAAAEEEEAAgZIQoEwEEEAAAQQQQAABrwkQgPRaj1FfBBBAIBkEqAMCCCCAAAIIIIAAAggggAACMQoQgIwRKhmTUScEEEAAAQQQQAABBBBAAAEEEPC/AC1EwOsCBCC93oPUHwEEEEAAAQQQQAABBIpDgDIQQAABBBBAoJACBCALCcdqCCCAAAIIIFASApSJAAIIIIAAAggggAACXhMgAOm1HqO+CCSDAHVAAAEEEEAAAQQQQAABBBBAAAH/C8SphQQg4wRJNggggAACCCCAAAIIIIAAAggkQoA8EUAAAa8LEID0eg9SfwQQQAABBBBAAIHiEKAMBBBAAAEEEEAAgUIKEIAsJByrIYAAAgiUhABlIoAAAggggAACCCCAAAIIeE2AAKTXeiwZ6ksdEEAAAQQQQAABBBBAAAEEEEDA/wK0EIE4CRCAjBMk2SCAAAIIIIAAAggggAACiRAgTwQQQAABBLwuQADS6z1I/RFAAAEEEECgOAQoAwEEEEAAAQQQQAABBAopQACykHCshgACJSFAmQgggAACCCCAAAIIIIAAAggg4DWBggcgvdZC6osAAggggAACCCCAAAIIIIAAAgUXYA0EEEAgTgIEIOMESTYIIIAAAggggAACCCRCgDwRQAABBBBAAAGvCxCA9HoPUn8EEEAAgeIQoAxz1nr9AAAQAElEQVQEEEAAAQQQQAABBBBAAIFCChCALCQcq5WEAGUigAACCCCAAAIIIIAAAggggID/BWih3wQIQPqtR2kPAggggAACCCCAAAIIIBAPAfJAAAEEEEAgTgIEIOMESTYIIIAAAggggEAiBMgTAQQQQAABBBBAAAGvCxCA9HoPUn8EECgOAcpAAAEEEEAAAQQQQAABBBBAAIFCCngoAFnIFrIaAggggAACCCCAAAIIIIAAAgh4SICqIoCA3wQIQPqtR2kPAggggAACCCCAAALxECAPBBBAAAEEEEAgTgIEIOMESTYIIIAAAggkQoA8EUAAAQQQQAABBBBAAAGvCxCA9HoPUv/iEKAMBBBAAAEEEEAAAQQQQAABBBDwvwAtTJAAAcgEwZItAggggAACCCCAAAIIIIBAYQRYBwEEEEDAbwIEIP3Wo7QHAQQQQAABBBCIhwB5IIAAAggggAACCCAQJwECkHGCJBsEEEAgEQLkiQACCCCAAAIIIIAAAggggIDXBQhA5t+DpEAAAQQQQAABBBBAAAEEEEAAAf8L0EIEEEiQAAHIBMGSLQIIIIAAAggggAACCBRGgHUQQAABBBBAwG8CBCD91qO0BwEEEEAAgXgIkAcCCCCAAAIIIIAAAgggECcBApBxgiQbBBIhQJ4IIIAAAggggAACCCCAAAIIIOB/Ab+3kACk33uY9iGAAAIIIIAAAggggAACCMQiQBoEEEAAgQQJEIBMECzZIoAAAggggAACCBRGgHUQQAABBBBAAAEE/CZAANJvPUp7EEAAgXgIkAcCCCCAAAIIIIAAAggggAACcRIgABknyERkQ54IIIAAAggggAACCCCAAAIIIOB/AVqIgN8FCED6vYdpHwIIIIAAAggggAACCMQiQBoEEEAAAQQQSJAAAcgEwZItAggggAACCBRGgHUQQAABBBBAAAEEEEDAbwIEIP3Wo7QHgXgIkAcCCCCAAAIIIIAAAggggAACCPhfoJhaSACymKApBgEEEEAAAQQQQAABBBBAAAE3AeYhgAACfhcgAOn3HqZ9CCCAAAIIIIAAArEIkAYBBBBAAAEEEEAgQQIEIBMES7YIIIAAAoURYB0EEEAAAQQQQAABBBBAAAG/CRCA9FuPxqM95IEAAggggAACCCCAAAIIIIAAAv4XoIUIFJMAAchigqYYBBBAAAEEEEAAAQQQQMBNgHkIIIAAAgj4XYAApN97mPYhgAACCCCAQCwCpEEAAQQQQAABBBBAAIEECRCATBAs2SKAQGEEWAcBBBBAAAEEEEAAAQQQQAABBPwmkDsA6bcW0h4EEEAAAQQQQAABBBBAAAEEEMgtwBwEEECgmAQIQBYTNMUggAACCCCAAAIIIOAmwDwEEEAAAQQQQMDvAgQg/d7DtA8BBBBAIBYB0iCAAAIIIIAAAggggAACCCRIgABkgmDJtjACrIMAAggggAACCCCAAAIIIIAAAv4XoIWpJkAAMtV6nPYigAACCCCAAAIIIIAAAhJgQgABBBBAoJgECEAWEzTFIIAAAggggAACbgLMQwABBBBAAAEEEEDA7wIEIP3ew7QPAQRiESANAggggAACCCCAAAIIIIAAAggkSCCJApAJaiHZIoAAAggggAACCCCAAAIIIIBAEglQFQQQSDUBApCp1uO0FwEEEEAAAQQQQAABCTAhgAACCCCAAALFJEAAspigKQYBBBBAAAE3AeYhgAACCCCAAAIIIIAAAn4XIADp9x6mfbEIkAYBBBBAAAEEEEAAAQQQQAABBPwvQAtLSIAAZAnBUywCCCCAAAIIIIAAAgggkJoCtBoBBBBAINUECECmWo/TXgQQQAABBBBAQAJMCCCAAAIIIIAAAggUkwAByGKCphgEEEDATYB5CCCAAAIIIIAAAggggAACCPhdgACkmd/7mPYhgAACCCCAAAIIIIAAAggggIAZBgggUEICBCBLCJ5iEUAAAQQQQAABBBBITQFajQACCCCAAAKpJkAAMtV6nPYigAACCCAgASYEEEAAAQQQQAABBBBAoJgECEAWE3QyFjN05Ln2v2+ftsUrnrOBN/SJWsUataraiDv72btz7rdF3z5jS1ZOcKaF3zxtU2aOtv7Xn2EVKpaLuj4LoguwBAEEEEAAAQQQQAABBBBAAAEE/C+Q6i0kAJliI0DBxN7ndrUXp9xqp/fpbGXLlrGdO7Ns29btrhK9+nYOph1pPc840mrVrmZfffG99TnpJrvk7Dtt9S9/Wr39atkFl/awV94eZUd2OcQ1D2YigAACCCCAAAIIIIAAAkkgQBUQQAABBEpIgABkCcEXd7FtD21iM+Y/ZDM+edCGjDjHmjTfz9LT8+7+08/qbP0HnWHVqld2qvvzqj9sxJAn7IvPvrM5H31ujz3wum1Yv8kCgYDtW6+m3TDyXOt0ZAsnLX8QQAABBBBAAAF3AeYigAACCCCAAAIIpJpA3hGoVNPwcXvnz/3KOre9wprV7W0Xnnmb/f7bX3m2VpdU9+x1hO1eqUJ2uq++WGErlv+S/XrqG3Ps55/WZL/eq2YV6xUMWmbP4AkCCCSvADVDAAEEEEAAAQQQQAABBBBAoJgECEAWE7RbMck874RTOtl+DWtnVzEzI9N+W507aLnmt7+z0wQCATuwaT3T2ZbZM3mCAAIIIIAAAggggAACCCCAQIoL0HwEUl2AAGSqj4Ao7a+9z15Wpkyp7KXR7hP519oN2Wn0pFKlirZ3nWp6WuCpVesDrahTgQuN0wpFrTfrF73vMcSQMcAYYAwwBhgDjIF8xkCRjzXJnzHGGGAMMAYYA8k8BuIU4khINgQgE8Lq/Uwr7VHR0kulF7ghpYLrKHhZ4BVZAQEEEEAgRQRoJgIIIIAAAggggAACCKSaAAHIVOvxGNurH5fRZdcxJs9OlpGZaWv/XJ/9uiBPPl24zIo6FaS8eKYtar2Lff04WFPnoo9XDDFkDDAGGAOMAcYAY4AxwBhgDDAGGAOMgXiNAdc4R5LMJACZJB2RbNX45ac1tn17Rna10tICVrZcmezXoSdVqlYKPXUeFbj8PuyHapyZ/EEAAQQQQAABBBBAAAEEUliApiOAAAKpLpCW6gC0311g8muz7cfvV2cv1OXY9farlf069GSvmnuGnlpWVpYt+/JHmz/3q+x5PEEAAQQQQAABBJJEgGoggAACCCCAAAIIlJAAAcgSgk/2Yjdv2mqvTvzA/tmwObuq+x+4jzVv2TD79fEndbA6++yV/XrNb3/ZS8/PyH7NEwQQQCC3AHMQQAABBBBAAAEEEEAAAQRSTYAAZAr1eIWK5axLtzbWq29nq1p1j+yWly5Tyo7t0c76XtDNGjSqnT3/5WAw8f67XrQ//1jnzKtVu5pde0MfJwjZ4fCD7eKrTjb9WI3OfFz1429227CnbfbMxU5a/iCAAAIIIIAAAggggAACCCCAQAkLUDwCSSJAADJJOiLR1Wh7aBOb/ME9du+jA6zLcW2tVOn0HEXWrV/LBt3U1ya8OdJ69OyUveyl52bYGT2G2aQXZ9rqX/60Js33sxfeuMUeffZ6U0BSl2k/+cgUO+24oTZz+qLs9XiCAAIIIIAAAggggAAC/wrwFwEEEEAAgVQXIACZIiNA92Xs3PYKa1a3d55T28bn25RJs3Oo/L56rQ2/fpx17dDfDtn/nOz1Wx9wrvU4cqDdf+eLpku2c6zECwQQQAABBJJLgNoggAACCCCAAAIIIIBACQkQgCwheIpFIDUFaDUCCCCAAAIIIIAAAggggAACCPhfIGcLCUDm9OAVAggggAACCCCAAAIIIIAAAv4QoBUIIIBAkggQgEySjqAaCCCAAAIIIIAAAv4UoFUIIIAAAggggECqCxCATPURQPsRQACB1BCglQgggAACCCCAAAIIIIAAAiUkQACyhOBTs1hajQACCCCAAAIIIIAAAggggAAC/heghQjkFCAAmdODVwgggAACCCCAAAIIIICAPwRoBQIIIIAAAkkiQAAySTqCaiCAAAIIIICAPwVoFQIIIIAAAggggAACqS5AADLVRwDtRyA1BGglAggggAACCCCAAAIIIIAAAgiUkEAxBiBLqIUUiwACCCCAAAIIIIAAAggggAACxShAUQgggEBOAQKQOT14hQACCCCAAAIIIICAPwRoBQIIIIAAAgggkCQCBCCTpCOoBgIIIICAPwVoFQIIIIAAAggggAACCCCQ6gIEIFN9BKRG+2klAggggAACCCCAAAIIIIAAAgj4X4AWJqkAAcgk7RiqhQACCCCAAAIIIIAAAgh4U4BaI4AAAgggkFOAAGROD14hgAACCCCAAAL+EKAVCCCAAAIIIIAAAggkiQAByCTpCKqBAAL+FKBVCCCAAAIIIIAAAggggAACCKS6QCoEIFO9j2k/AggggAACCCCAAAIIIIAAAqkgQBsRQCBJBQhAJmnHUC0EEEAAAQQQQAABBLwpQK0RQAABBBBAAIGcAgQgc3rwCgEEEEAAAX8I0AoEEEAAAQQQQAABBBBAIEkECEAmSUdQDX8K0CoEEEAAAQQQQAABBBBAAAEEEPC/AC3MW4AAZN4+LEUAAQQQQAABBBBAAAEEEPCGALVEAAEEEEhSAQKQSdoxVAsBBBBAAAEEEPCmALVGAAEEEEAAAQQQQCCnAAHInB68QgABBPwhQCsQQAABBBBAAAEEEEAAAQQQSBIBApAJ7AiyRgABBBBAAAEEEEAAAQQQQAAB/wvQQgQQyFuAAGTePixFAAEEEEAAAQQQQAABbwhQSwQQQAABBBBIUgECkEnaMVQLAQQQQAABbwpQawQQQAABBBBAAAEEEEAgpwAByJwevELAHwK0AgEEEEAAAQQQQAABBBBAAAEE/C/gkRYSgPRIR1FNBBBAAAEEEEAAAQQQQACB5BSgVggggAACeQsQgMzbh6UIIIAAAggggAAC3hCglggggAACCCCAAAJJKkAAMkk7hmohgAAC3hSg1ggggAACCCCAAAIIIIAAAgjkFPBFALJCxXJ2eOdWVqNWVdPz64adZa+8Pcpee+cOu+vBK615y4Y5W+33V7QPAQQQQAABBBBAAAEEEEAAAQT8L0ALEfCIgGcDkMef1MHmffmkLVk5weYvHW+3jb7EWrXe30aP7W99L+hmBzapZ/sftK91O6G9Db/9QmvQqLZHuoRqIoAAAggggAACCCCAgJcEqCsCCCCAAAII5C3g2QDk1Dfm2KcLv7GsrCz73ydf2zmnjrA9Ku9mh7Q50AKBQI5WNzpwH7voypNzzOMFAggggAACCPhKgMYggAACCCCAAAIIIIBAkgp4NgDZ9OAG1nD/OrZ40XK7/Py7bcXyX6zD4Qdb+Qpls6kzM3fali3bnNfNWjSwuvVrOc/5gwACiRIgXwQQQAABBBBAAAEEEEAAAQQQ8L9AwVro2QDk3nWqWXqpNJs5/X+2edNWJ7gYfpl1xo5Me378NGtz4Hn2+ksf2u67V7ADsyTHJQAAEABJREFUGu9bMB1SI4AAAggggAACCCCAAAIIIJCsAtQLAQQQ8IiAZwOQZcuWcYj/XLPeeWzfqalVq17Zea4/a37/y96bOl9P7X/zl9m27TsstI4zkz8IIIAAAggggAACCMRBgCwQQAABBBBAAAEE8hbwbABy586dVr58WTv0sGZWoWI569ytTY7Lr1et/N2++Ow7p/WlSqXlui+ks4A/CCCAAAJ+EaAdCCCAAAIIIIAAAggggAACSSqQlqT1yrdaK3/4zTb+s8X0a9hzvxhnbQ9tkr2OLr9e+sUP2a/bdWzmPP/zj3XOI38SJUC+CCCAAAIIIIAAAggggAACCCDgfwFaiEDBBDwbgPzy8xW2fNkqp7XppdKdx9Cf33/7y95/d6Hz8uiura1dx6a2Yf0m+/zT5c48/iCAAAIIIIAAAggggAACnhegAQgggAACCHhEwLMBSPm+9PwMW/3Ln3qaPW3dut2mvvGxc/l1z15H2NCR51qVqpXs++W/ZKfhCQIIIIAAAgggEC8B8kEAAQQQQAABBBBAAIG8BTwdgJw9c7Fdd8WDNm3yPPv261U2d9YXdsuQJ+3Be15xLs2+blhfq1ptD9uyeZu1bH2AHX50y7w1WIoAAl4VoN4IIIAAAggggAACCCCAAAIIIJCkAnEMQJZMCzdt3GIfvf+pDb9+nF3c9w6bMmm2U5Gpb8yx9k0vsBb7nWVtDjrPjmp9mROodBbyBwEEEEAAAQQQQAABBBBAAAEECinAaggggEDBBDwdgBx++4X20tTb7I77L7fnJ91s9zx8VcFaT2oEEEAAAQQQQAABBLwqQL0RQAABBBBAAAGPCHg2ANnpyBZ25DGHWNmyZRxq/RCNfmzmmOPbOq/5gwACCCCAQHEIUAYCCCCAAAIIIIAAAggggEDeAp4NQFbec3crX75s3q1jaaoI0E4EEEAAAQQQQAABBBBAAAEEEPC/AC30qIBnA5A/rPjV/lq7wTIzdzr0W7Zss+lvL7D3ps53Xof/ad6yoV0//GzTY/h8niOAAAIIIIAAAggggAACCBRUgPQIIIAAAggUTMCzAcgvP19hb746y15+foY1q9vb2hx4no0Y8oRr6w9pe6Add+KhVrd+LdflzEQAAQQQQAABBDwnQIURQAABBBBAAAEEEPCIgGcDkBUqlrMV3/5s1WvsaY8/P8ROPv1w69Gzk+uk+0WWLVvaI11CNRFAwEsC1BUBBBBAAAEEEEAAAQQQQAABBPIW8GwA8uiure3W0ZdY52NbW/tOzeyWuy+2UWMudZ1at2tsgUAgbwmWIoAAAggggAACCCCAAAIIIIBAMgtQNwQQ8KiAZwOQHvWm2ggggAACCCCAAAIIeFyA6iOAAAIIIIAAAgUTIABZMC9SIxB3gRqZ6+3EjYts4N/TbPBfUxIyDfj7HacMlRX3BpAhAgiUjAClIoAAAggggAACCCCAAAIeEfB8ADIrK8u2bNlmmzdtjTplZmR6pDuoptcEilpfBQT7bphjB23/1UpnZRQ1u6jrl8va4ZShslRm1IQsQAABBBBAAAEEEEAAAQQQQACBXALMKJqApwOQmZk7beobc6zNgedZ28bnR52eGDvZtm/bUTQp1kYgAQLttnxnpbKKL0CuslRmAppClggggAACCCCAAAIIJFqA/BFAAAEEPCrg2QBkRkaG/f3XBps7a0m+9F98ttyWLV1p69f9k29aEiBQnAINd6wpzuKcsnS2pfOEPwgggAACCBRKgJUQQAABBBBAAAEEECiYgGcDkNMmz7PjD7/GpkyaHbXFLf9vf6tRq6rN+mCx9eszynmMmpgFCJSAQCIvuy6B5lBkcQpQFgIIIIAAAggggAACCCCAAAIeEfBsADLkW6FiObtu2Fn27pz7bdG3z9j8peOtR89OpuDjbfdeZo8+e721btfYEvGPPBFAAAEEEEAAAQQQQAABBBBAwP8CtBABBIom4OkAZINGte3JiTdY3wu62d51qluZsqWzNT7737d2Xq+RtvqXP+3aYX1MabMX8gQBBBBAAAEEEEAAAQS8JkB9EUAAAQQQQMCjAp4OQJ5zUXc7qGl9CwQCrvy/r15r117+gK3/e6P1PreraxpmIoAAAggggEBBBEiLAAIIIIAAAggggAACCBRMwLMByLr1a9n/tT3Q0tPzbsLmTVtt5vRF1qT5fqZ1CsZDagSSVIBqIYAAAggggAACCCCAAAIIIICA/wV80sK8o3dJ3MgDGu9rlfaoaAowzp652J4f/449fO+rtikYcIys9sZ/ttieVSqZ1olcxmsEEEAAAQQQQAABBBBAAAEE8hJgGQIIIIBA0QQ8G4AsW7aMZWRk2kOjX7HLzr3L7hzxrP3y0x+2c+fOXCL7H7Sv7bZ7edM6uRYyAwEEEEAAAQQQQMALAtQRAQQQQAABBBBAwKMCng1AyjstEAgGFf/74RnNi5z04zMdjzjY0tLSXIOTkel5jQACCCCQlwDLEEAAAQQQQAABBBBAAAEEECiYQFrBkidP6l9+/sO2b99hF1x2ot06+hI77KgWOSrX9tAmNuy28238S8Os4f51bNPGzbb617U50nj2BRVHAAEEEEAAAQQQQAABBBBAAAH/C9BCBHwi4NkA5KcLltk3X//kXFp94qmH2cNPDbJRYy61GjWrOI9PTLzBTj+rs1WpWsnpKl2erXWcF/xBAAEEEEAAAQQQQAABBGIUIBkCCCCAAAIIFE3AswFINXvGtPm2Yf0mPc1z2rJlm7339oI807AQAQQQQAABBJJagMohgAACCCCAAAIIIICARwU8HYB8/eWP7MVn37OtW7dH5c/MyLT3ps63F556J2oaFiCAQKwCpEMAAQQQQAABBBBAAAEEEEAAAf8LxLeFng5AiuLBe16x22962r775ifLzNypWc6UlZVlv/78hz1wz8t248BHnXn8QQABBBBAAAEEEEAAAQQQQMAzAlQUAQQQ8ImA5wOQ6odJL31oJx9zvXXt0N8GXfmgDe7/sJ3cZZDzevwjU5SECQEEEEAAAQQQQACBQgmwEgIIIIAAAggggEDRBHwRgAwR/L56rU2bPM+mvjHHViz/JTTbevTsZFM/ute6ndA+ex5PEEAAAQQ8JUBlEUAAAQQQQAABBBBAAAEEPCrgqwCkWx9UqFjOjjzmEKtabQ8rVaqUWxLmxSxAQgQQQAABBBBAAAEEEEAAAQQQ8L8ALUQgvgKeDkDWqFXV7h93jS34+ilbsnKC6zR/6Xjr0q2NBQKB+MqRGwIIIIAAAggggAACCCCQSAHyRgABBBBAwCcCng5ADrv1PDuyyyFWvkJZn3QHzUAAAQQQQACBZBOgPggggAACCCCAAAIIIFA0Ac8GIA/v3MqatWzImY1F63/WRsArAtQTAQQQQAABBBBAAAEEEEAAAQQ8KlCAAGRytbBSpYpWrlwZp1KZGZm2edPWqJOWOwn5gwACCCCAAAIIIIAAAggggAAC+QiwGAEEEIivgGcDkNu2bbft23bYzOmLrGvHAda28flRp4dGv2Lbtm6Prxy5IYAAAggggAACCCCQSAHyRgABBBBAAAEEfCLg2QDkN0tX2U+r1tj0txfY76vX5tkdU16fYyNvGG8L5i3NMx0LEUAAAQQQiBTgNQIIIIAAAggggAACCCCAQNEEPBuAXPnDavvg3YVWq3a1fAVq1NzTWrU50PSYb2ISJKMAdUIAAQQQQAABBBBAAAEEEEAAAf8L0EKfCng2AKn+eGLsZCtdOt1OOfMovXSdatSqamdfeJydeOphVrd+Ldc0zEQAAQQQQAABBBBAAAEEEAgJ8IgAAggggEB8BTwdgGzQqLa1OGR/G3brebZk5QTXacYnD1rX7u0sPd3TTY1vr5MbAggggAACCCS/ADVEAAEEEEAAAQQQQMAnAp6Oyl09+Exr26GJpZdK90l30AwEEEg2AeqDAAIIIIAAAggggAACCCCAAAJFE/BCANK1hW0PbWIHNq1ngUDAdTkzEUAAAQQQQAABBBBAAAEEEEDAUwJUFgEEfCrg2QDkXjWr2O67V3C6JTMj0zZv2hp10nInIX8QQAABBBBAAAEEEEAgHwEWI4AAAggggAAC8RXwbABy27bttn3bDps5fZF17TjA2jY+P+r00OhXbNvW7fGVIzcEEEAAAQQSKUDeCCCAAAIIIIAAAggggIBPBDwbgPxm6Sr7adUam/72Avt99do8u2PK63Ns5A3jbcG8pXmmYyECkQK8RgABBBBAAAEEEEAAAQQQQAAB/wvQwsQKeDYAufKH1fbBuwutVu1q+QrVqLmntWpzoOkx38QkQAABBBBAAAEEEEAAAQQQKAkBykQAAQQQ8KmAZwOQ6o8nxk620qXT7ZQzj9JL16lGrap29oXH2YmnHmZ169dyTcNMBBBAAAEEEEAAgZAAjwgggAACCCCAAAIIxFfAswHIHj072fyl4+2S/j3t5jsutCUrJ7hOMz550Lp2b2fp6Z5tanx7nNwQQMAbAtQSAQQQQAABBBBAAAEEEEAAAZ8IEJXLoyNZhAACCCCAAAIIIIAAAggggAAC/heghQggkFgBApCJ9SV3BBBAAAEEEEAAAQQQiE2AVAgggAACCCDgUwHPByCzsrJsy5ZttnnTVtdpy+Ztlpm506fdR7MQQAABBBCItwD5IYAAAggggAACCCCAAALxFfB0AFLBxxnvLLQjDrnU2jY+33Vqc9B59szjU23Hjoz4ypEbAokUIG8EEEAAAQQQQAABBBBAAAEEEPC/QIq00LMByIyMDFv753qb+d4i58zHvPpr0YKv7esvf7T16/7JKxnLEEAAAQQQQAABBBBAAAEEUlCAJiOAAAIIJFbAswHIaZPn2fGHX2NTJs3OV2jWB4utX59Rpsd8E5MAAQQQQAABBBBAoCQEKBMBBBBAAAEEEEDApwKeDUCG90eNWlVtxJ397O1ZY2z+0vHONGXmaOt//RlWoWK58KQ8RwABBBDIU4CFCCCAAAIIIIAAAggggAACCMRXwPMByO49O9oLr99sPc840vapW8MJOCroWG+/WnbBpT3spbdus05HtoivWqJzI38EEEAAAQQQQAABBBBAAAEEEPC/AC1EIEUEPB2AbN6yoV1xzWmmMyDd+isQCJgCkQOuP8MaNKrtloR5CCCAAAIIIIAAAgggkOICNB8BBBBAAAEEEivg6QDkiaceZrVqV8tXqMH+dazX2V3yTUcCBBBAAAEEECgxAQpGAAEEEEAAAQQQQAABnwp4NgCpy6xbtTnQ0tICtvGfLc6vXL8zZZ7zozT6YZqpb8yxr5Z8b1u2bLP09DRr3a6xc3m2T/uRZiEQJwGyQQABBBBAAAEEEEAAAQQQQAAB/wsUbws9G4Bs3b6xValayebP/cpO6jLITj9+qF13xYM29OpHnGlw/4ftjO432pk9brRPFyyzSntUtINbNSpeXUpDAAEEEEAAAQQQQAABBBBAIJoA8xFAAIEUEW5nGPUAABAASURBVPBsALJSpYqWkZFpU1//2H5fvTZqd61Y/ou989YnzpmS1apXjpqOBQgggAACCCCAAAKpKUCrEUAAAQQQQAABBBIr4NkApFh0+XW58mX1lAkBBBBAwNsC1B4BBBBAAAEEEEAAAQQQQMCnAp4NQG7YsMnS0tKs2wmH5vkL1/ql7BNPO8xJq3V82o9xahbZIIAAAggggAACCCCAAAIIIICA/wVoIQLFK+DZAOTCeUvtr7UbrOX/7W8Tp9xqr793p933+NU2asylznT3Q1faa+/cYU9MvMGaNNvPSat1ipeX0hBAAAEEEEAAAQQQQACBKALMRgABBBBAIEUEPBuA3Lxpq/PjMjt3Zln58mWt4QH72NFdW1uPnp2c6dge7W3/g/Z1lmVm7rSFnyw1rZMi/UozEUAAAQQQQCBGAZIhgAACCCCAAAIIIIBAYgU8G4AUy4Sn37XvvvlJT/OcVnz7s7307PQ807AQAQRKVIDCEUAAAQQQQAABBBBAAAEEEEDApwJhAUjvtXDF8l/svjtftB+/X21ZWVm5GqB5WqY0SpsrATMQQAABBBBAAAEEEEAAAQQQSDkBGowAAggUr4CnA5Cimj1zsfXqfoM9+cgUU5Bx4z9bTJOea56WKY3SMiGAAAIIIIAAAgggkDQCVAQBBBBAAAEEEEgRAc8GIGvUqmpdurUxPerejvff+aKd1Pk6a9/0AmfSc83TMqXRj9WkSJ/STAQQQACBAgiQFAEEEEAAAQQQQAABBBBAILECng1Atmnf2K6/+WzTY35ESnPtjWdZhYrl8kvK8pIRoFQEEEAAAQQQQAABBBBAAAEEEPC/AC1MUQHPBiAL2l+7V6pgB7dqVNDVSI8AAggggAACCCCAAAII+EyA5iCAAAIIIFC8Ar4PQOry68OPbmnVqld2puLlpTQEEEAAAQQQQCCKALMRQAABBBBAAAEEEEgRAc8EILud0N4+WDjW5i8d70zDRp3vBBT1GJoX+bhg2VM2fd4D1rV7O0tP90xTU2To0UwEkkOAWiCAAAIIIIAAAggggAACCCCAQGIFkiEqF1MLS5UqZRUrlnPu46h7OZYvX9YJKupRr90mLQsEAk7+W7dutw0bNjnP+YMAAggggAACCCCAAAIIIIAAAsUuQIEIIJCiAp4JQBa1f35c8at9NOPTombD+ggggAACCCCAAAIIeFyA6iOAAAIIIIAAAsUr4PsA5LZt2+3TBcts9KgJxStLaQgggAACCOQlwDIEEEAAAQQQQAABBBBAIEUEPBOAnDJptrVtfL41q9vbmYZe/Yj9/ttfpsfQPLfH/9v/XDvntFvsi8++S5EupZkFESAtAggggAACCCCAAAIIIIAAAgj4X4AWlqyAZwKQJctE6QgggAACCCCAAAIIIIAAAkUUYHUEEEAAgRQV8GwAcsG8pXbnzc+aHlO072g2AggggAACCCBQCAFWQQABBBBAAAEEEECgeAU8G4AUU6nS6damfWM7+fTDbeANfax5y4bWoFFte+y5wTbvyydt/tLxNundO617z45KzoQAAggkjwA1QQABBBBAAAEEEEAAAQQQQCBFBNK82s6mzfezQTf1tVFjLrURd11kRx1ziO1ZtZLddu+lduhhzW233ctbhYrlrNGB+9iAQb2s05EtcjWVGQgggAACCCCAAAIIIIAAAggg4H8BWogAAiUr4NkA5PvvLrRVP/xmO7Zn2BuvzLLTjhtqjfavYw0PqJNLtEatqnbG2cfkms8MBBBAAAEEEEAAAQQQKDYBCkIAAQQQQACBFBXwbACyVZsDbe861W3urC/spuses82btlrbjk2tbNky2V2peT+s+NW2bdtuDYPByaYHN8hexhMEEEAAAQRSU4BWI4AAAggggAACCCCAAALFK+DZAGStvataWnqazQkGIEWm4OK+dWvqqTMp6DjuoTfshKOutRfGv2sVKpS1uvX/W+4k4g8CJSVAuQgggAACCCCAAAIIIIAAAggg4H8BWugIeDYAmZb2b9W3btnmNKRdhyZWtXol57n+rPntb5s+baGe2nff/mzbtu+w0DrOTP4ggAACCCCAAAIIIIAAAgikhACNRAABBBAoWYF/o3glW4dCla4zHMuWLW3de3ayrt3b2fEndchx+fWK5b/Yyh9WO3nrB2nS0z3bVKcN/EEAAQQQQAABBDwuQPURQAABBBBAAAEEUlTAs1G5b5ausg3rN1mb9o3tnoevsoYH7JPdhQpOfr7o2+zXHY9oYZmZO23Nb39lz+MJAgggkJoCtBoBBBBAAAEEEEAAAQQQQACB4hXwbABSZzd+uvAb27kzK5fYqh9+z778uu8F3axV6wNs7Z/rbf7cr3KlLZEZFIoAAggggAACCCCAAAIIIIAAAv4XoIUIIOAIeDYAqdo/9egUW7rke8vK+i8I+dfaDfbck2/bH2v+tiEjzrErBp5mugT7nw2brUGj2lqNCQEEEEAAAQQQQAABBFJIgKYigAACCCCAQMkKeDoAqfs8XnDmbTb6tgk2ZdJse/zB1+38XiPt9Zc/ssOPbmldjmtr27ftsO+++cnKly9rtfepXrLalI4AAggggEDqCtByBBBAAAEEEEAAAQQQSFEBTwcg1WebN221Z8ZNtaFXP2IP3vOKKSip+dMmz7OjWl9mnVpebJecc5c9/dhb9s3XP2kREwIpLEDTEUAAAQQQQAABBBBAAAEEEEDA/wLJ1ULPByBj4TzqmENs6MhznR+siSU9aXILXNK/py369hlbsnJCntOM+Q9Z20Ob5M6AOQgggAACCCCAAAIIIIBAqgnQXgQQQAABR8CzAUjdz3HoLefaqDGX5jvph2gqVCjnNJg/hROoUq2SlSpdqnArsxYCCCCAAAIIIFCCAhSNAAIIIIAAAgggULICng1ANm62n5146mHWo2enfKd96tYoWWUflK4AblpawActoQkIIFBCAhSLAAIIIIAAAggggAACCCCQogKeDUCmaH8VsdmFX71GrSr2++q1ds5pt1izur2jTp3bXmHz535V+IJYEwEEEEAAAQQQQAABBBBAAAEEiijA6ggklwAByOTqj6StTfW99rSNG7fapwuWJayOrVofaEWdEla5fDIubL3zyTZhiwtbX9Yr+hjFEEPGAGOAMcAYYAyk0BiIw/Et44XxwhhgDDAGGAOxjoGEBRHikLHnA5CbN2217775yb79epXr9NPKNaZp2Vc/2prf/ooDWepl0fTgBla+fFn7Y83fqdd4WowAAggg4HkBGoAAAggggAACCCCAAAIlK+DpAOT2bTvsuSen2cnHXG+nHDvYdTq122B7/92F9vhDb3JpcCHHWtXqe1i58mVs25btdu+jA+zjzx+3L358wfSL2ItXPGcfLBxrI+7sZzVqVS1kCf+u9unCZVbU6d+civ9vYetd/DX9t8TC1jd8vV8+mW/7zHzBjnxvjB3z7t35TYVafth79zllqKzwsovyXHl5sd5FaTPrFn3fgiGGjAHGAGOAMcAYYAwwBhgDjAHGQLKPgX8/8Zf4X9cKeDYAuX7dP7Zs6Ur74rPlrg0LzdQZkr/+/IedcsYRoVk8FlCgSpXdnTMgD+/cyrp0a2N7VN7NAoF/f5AmvVS6Vd+rsvU840gb/+IN1unIFgXMneReFKiRud76bphjB23/1UpnZSSsCeWydjhlqCyVWdSClIfy8lq9i9pu1kcAAQQQQAABBBBINQHaiwACCCSXgGcDkLM+WGz9+owyPeZHWioYJNv/oH2t7aFN8kvKcheBatUr244dGbZo/jIb3P9h5wdozu91q3NGaWbmzuw19q1X0/oP6mV169fKnscTfwq02/KdlcrKLLbGqSyVWdQClYfyKmo+sa6vslRmrOlJhwACCCDgMwGagwACCCCAAAIIIOAIeDYAqct9u53Q3nr07BR1Ovn0w23EXRfZhZefaNX32tP2qlnFaTR/CiYw7uE3rUPzfnbu6bfY1DfmOCsv/GSpXXXhaPvf/K+d16E/9RrUsi7dWode8uhTgYY71hR7y3TWYlEL9Wq9i9ruVF+f9iOAAAIIIIAAAggggAACCJSsgGcDkG3aN7ab7+hno8ZcGnW65e6LrWevI6xK1Uq2c2dWcPrvbL2SZfdH6bq8fc5Hn9vWrduzG1S2bBnbp17N7Ne7nvDgM4FEXnadSCqv1juRJuSNAAIIIIAAAggggAACCMRRgKwQcBXwbADStTV5zPzzj3X25eff55GCRYUR+HPNetsZdhl2YfJgHQQQQAABBBBAAAEEEIinAHkhgAACCCCQXAIpEYDUmXpvvznXVv6wOrn0PVCb5i0b2qR377QvfnzBFix7yobffmGOWu+2e3kLpP37gzRakJmRaRvWb9JTJgQQQAABBFJbgNYjgAACCCCAAAIIIICAI+D5AOS2bdttxfJf7NuvV+Waln31o7016WO74vx77JH7XnMazJ+CCXTv2dEa7F/H+dXr8uXLWqejWuT4MZ+GwWW67DqU67p1G23B3K9CL3lEoMQFqAACCCCAAAIIIIAAAggggAACCJSsQHEEIBPWwoyMTHt1wgd2Uufr7JRjB+eaTjtuqA25eqzpB1MSVgmfZ7xl07Ycl1hnZuy0TZu2Oq1u0Ki2tevY1NJ2nQGpYPCklz602TMXO8v5gwACCCCAAAIIIIAAAgggkFICNBYBBBBwFfBsAHL9un9s6ZIfbO6sL1wbxsz4CDz24Os2d/YSy9x1n8dVP/5mX36+wo4/qYONfmSA7VO3hlPQ1q3b7bWJM+2Bu15yXvMHAQQQQAABBBBAoKQEKBcBBBBAAAEEEEguAU8EIGvUqmrdTmhvZ194nN06+hIbNeZSO7ZHe/t51Rpb9/fGXKK6b+Hbs8bYUy8NMz3PlYAZMQvo/pmXn3eX3XHzM/b1lz/awa0aOfeDvOP+y61e/Zr219oN9u5bn9hl59xltw9/JuZ8SYgAAgj4XoAGIoAAAggggAACCCCAAAIIOAKeCED+X9sD7aZRF9p1w86yE089zHr07GTdT+5ohx7WzCrvuZvTkPA/X3z2nT3x8Ju2T9297O6HrrROR7YIX8zzQgi8+Ox0O/34odbmoPOseb0+1qxub2vRoK8dccildu3lDyTtZe6FaCqrIIAAAggggAACCCCAAAIIIICAxwSobnILeCIAOfWNOfbZ/75xJLOysuynlWts1E1PW9cO/W3WB+73G9S9CK+59H7btHGr9R/Uy+rWr+Wszx8EEEAAAQQQQAABBBBAAIGECJApAggggAACrgKeCEA2PbiBNWhUx7kP4Yx3Ftqp3QabzshzbVHYTJ0JOeaOiVZxt/LWs9cRYUt4igACCCCAAAII+FWAdiGAAAIIIIAAAgggkFwCnghAVq2+h5UrX8aWffWj3TjwUdN9CWNl1C8y64dq2hzaONZVSIcAAggUXYAcEEAAAQQQQAABBBBAAAEEEEDAEfBEALJSpYqWFgjYxx9+XqDZ31VQAAAQAElEQVTgo9PC4J8vP1/hnAXZvlOz4Cv+I4AAAggggAACCCCAAAIIIICAnwRoCwIIJLeAJwKQIty2fYet/OE3PS3wlJGx0ypULGfVqlcu8LqsgAACCCCAAAIIIIAAAjEJkAgBBBBAAAEEEHAVSHOdm4Qz09PTbLfdyxeqZnXr17SyZUoXal1WQgABBBBAwFsC1BYBBBBAAAEEEEAAAQQQSC4BTwQg//xjne3cmWWHtDmwwHo687HNoU0skBawbdu2F3h9VkCgUAKshAACCCCAAAIIIIAAAggggAAC/heghTEJeCIA+fmny23D+k12RJdWds2Q3jE1TIkUfBx22/nWvGVD27Rxq/3685+azYQAAggggAACCCCAAAIIIOAjAZqCAAIIIJDcAp4IQG7etNW+/XqVlSlT2s7ud5y9PHWU9erb2bmvoxtvjVpVrd/lJ9pr79xhx5/UwXT59qqVv5l+jMYtPfMQQAABBBBAAAEEiixABggggAACCCCAAAIIuAp4IgCpmn84Y5FzFqSCiQc1rWc33nq+zV3yhC34+imbv3R89rRg2VM2fd4DdtWgXlZn370sEAjY1q3b7ZOPv1Q2TAgggIDPBWgeAggggAACCCCAAAIIIIAAAskl4JkA5LTJ8+yj9z+1zMyd2YIKRpavUNY5E1KXW2sqX76sE3QMJcrKyrLF//vWJj7zXmhW4h8pAQEEEEAAAQQQQAABBBBAAAEE/C9ACxFAICaBtJhSJUmi24Y9bfPnfGkKKsZapZ9W/m7PPvG26TLuWNchHQIIIIAAAggggAACCHhHgJoigAACCCCAQHILeCoAqSDi1ZfcZ6+/9KFt27Y9T1kFKZcsXmFDBoy12TMX55mWhQgggAACCCBQZAEyQAABBBBAAAEEEEAAAQRcBTwVgFQLFIQcfv04u/Tsu+zdtz6xtX+ut8yMTC1yzozc+M8WW7xouY0Y8qT1PnGYffHZd84y/iCQGgK0EgEEEEAAAQQQQAABBBBAAAEE/C/grRZ6LgAZ4l34yVK79vIH7IhDLrUWDfpas7q9rXm9Pta+6QXWt+dwe23iB6GkPCKAAAIIIIAAAggggAACCCAQfwFyRAABBBCIScCzAciYWkciBBBAAAEEEEAAAd8L0EAEEEAAAQQQQACB5BYgAJnc/UPtEEAAAUegRuZ6O3HjIhv49zQb/NeUhEwD/n7HKUNlOYUW7A+pEUAAAQQQQAABBBBAAAEEEHAVIADpyuLVmdQbAQT8KKCAYN8Nc+yg7b9a6ayMhDWxXNYOpwyVpTITVhAZI4AAAggggAACCCCAQBEFWB0BbwkQgPRWf1FbBBBIQYF2W76zUln//thWcTRfZanM4iiLMhBAAAEEEPC0AJVHAAEEEEAAgZgECEDGxEQiBBBAoOQEGu5YU+yF62zLYi+UAhEopACrIYAAAggggAACCCCAQHILEIBM7v6hdgh4RYB6JlAgkZddJ7DaZI0AAggggAACCCCAAAIIIOA/gUK1KCUCkEd3bW3jJgy1w45qUSgkVkIAAQQQQAABBBBAAAEEEEAgeQSoCQIIIOAtgZQIQHbu1tqaNNvP9qi8u7d6h9oigAACCCCAAAIIJK8ANUMAAQQQQAABBBCISSDpA5DHn9TB5n35pC1ZOaHQU/eTO1p6etI3NaYOIxECCCCAQE4BXiGAAAIIIIAAAggggAACCCS3QNJH5dLS0iwtLZDcitQOAQQQQAABBBBAAAEEEEAAAQQQ8L8ALUSgUAJJH4AsVKtYCQEEEEAAAQQQQAABBBDwrQANQwABBBBAwFsCBCC91V/UFgEEEEAAAQSSRYB6IIAAAggggAACCCCAQEwCnglALl603PqcdJM1q9u7wNMLT71jGRmZMYGQCAEEvCVAbRFAAAEEEEAAAQQQQAABBBBAILkF4hGATHgLt27dbh+8t9C++Oy7QpX1+afL7a+1G4JByIxCrc9KCCCAAAIIIIAAAggggAACCCBgECCAAAKFEkj6AOSCeUvt1hvG29tvzitUA7XSpo1bTEHIaZMLn4fyYUIAAQQQQAABBBBAoOQFqAECCCCAAAIIIOAtgaQPQP6+eq1Nn7bA9FhY2qrV9rAmzfezVm0OLGwWrIcAAggggEBOAV4hgAACCCCAAAIIIIAAAgjEJJD0Acj8WtG8ZUMbcWc/e2nqbfbaO3e4TlcN6mV7165mtetUzy87lntMgOoigAACCCCAAAIIIIAAAggggID/BWihtwU8HYDs0bOTPfDEQOt5xpHWuGl92/+gfV2natUre7uXqD0CCCCAAAIIIIAAAgggUPIC1AABBBBAAIFCCXg6AHnqmUeaLq+OpeX6IZsNGzbFkpQ0CCCAAAIIIIBAEgtQNQQQQAABBBBAAAEEvCXg2QCk7udYe5/qMWlnZWXZ4kXf2kczPo0pPYkQQACBfAVIgAACCCCAAAIIIIAAAggggAACMQl4NgBZa++qVnG3Cvbrz3/aqxM+sHtvn2C//brWJj7znj0//h2bMmm2M019Y45Nfm22DRkwNiYQEiGAAAIIIIAAAggggAACCCCAQHIJUBsEEPC2gGcDkGlpabZ16zZ7+vG3bMSQJ+ypR98KBiP/sAOb1LMH73nZhl79iDMN7v+wLV/2k11+zane7ilqjwACCCCAAAIIIIBAyQpQOgIIIIAAAgggUCgBzwYg1dqdO7Ns65ZteupMXyxeEQxA1rVL+/d0Xof+bN++w9p3bGZND24QmsUjAggggAACHhWg2ggggAACCCCAAAIIIICAtwQ8G4D88491jnT/68+wRd8+Yy+8cYstXfK9bd+2w/peeJy9MeNuu+P+y+2+x6+2ywacYrVqV7O69Ws66/AHgSILkAECCCCAAAIIIIAAAggggAACCPhfgBbGRcCzAch5s5fY+r83WtVqe1iZsqVtv4a1rVSpUqZ7Qqanp1mDRrXt+JM62NFdW1vlKrtbWlogOHm2ucY/BBBAAAEEEEAAAQQQQCBVBWg3AggggIC3BTwdkfvsf9+YLsNWFyjAqEcFJjN2ZOppjumffzbbmt/+yjGPFwgggAACCCCAAAIxC5AQAQQQQAABBBBAAIFCCXg6ADnh6Xftu29+chr+08rf7YvPvrPJr82y77/7xZkX+pOVlWWL//etzZ/7VWgWjwgggIBHBag2AggggAACCCCAAAIIIIAAAt4S8HQAcsXyX+yy8+62ay65zy4//x5b+cNq0zz9Kvas9z+zdX/940xTJs22mwY9Hr+eIScEEEAAAQQQQAABBBBAAAEEEPC/AC1EAIG4CHg2ANm8ZUO7fvjZVqPmnjZ92gL7ffXabBCdCXn5+Xdbp5YXO9NLz82wk08/Ins5TxBAAAEEEEAAAQQQQMA7AtQUAQQQQAABBLwt4NkAZN36tazLcW1Mj/l1gdJ0P7lDTGnzy4vlCCCAAAL5C9TIXG8nblxkA/+eZoP/mpKQacDf7zhlqKz8a0SKOAiQBQIIIIAAAggggAACCCBQKAHPBiAL0tpSpdJsj8q7W70GtQqyGmkRSEIBqoRA8gsoINh3wxw7aPuvVjorI2EVLpe1wylDZanMhBVExggggAACCCCAAAIIIIBAsQv4q0BfByBr1KpqPXsdYaf16WxVqu5ulSpV9Ffv0RoEEEAgCQXabfnOSmVlFlvNVJbKLLYCKQgBBBBAAAEEUkeAliKAAAIIxEXAMwHIHj072fyl423JygnONGrMpVajZhXTY2he5OOMTx60EXddZM1aNLBAIBAXMDJBAAEEEMhboOGONXknSMBSnW2ZgGzJEgEEkkSAaiCAAAIIIIAAAgh4W8AzAciiMv/zz2Zb89tfRc2G9RFAAIFUFYi53Ym87DrmSpAQAQQQQAABBBBAAAEEEEAgaQRSIgCZlZVly7780ebP/Spp4AtXEdZCAAEEEEAAAQQQQAABBBBAAAH/C9BCBPwl4JkAZEZGhm3atNU275q2bNlmmZk7TY+heW6Pv/78h7064QMbdNVD/uo5WoMAAggggAACCCCAAAKJFSB3BBBAAAEEEIiLgGcCkNMmz7OjWl9mbRuf70wjh463P/9YZ3oMzXN77Nqhv90y9EkncBkXMTJBAAEEEEAAgWIVoDAEEEAAAQQQQAABBBDwtoBnApDeZqb2CHhegAYggAACCCCAAAIIIIAAAggggID/BRLSQs8GIKdMmm2d215hegzJND24gfXo2cmZ9Dw0n0cEEEAAAQQQQAABBBBAAAEEvCNATRFAAAF/CXg2ABneDedf2sNm/m+sTXjzFhs15lJn0vOpH91rPXsdEZ6U5wgggAACCCCAAAIIxCZAKgQQQAABBBBAAIG4CHg+AHnr6EvsqmtPt2rVK1sgEMhGCQQCtm+9mjZ05Ll21aBe2fN5ggACCCDgLQFqiwACCCCAAAIIIIAAAggg4G0BTwcgTznzKDvqmP+z9FLpUXuhbNkydnqfo63bCe2jpmFBvgIkQAABBBBAAAEEEEAAAQQQQAAB/wvQQgQSIuDpAKSCj7tXqpAvzB6Vd7PuJ3fKNx0JEEAAAQQQQAABBBBAAIGSF6AGCCCAAAII+EvAswFI/chMw/3r2LZt2+39dxfa0Ksfsc7trrRmdXs7U9vG59uNAx+1+XO/sh3bM0xptY6/uo/WIIAAAggggEDCBMgYAQQQQAABBBBAAAEE4iLg2QBk3fo1rUKFsvbis9NtwEVjnF/D/n312myUzZu22puvzrILz7zNXn5hhpUrX8b2rlMtezlPEEDAGwLUEgEEEEAAAQQQQAABBBBAAAEEvC0QSwAyKVuYlpZm27bvsG+Wrsq3fl998YPt2JFhuh9kvolJgAACCCCAAAIIIIAAAggggEBqCtBqBBBAICECng1ASqNcuTLOpdV6nteky6+VNq80LEMAAQQQQAABBBBAIDkEqAUCCCCAAAIIIOAvAc8GIH/5+Q/bumWbndr7KLv2xj5Wo1bVXD2jeUNHnmtnnN3FSat1ciViBgIIIIAAAm4CzEMAAQQQQAABBBBAAAEEEIiLgGcDkJ8uWGa//PSHVdqjop3T73ibPu8BW7DsKZu/dLwz6bnmnXn2MVahYjknrdaJixqZFJsABSGAAAIIIIAAAggggAACCCCAgP8FaKG/BTwbgFS3zJq52LZu3a6nFggErHz5sk6wUQFHPQ8EAs6yLVu22XtvL3Ce8wcBBBBAAAEEEEAAAQQQQMBVgJkIIIAAAggkRCAtIbkWU6ZPjp1s7039xDIzd0YtUcumvz3fXnjqnahpWIAAAggggAACCCSPADVBAAEEEEAAAQQQQMBfAp4OQKorbhv2tL303HTb+M8WvcwxaZ6WKU2OBbxAAAEE8hNgOQIIIIAAAggggAACCCCAAAIIxEUgqQOQsbRw86atdvvwZ+ykLoOcxzdfnWWawucpTSx5kQYBBBBAAAEEEEAAAQQQQAABBIpfgBIRQMDfAp4IQB52VAt74Y1b7LV3LimFdwAAEABJREFU7sie9FrzQ93z++q1NuHpd+3GgY86k55rXmg5jwgggAACCCCAAAIIIJCnAAsRQAABBBBAAIGECHgiALlH5d2t4f51bP+D9nWmBsHnZcqUsm1bdyQEhUwRQAABBBAoOQFKRgABBBBAAAEEEEAAAQT8JeCJAGSIPCsry5Z++YNdft7ddtpxQ23+3K9Ci3hEIL4C5IYAAggggAACCCCAAAIIIIAAAv4XoIXFIuCZAKSCj7M/WGznnT7S5nz0ebHgUAgCCCCAAAIIIIAAAggggEDiBSgBAQQQQMDfAp4JQG7Zss0+DgYeC/ODMmeec4zN/N9Y69Gzk797k9YhgAACCCCAAAKFF2BNBBBAAAEEEEAAAQQSIuCZAGRm5k7b+M+WQiHo/pFly5Yp1LqshAACCBSvAKUhgAACCCCAAAIIIIAAAggg4C8BzwQgy5UrY/2uODH7V7DDfxE7r+evv3en9Tilk6WnF6Cp/upjWoMAAgggEKNAjcz1duLGRTbw72k2+K8pCZkG/P2OU4bKirFa+SZTXtTbvb8S4Z1vh5AAAQQQQAABBLwjQE0RQKBYBDwTlStdupTVb7C37X/QvgWaGh6wj5UvX7ZYMCkEAQQQQMC7Agri9d0wxw7a/quVzspIWEPKZe1wylBZKrOoBSkP5UW93SXj7e1eCnMRQKCoAqyPAAIIIIAAAv4W8EwA0t/dQOsQQAABBEpaoN2W76xUVmaxVUNlqcyiFqg8lFdR8zGzmLJQWSozpsR5JFIeyiuPJHFdpLJUZlwzJTMEEEAAAQQQQAABBBCISYAAZExMJEKguAQoBwEESkqg4Y41xV60zlosaqHUO3bBeHjHXhopEUAAAQQQQAABBBDISyC1lnkmALljR4b9sOJX+/brVQWaVv6w2nZsT9yldKk1XGgtAggg4F+BRF52nUg16p1IXfJGAAEEEPC9AA1EAAEEECgWAc8EILdu3W7jHnrTTjl2cIGm7kcMtJdfmGEZGcV3WV2x9ByFIIAAAggggAACPhGgGQgggAACCCCAAAL+FvBMADIQCFipUoWr7soffrPt23f4uydpHQIIIFA0AdZGAAEEEEAAAQQQQAABBBBAICEChYvoJaQqeWeqX7Juc2iTvBNFWfrBe4ts1LCnbcG8pVFSJMts6oEAAggggAACCCCAAAIIIIAAAv4XoIUIpJaAZwKQ6elp1q1Hexv3wlBr3rJhgXrp99Vrbfq0BabHAq1IYgQQQAABBBBAAAEEEPCvAC1DAAEEEEAAgWIR8EwAUhrppdKtXcemThBy9Nj+1qBRbc1mQgABBBBAAAEPC1B1BBBAAAEEEEAAAQQQ8LeAJwKQ69f9Y999+3P2r1//vGqN1dy7qtXep7q/e4fWIVB8ApSEAAIIIIAAAggggAACCCCAAAL+FyiRFnoiADnrg8XW56Sb7JRjB2dPeq35JaJGoQgggAACCCCAAAIIIIAAAggUWoAVEUAAgdQS8EQAMrW6hNYigAACCCCAAAIIFIsAhSCAAAIIIIAAAggUiwAByGJhphAEEEAAgWgCzEcAAQQQQAABBBBAAAEEEPC3AAFIf/dvrK0jHQIIIIAAAggggAACCCCAAAII+F+AFiJQIgIEIEuEnUIRQAABBBBAAAEEEEAgdQVoOQIIIIAAAqklQAAytfqb1iKAAAIIIIBASIBHBBBAAAEEEEAAAQQQKBYBApDFwkwhCCAQTYD5CCCAAAIIIIAAAggggAACCCDgbwEFIP3dQlqHAAIIIIAAAggggAACCCCAAAISYEIAAQRKRIAAZImwUygCCCCAAAIIIIBA6grQcgQQQAABBBBAILUECECmVn/TWgQQQACBkACPCCCAAAIIIIAAAggggAACxSJAALJYmCkkmgDzEUAAAQQQQAABBBBAAAEEEEDA/wK0MLUFCECmdv/TegQQQAABBBBAAAEEEEgdAVqKAAIIIIBAiQgQgCwRdgpFAAEEEEAAgdQVoOUIIIAAAggggAACCKSWAAHI1OpvWosAAiEBHhFAAAEEEEAAAQQQQAABBBBAoFgESjQAWSwtpBAEEEAAAQQQQAABBBBAAAEEEChRAQpHAIHUFiAAmdr9T+sRQAABBBBAAAEEUkeAliKAAAIIIIAAAiUiQACyRNgpFAEEEEAgdQVoOQIIIIAAAggggAACCCCQWgIEIFOrv2ltSIBHBBBAAAEECilQI3O9nbhxkQ38e5oN/mtKQqYBf7/jlKGyClnN7NWUh5fqG6o49Y4+tuI5PvCO7hzavuPpzbiO7h1PZ8Z1dOdEjOv/Z+8s4KWovjh+lg5BULpLpAVBpJQQQbpDSkq6QbobpLsbpDsElO5QRMCikZRWTOI/3wuz/3n7dl+xO28fXD7ctxN35p45c+fec34nbkTlt/4ePfcT/T2avVokovaT/z+B/2xpANJ/3oWmRHNAc0BzQHNAc0BzwM85gBBa9/5eyfzvFYn65KHPqI3x5D/VBm3RZlgb4lruEVHoNZ9T021ywv2vm/7hvmIIj2p+B80ob/Fb89kePputaH6bnHD/661+bd49ovE7otEbUfms6TY5EPSvt7/HoFsLv7MagAw/3uuWNQc0BzQHNAdeKA7oh3kZOJDvr9MS5ckj2x6VtmgzrA1yLfcI6/WhvY62aDO017nW5x7cy/W4r/Zpizaf9/7cg3s9731Cej1t0WZI63uqxz24l6fz3j5OW7T5vPflHtzree8T0utpizZDWt+1HtdyD9fjvtqnLdp83vtzD+71vPcJ6fW0RZshre+pHvfgXp7Oe/s4bdHm896Xe3Cv571PSK+nLdoMaX1P9bgH9/J03tvHaYs2w3pfruUeYb0+tNfRFm2G9jrX+tyDe7ke99U+bdHm896fe3Cv571PSK+nLdoMaX1P9bgH9/J03tvHaYs2vX1ff7mfBiD95U1oOrzDAX0XzQHNAc0BzQHNAR9yIMN/N3x4d/e3xnvR/Zngj0Y0es0n0nSbnAj+93n6h3l3zW+TE8H/Pg+/NZ+D569Z43n4bN5D89vkRPC/LyO/df8Ivl+YNfy6f5hEuvl9mel2ww6/OKQBSL94DZoIzQHNAc0BzQHNAc2BiMABX4Zd++L5Ixq9Jg803SYn7PnV/NZ8DooDwfWPoK4Nz3Oabnu5H9H4HdHoNd+mptvkhD2/EZXf9nAn9K1oADL0PNNXaA5oDmgOaA5oDmgOaA74Ewc0LZoDmgOaA5oDmgOaA5oDmgOaA37NAQ1A+vXr0cRpDmgORBwOaEo1BzQHNAc0BzQHNAc0BzQHNAc0BzQHNAc0BzQH3HHgxQIg3T2hPqY5oDmgOaA5oDmgOaA5oDmgOaA5oDmgOaA5oDnwYnFAP43mgOZAhOKABiAj1OvSxGoOaA5oDmgOaA5oDmgOaA5oDvgPBzQlmgOaA5oDmgOaA5oDmgMh4YAGIEPCJV1Hc0BzQHNAc0BzwH85oCnTHNAc0BzQHNAc0BzQHNAc0BzQHNAc8GsOaADSr1+PJi7icEBTqjmgOaA5oDmgOaA5oDmgOaA5oDmgOaA5oDmgOfDic0A/YVg4oAHIsHBNX6M5oDmgOaA5oDmgOaA5oDmgOaA5oDmgORB+HNAtaw5oDmgOaA5EKA5oADJCvS5NrOaA5oDmgOaA5oDmgOaA/3BAU6I5oDmgOaA5oDmgOaA5oDmgORASDmgAMiRc0nU0BzQHNAf8lwOaMs0BzQHNAc0BzQHNAc0BzQHNAc0BzQHNAc0Bv+aABiC98nr0TTQHNAc0BzQHNAc0BzQHNAc0BzQHNAc0BzQHNAdefA7oJ9Qc0BwICwc0ABkWrulrNAc0BzQHNAc0BzQHNAc0BzQHNAfCjwO6Zc0BzQHNAc0BzQHNgQjFAQ1ARqjXpYnVHNAc0BzQHNAc8B8OaEo0BzQHNAc0BzQHNAc0BzQHNAc0BzQHQsIBDUCGhEu6juaA/3JAU6Y5oDmgOaA5oDmgOaA5oDmgOaA5oDmgOaA5oDnw4nMgQj+hBiAj9OvTxGsOaA5oDmgOaA5oDmgOaA5oDmgOaA5oDtjHAd2S5oDmgOaA5kBYOKAByLBwTV+jOaA5oDmgOaA5oDmgOaA5EH4c0C1rDmgOaA5oDmgOaA5oDmgORCgOaAAyQr0uTazmgOaA5oD/cEBTojmgOaA5oDmgOaA5oDmgOaA5oDmgOaA5oDkQEg5oADIkXPLfOpoyzQHNAc0BzQHNAc0BzQHNAc0BzQHNAc0BzQHNgRefA/oJNQciNAc0ABmhX58mXnNAc0BzQHNAc0BzQHNAc0BzQHPAPg7oljQHNAc0BzQHNAc0B8LCAQ1AhoVrL9k1iZO+Lv2GfSqb946Voz/Ple8vLFLl8E9zZN32kdK2S02JFTvGS8YV/biaA5oDmgOaA+HGAd2w5oDmgOaA5oDmgOaA5oDmgOaA5kCE4oAGICPU67Kf2Bp1i8vidQOkcs2ikjR5Ajl5/KzUrthbmtUbJlcv35Q06ZJKo+blZNnGwVL0w9z2E6hbDDcO6IY1BzQHNAc0BzQHNAc0BzQHNAc0BzQHNAc0BzQHXnwOeOMJNQDpDS6+oPeoXqe4tO1cUxIkjKee8NeLv0m/bjPk+LenZe/O72TquFVy/94DcTgckipNEukxoL68VzSnqqv/aA5oDmgOaA5oDmgOaA5oDmgOaA5oDmgOeI0D+kaaA5oDmgMRmgMagIzQr893xBNSXblGEYkTN5azkZPHz8iZXy479zes3iu/Xrrh3E+U5DWpYYCWzgN6Q3NAc0BzQHNAc0BzQHPgheKAfhjNAc0BzQHNAc0BzQHNAc2BsHBAA5Bh4dpLcE35Ku9JugzJnU/66OEjuXb1tnPf3Lhx7Y65qTwhM2VLI+8WyOo8pjc0BzQHNAe8zgF9Q80BzQHNAc0BzQHNAc0BzQHNAc0BzQHNgQjFAQ1ARqjXZR+xyVMmkmjRojgbfPz4ifzz97/OfXPj9q375qb6jRs3tiRLkUBth/bPwVNz5XlLpWu3JTxKWOkOD1ppM6z0mtdxj/AoZvth/Q0PmmkzrPSa13GP8Chm+6H9DQ9aaTO0dLrW5x7hUVzpCO1+eNBMm6Gl07U+9wiP4kpHaPfDg2baDC2dZn2uDY9ith/W3/CgmTbDSq95HfcIj2K2H9bf8KCZNsNKr3kd9wiPYrYf2t/woJU2Q0una33uER7FlY7Q7ocHzbQZWjpd63OP8CiudIR2Pzxops3Q0mnW59rwKGb7Yf0ND5ppM6z0mtdxj/AoZvth/Q0PmmkzrPRyXWhxGDvrawDSTm5HoLbivhpbIkeJHGqKoxjXAF6G+kJ9geaA5oDmgOaA5oDmgOaA5oDmgOaAJw7o45oDmgOaA5oDmgMRmgMagIzQr893xLO4DGHXoW3h4aNHcuvmvdBepuq/m+UT0UXzQPcB3Qd0H9B9wH/7gH43+t3oPqD7gO4Dug/oPqD7gO4Dug/4bx9Q4Iqf/tEApJ++mPAm68w+vDsAABAASURBVPKlG/Lvvw+dZESK5JDoMaI5982N116Pa26qX4DLs5aFatRB/UdzwJsc0PfSHNAc0BzQHNAc0BzQHNAc0BzQHNAc0BzQHNAciFAciBQWavU1Lz4H1q7YLefPXnU+KOHYadIlde6bG4mSxDc35cmTJ/LjifNycN9J5zG9oTmgOaA5oDmgOaA5oDmgOaA5oDmgOaA5EHE5oCnXHNAc0BzwBgc0AOkNLr6A9/jzwd+y/Itt8vv9P51PlzFTSsmRK4Nzv0zFgpIiZSLn/o1rt2XJgq+c+3pDc0BzQHNAc0BzQHNAc0BzwCsc0DfRHNAc0BzQHNAc0BzQHIjQHNAAZIR+fb4lfqkBJo4dvlhu/nZXNZQ0eQLp1KO2AiELFn5LmrapJCxWg+fjxfPXZFCvObJ7+zFVV//RHNAc0Bx48Tign0hzQHNAc0BzQHNAc0BzQHNAc0BzQHNAcyAsHNAAZFi49hJds2T+V1KzXC9ZuXi7XL18U7LmSCcLV/eXKfO6CIAkYdozJ6+TaqW7y/atR33PGd2C5oDmgOaA5oDmgOaA5oDmgOaA5oDmgOaA5oDmwIvPAf2ELxQHNAD5Qr1O3zzM9au3pE+X6VKyYFvJnfETyZ66lirvvFlfyhXtKGOHLRZCtn3Tur6r5oDmgOaA5oDmgOaA5oDmgOaA5kB4cUC3qzmgOaA5oDmgOeANDmgA0htc1PfQHNAc0BzQHNAc0BzQHPAdB/SdNQc0BzQHNAc0BzQHNAc0BzQHIjQHNAAZoV+fJl5zQHPAPg7oljQHNAc0BzQHNAc0BzQHNAc0BzQHNAc0BzQHNAfCwoGIBUCG5Qn1NZoDmgOaA5oDmgOaA5oDmgOaA5oDmgOaA5oDmgMRiwOaWs0BzYEXigMagHyhXqd+GM0BzQHNAc0BzQHNAc0BzQHNAe9xQN9Jc0BzQHNAc0BzQHNAc8AbHNAApDe4qO+hOaA5oDmgOaA54DsO6DtrDmgOaA5oDmgOaA5oDmgOaA5oDmgORGgOaAAyQr8+Tbx9HNAtPQ8HYr8SUzJlTfM8t9DXag5oDniJA0mSJZA33kzppbvp22gOaA5oDmgOaA5oDmgOaA5oDrxoHNDP4wsOaADSF1zV99Qc0BwIwIH+w5vKknVDpG3njwMc1zuaA5oD9nIAY8CICW3li7WDpXrt4vY2rlvTHNAceCE4UKR4btn97QyZ+UVvYUx5IR7KTx/ipee1n74XfyKrdoNScvjHeTJ0TCt/IkvTojmgOaA54JYDGoB0yxZ9UHNAc8BbHOjUs66UqVhI4r4aWz5tWVGDkN5irL6P5kAYOIAxIF+h7PJ6glelc+9PNAgZBh6+bJfo59UcsHIA7+kuxtiRIlUiKfzB2zJu+mcahLQyyIvbmtdeZOYLeisA6lYdqkmChPGkco1iGoR8Qd+zfizNgReJAxqAfJHepn4WzQE/4wBW2TqGZfbRo8fy6OEjpaRoEDLUL8lrF3zyaVmpWL2I1+6nbxSxOIAx4KNyBeSfv/8VvkkNQobv+9PfY/jyX7ceeg4AiH0+oa1K4cCcHjlypBcGhPS371HzOvT982W7AvCxz5BPJWGi+GpOjxotigYhX7ZOoJ9XcyACckADkCF6abqS5oDmQFg4kC5DcpkzbZ1kTVld+nSdJnfv/K5ByLAw0gvXdOxeWzr1qCNvZkrthbvpW0Q0DhAmmTjJazKkz2zJmqq6TB6zTP42gEgNQobPm9TfY/jwPSK12n94M8Fo4E80N2ldWWLGiiENPx4gdSr3ltM/X5IXAYT0x+9R89p/en6uPG9KoSI5/YegZ5Q0blFRbly7I9XKdJVOrcbI9Wu3RYOQz5jjlR99E80BzQFfcEADkL7gqr6n33IAa+HmvRNk4qwugkDht4S+IIQN6DFDxgz7Qj3NwtmbZMSgBRqEVNyw9w/KVeOWlSRSpEhy7sxlext/yVpjgZfu/RvKqMntpc1nNRXg7g8sePDHX/JZq7GyYNYmRc7IwQtlxsRVGoRU3LD3j/4e7eW3P7WGV9var0fJ6MkdghwbRk5qJ1U+LiZ/Gt+tP9HPGFKyYCvZte0bObD3e+ncepz8dOqC70BIGx7eX79HzWsbXn4Im2jRvpqMn/GZ1G9SLoRX2FOtTuVeUqNcN/n2yE+yeukO6dVpsly7clODkPawX7eiOaA5EEYOaAAyjIzTl0VMDvz7z38qF2HpCgXVoigrN38uJcvkj5gPY1AN2NGhW20FdmAJxcvJOByu//MVzC4LVw9UhW0rMREZhASwXrBygPx8daWcu7VW/dJ/XJ/R+rz+sF2sRB4pW+k9Obz/pDx48JfkyPWGP5AVJA3vF3tbZi/pI5t2jVP5xeB9kBf4yUkWdVm/fbQ0al5BKlUvKu26fCxT53UPEmgIT9JDAkKGJ31Bte2PY19Q9JrnIuL3yLzC/DLKANWZb+C9+Tz++gvNn/WqJ+uM73HVlhEq/3B40wpNfYY0kWxvpZdyVd6XgSOaux0bAB8rVC0iv12/I5vW7Q9vsoNsH+CjW/sJERaEjEjfo+Z1kF3RJyeRPZDzin6YR+LFj6OiSPx5McWtmw5K785TIywICcC7eO1gZaDxd9na7HD0EeZG6GaeZJw3z/nzL7rv0LGtBU/7iMJreAuP4XdEkUXoA83aVpFDP8yVszfXqHLkp/nSvV8DTr20RQOQL+2rfzkffN/u43Jo30l58uSJshAycUye21W27p8oDBAMbn7GGY/kfFjqXVm8dpC07lRDgR3d+zeQZRuGhrtnZ4v2VaXAezlUadSiQiD6IyIIiecsEx4h5Xh93Ll1X6JEjax4PWFWZ79eyGPbliNS9J1mUq9qH9my4YDkLZBN0qZPHui9+MsB8oaOndZR4HmmrGmkXOX3ZNLsLuLvuSuhk3DJbVsOS4fmo4R0Aw6HQ7LnzCAouf7CX1c6IiII6a9jnytv3e1HtO+ROXKRYVBifgFUZ75ZsWmY8A7cPZ8/HGMenzynqzQ3hP5sOdJLztwZhUVTiHzgXHjRaC4A5XA4lMdgucqBQchh49ooo+jff/0jVy7fjBAe61ev3JIfTpxT3tQRLRw7on2Pmtdi2z/k2BET20n06FGlZYNhUqJAS1m1dIdkzJTKreHANsKCaejmb3fl1InzESonJOPyzC96S8+BjeTdgtmUvDd7aR81bgfzuOF6unrt4jJ9YU+lg0E386Q/6GFBMQVeM8/g0VujzodSt1FpiQi8joiyCO9h6JhW0rJ9NTl/5or8ePK8PPzvkVoEsmHzCkKf531Qz015oQ9pAPKFfr364dxxAIDg/r0H8ueDvxUQ6XA4JEPGlNK5Vz3ZeXSa9B3aRPzdwwNwpvfgT+XGtdsyfeJq5X3As2bOllaGjG4lDNTsh0dBQGaBi6DajkggJJNDyw7V5eZv9+RDQwAFyCtdpJ1sNsA8kvBjFc/9bpagHjdczrlLqP/Vl4ckRoxoUqqcf3r9wuuP65WUaIbAv3v7t2qyhsd8jz0HNPJroLduw9LG93hH+nWbLmuW75Q509bLjet3hPEGJTdcOkEIG41IIKQ/j31BsTsifo+ECw8a2UKiRYsqU8etlKOHfhS+x2QpEgpgmr+CkJ80LiPv5M9qgHdXZMdXR5UxIHKUyFKybH7lUc04E9S78sU56EmeIpGQp61yyc/UnA1Y5wpCrlu5S+pW6S3btx6Rx48f+4IUr94TBXz11hGS773scvHcVfn9/p8KXPX31bEj4veoee2drsu4tnzTcEHWD+qODZuVN8CCh9Ku6UhD3tsvv/x0SXp9NllaNhwmpDQJ6trwOod35qzFvQ2dJoWcPX1Z/jIMGREhJ2QrQ8Z+r0hOuXXznjFuX5b//n2oZNUGzcpJ1z71w4udQbaLIb9pmyrySpyYqm/gmMAF/qCHQYenwtyNUfyL+Ztl09q9asxGL/BnXvPNRkRZBI/eDz7KK8jY1ct2k9KF26ox5NqVm2qezJw1jbwVAaLSPPWl5zmuAcjn4Z6+NkJyAHDgxPEzxiR3RXp0nCTHv/1FKVUOh0NZJRBMv9o/USbN6Sp2u6UjYBJ+BeASFHMbt6woFy9ckwY1+8vg3rOkSqnOhsJyVAD+3sySWgaPaqlWqQzqHr4617/7dBn3+WKZN2ODDO8/12MzEQWELG5MHmnSJVX5rkyhk8nj4N4Tct9QttYs3yFd2ozz+JzhcYKcVu271jKE0JQBmkcZR4gGxAlwwk924HXCxPFlwsilymOz1PttZMakNfLPP/+qb7Nz709sBSEBKmYY1u1jZxYJv+y7YxXgQsrUieXu3d+disnY4V/Iu1k+kfbNRjmPubvWX44hIEWEnJD+PPZ5epcR9XtEuXI4HNLm089lmDGWVzXmmeVffK2UQ+YoFBmfjiWeGBrM8XyFsssvP16U8h90kAY1+klDY54M7zyFpMCoWb67kKfNNZTWCkLu2XFM5XN7YBhIg3nMcD/Nu2/dqabs3XlM8mdrICULtZZPqvVxgqv+CkJGxO/RH3kNH5kXGQs8dUbq+JMswhxOGoS333lTatYrIf2GN3VLeg4DFHgzSxr5/rszgsxkVuJZu/WtL18fnCwnLiyRL3ePF3+JziB6pFb9j2ThnC+lcO4mymOz7acjIkQ4dqGiOQ1en5YKxTtKsbzNpXPbcWpBnejRo0n9pmX9EoQsUeZdiRfvFRk1ZJHi9Xtvfypfrt/v1MPC2xnE7LPW35qGgT9v/myCfNqn81Rp0WCYDOw5QwG/Jq+J5LFe4w/b/iaLwKMdR6YF++2/VzSX3Lv7hyxb9JWTjTu3fStnz1yRq5dvSvcOE4XITOfJl2hDA5Av0cvWj/p/Dmw2JolESeILAy4THqs5bt6wX1kLqYWQUqpcAZm3vJ+Q/4VcGRw3C5Yvc9tbvwiYCGqEuQUFQpK/MpMhGLH6pAmI8Xv04Cn568+/1eSXKWsa5emB1chb9IX0PtACANmny1Sn4IZV1l34W0QAIdO/kUJixYoR4PGxarHAyPath6VjizHOc4SPNG1T2bkfHhsI/I1bVlIpBpIkfT0QEL3jqyOSLEVCqVC1cLDk2V0BXl+/dkuB12bbQ/vNkTlT14cLCFmidD4BzHg13itC6DoAqUmX9TdFykQSJ25sSZosQbDh7ZPndhNPSo/1nuGxHZ4gJGPEkZ/my5Z9E4Wx0N3z+/vY545mf/weMXTtOz5LKGy7oxsF/N0C2eTC+atCKLBZZ/+e7+XevT8ET0iU8SGjW3p8X+Y1dv/Gfz2u8nxkLqJtV8DPH4AxV5qsICQ0R4RSt1EZefTokWEwWuYk1/W5/IHXTuKMDX/8Hg2ygv3vb7wG7KrXuKwUK/mOeJJX/Y3XyPWfT2ir5nSHw6Hk/xp1PnQ7H0ePEU2iRIkkBd/PodJNIEtz7Ze7x0mT1pWFdDzcD4N/3yFNbDWMuuss0EL0yKUL12XEwPnOKls3HfTrnJDMP3UblZaoUaKoyBGM+xBUOW0QAAAQAElEQVSPoQbZ7/q12+o9+RMISV9o2b6apEiZWM788qtMG78SkpWhmYWjtmw8YIyLj4W+YRcICU149R47s0g5oCiC3Pz5wPhe8aw/efys8+yGNXvlyq+/CWskoBM3blFBANicFcJ5w99kEcY+Ip5Sp02igPGgDBA4JljZh8zEeJk2XTIFPu746qg6TTQJYfE8qzrwEvyJ9BI8Y0R+RE27jziwcsl2uXHtjpQuX0C1QF6/ZvWGSO2KPeX82SuCcuWaJ3LPsRlqFTwG+S/WDlJCibrYC38ImSbMgMHJ4XBI/kLZPQp1yZInVPlnatcvJYB6NI/w8ZEBmK5dsUt2fv2NmJ6QY6d1UgAU5+s0LKWuo76dBWDh05YVPYa/BQVCwg9ot5Ned21FjRpFecNCiyfwkevIDYTFi+3wKKbATzhFLAM0rVKzmKz5epSweI4JotP379z5XYqVeCc8SAzUpnXBmTIVC8nd2//3IjQrI4h6AiEBpXgvZl1v/p747rQg0HPPPw1wH0sm267ltxt3BI+llKkSS9VaH7ieDrAfJUpkAWgNcNCmHYRUcs4gpH7z8wKV6J1vzNp8UCAkdX3Fa9796wlelQwZUwjAr5UmczuijX3++j2WN4wPSZMnEAoLVJn8tf4CpvOueRdzlvRxzh3lqxSW49+eFqsnJIupmKAxHhb0M+u9fL0NneaCMxt2jJH48ePIrxevB2g2KGCM+bdQkZwB6tux40qTKwhZ8P235PSN1fL9+cWy7dBkNY6TeoV8s/AYQwZ5vOyg1bWNd/JnlSzZ0si//z6Uc2cuBzjt+lxWEBK66SMBLrBpx1+/x+Ae3994zbfeqkM1taCjw+FwK6/6I697Dmgo7+TLImOGfSEDe850en3VcANC4rF85vRllY5p2oIegmGs6scfCMZIdINrV28JKW0Ic477amzhXHDv0ZfnMY6mSpNE/v77n0DNBAVCEuXlC2M0YyrjE4Z6xudARBkHMNb3HNhYuvVrIORUP/3TJePo//8HBUL6Uhb5PwWBtxi/CAXu0L2O0h/PnrkSoBJGr6BAyFA4rwS4b3A7zB05cmZQ/bPoh7mFMcPdNYkSxxf6ydT53VWuYeqQsiRW7BgyfMA85zfRqHkF4RvmPOAYhe3wKP4ki1jHPniROMlrwYKQyFnVahVXY4k78JH7wP/3i+YMN90AGuwuGoC0m+O6PZ9zgMkOD8CgGmKSIMdcujdSOD3BmFj6DPlUYhrATafWY2VIn9mClyHChsPhkOQpEwnKGvWmjF0hTOpBtRHSc9yPCS1mrOgqnyMWNa71BEICiPz15z8qf0SKVImoKvUal5EYMaMrpZBwuX27vlPH4cOCVQNl065xgsXO7lwTWIoaNiuvlFfyXVkVEUXgsz+uIGTzdlXkqwOTDLrHStvPaj6rFT4/P546b4BLf0n2nOlVfk0EKlfPR5OyG9fvmJvh8pvGsKptWL1HCdekFiCPTkyjXxQs/JZMnttV9hggegvDcrtv53fy1ttvhGuuUBhE/7AuOINXAYtGYBXnvLW4gpAo4gdPzRUWl/BVvyb0qkHN/sI31aTOIOVVZaXJ3EbhZsXaqNGiSOXqRfzOIww6EZxQpN4vmkspjniJVahWWKYY/YIxiDpmcQUh4TXf40YD3EGQMut58/f7Y78owwkJulnAx929I9LYB/3++j0eO/qz8ihmbrv12z1IDVSuXrkp5Ep2OBySMPFrSjAG+EqXIZmsXbFTurabIGtX7hKMdcyNo6d0kO2Hp0jnnnUl97tZAt3PVweY7yfP6epccCZL9nQGsJpQSpUvqOYda7t8p9YVm1HUtu6bKHOX9VNzu7WuXduuNKFIAug6HA5FAvPmK3FiKc9qxvEGTcup6AYAkYpVi8iBvSdUPbv/JDMA7NivxJL4r8VxO965Phe8Rg5BHilrGJp4b3bRTFvM28VK5JXN6/eHcH4M//nR5I8/8RrwAl4CvPTsNFmOHPxBkekqr6bxQ1lksiG3V/mos0wYuURmTl4jA3vNdIb5ugMhJ4xYKj//eFEYJ3lIfi+cuyboBqQc+LT2QGlWb7CK9In3WlyqhFtJnTapsFgOYI07kAt9pXfnqc5wbABTxutJxtj5frFcXqeb/Jr1GpWR1h1rCPkdXRtA9mvRrprEiRtLkFEBabIZAJprPVcQEn1i6/6Jsm7bKGnX5WPX6j7dZxwhfD+PAWJHiuSQ1wyDKbITYKi1YfRLVxASwA9+85spaxprda9sf3P4RwM8vKvu9ccff8nNG0+31QHLH+Z1+jFzSqo0idUc+WHpfHJgz/fqmxg9dJEgf8WIEU0+bVVJkPtYiIn8yZbb2LoJzf4ii1Sv86F8a8hP+bM3VHmxSQ8VFAh54dxVFUH3cb0SMm5aR3H1fDQZSe5TnBjM/ZfhN9LL8JD6GV8uDgCwLF0/1Gm98fT0Sxd+pQZaLDtMIoRXMJEAdDDpsbjLh/lbqhDbc88s/AyCDNBzpq3zdNtQHye8DVpqlOuu8jk2/2SIAB5xI1ehjmOEipO/Y9vmw4YgNEdNIISL37h+WxD6mfya1x8qhMo5HA7B4kUo7rpVe2zPNVGoSE4B6EVQBVhFmQoJCEkYQBpDoPraeMbBfWbz2LYU3n/3/g2FFa8RshE48Ci9dOG6IdxFExTwwwdOqj7hShB1M2VJI4DDrufs2m/d+HPp1HKMEiRILVCmSFsV1sLCAA7HUxC9RbuqUqdhaQNUiO/R08wOeuHXx/VKSrToUVUfMcF+gDFPuR75Nk1PSK7/79//hFB/b+VQwRMAjwDr8xMStG7lbuc3CZCHUGZah6nLN0c/BzyjD2FQYFzhnLXgFfBm5tQqbMd63NfbKCSdetQVxhryFKGEHTlwSjVLyAdjH2OgOvDsjxWEhNeATAvnbBJvjn3PmlI/pDJoUsdQ6D4ZrCzxoo4G/BORxj4o99fvkRC9hjX6S8sGw6TnZ5MhNVBhDho+YK6wgNKY4YtU/69QpbDyeMPzhwsYa9at2i2PHz8RFuNKmTqJmncWz9vMaVsK3ht4e5w7c0WNI3yLKId4oo+b/pmaH62EMEeaIKTD8XR+3LLxgHRtO95azafbjAMYA6CPbStNzJGAkHnezSzIIcydSxZsFb5XxiLC5CAOWQSPlYWzN7Fre8Hg8uDBX/La6696BG/N58KQ43A4hHC02zfvSb9u04T3ZBfRkw2QBbAic7Y0Br1xI8T8aOWNP/H64vlrwiJKRAvR9xjjkDWh1yqvcpzxAaDPX2QRaKdAK4XvC5nCDPOtYYALeO1xjkJkFM/KONmh+WipU6mXFMnTRDkKcJ5C3/7txh1lrGE/vAoy6n//PRSiMCoZRlB3dGx9Fo59wzCUR44SWQAtT31/VoVou6vvjWORo0RSXnmu9ypX6T35/thpYREUxoJYsWJIS8M4Xr9JOdeqahw03xNGXuSZXdu+kUG9ZgWq68sD9A+AUvQ1E5hm/MarDbnP2jbPZAUhEyaKL4B65Oz/8eR5a1WvbBPKywKZGMtbGPqfqbO63nzkoAWyZtlOWTBzo+rHOK8kT5lQMEpSl2965OAFamGa6NGjKcPjDUO35Djnw6P4kywCbynMxfRJM0e9JxASYPjvv/+VjIbcn+HNVDKo9yy3jgw5DPAdUBhAMzx4HB5tagAyPLiu2/QJB1CSm7WtIkWL5zYsDtGV9YawZk+NMUBj9SHH24RZXZR7NAMKQon1mlVLtyvFHYHf2+Aj7TBRodQzoLGPQMPExaDLvlWoY58yd/p6aVRrgCgBqUZRNUlcu3KLU6pwTzxbvv7ykFLKAPGY+NTJEP55nmqAM+u2j5bh/edJq0bDhckLYJWJFwUrKBAS0BGvmtXLdyow7XnoCM21eN2tN2gm9KBS9aLKujp1Xnd1CxRA3j87RYvnEXJ10N/Yp7CN10qqNElk786n3qcct6MAmvUa1FgAxlzboy+xgmP+7A3UIhLsE54fK3YM4xuJ4TFMw/U+vtgnZOj1hK/K5wPmqwVnAPvnz9qoPLMIxfUEQq5Y/LVhxb8tly/dEJRzBC9v0IdFvv/wZjJiYlu3vKQNeMx7JoSaPJv0c45TJoxaKgf3nRCsy8lSJJSRk9qr3FKmYIqgilfAK3FiKTCBa+wq9O1X4sRUuaGuXbmpDBWtPx2hQCWHwyE5cr0hgKZvvJkyAEkjBy9UdRGgWKCG/QAVwrgDPSMntVNjrvUWgF0UjvFNkYN37rK+AUAkfx/74CXjR4H3cvAYAQrfn798j/t2H5dN6/Y5gSC8HNZ+PUql7DCJ3rhmrzT6uL9SAOn7b+XOKMpS/8dfZhW5f/+BoAwCwE8avUw6txnnPGfHBvP3ie/OqAVnUMAa1xqoIheCmmcAxvbu+k6NNXbPM/TrfsOaqhQuGLTY5hg0mcAotKdJl0wiGyDB6mU7FDharUxXyZ+9obyZrIpaqKFuld7CvGoHj921Qf+5+dtdAezF2ML46a4ez8WYc+f27yrpPosZ8R24q+uLY6ToyJo9nWAccjgcqn8DWNMWdPjL9wg9noo/85p3i/HIHQhpfR5/5TXyPukkWC0awAWQyQpCIkszTqIH8B6sz8R2yTL5JV365LLPGE/YD6+CgZ9vLGq0KFKt1gceZRie4aYBmN67+4daLMpXxoAhfeYIbe3ZcSzAAhwmf2qW7y51KvdSi6CMH7lEAV6EspMH3xMIiayH/Lpm+Q63TgDmvX31O2vKWvng3eZqPG7VcJhTjnOno0EDfQegD4Ca76Rb+4luwSfqhqYwX+BJSfSP9Tq+MYzl/HKcMXnHkanCL/sUzrVvPkrQCdlHX37yROTa1f/rj7dv3VdGcrPfd249TsmB1A+vEp6yCDI8jikUtq08wJgbFAjJYqxHD/6g9IL4r8WRz3rWVXO/9R7Mn+RBxYiAw4v1XHht29GuBiDt4LJuw+cc4AMGPPqsZz1JnS6pMEkhTJC42CpMuBKCJweAAXld3IGP1G/dqYYhtKYSX4CP3N9dYZIAhGTlTofD4TbHjnld5qxphfBtvO+YmDgOkEA5fuy0AncAODluRwGUAZxJkTKR4HFgtskztfn0cwkKhERpz/NuFlltM/iIItjJmBi2bTksHYzJmRAEh8Mh2Q2rVLESeZSiN2/GegGIMQU8vOCmzOsmY6Z2lNVbRwheK1i77OI173fx2sEyekoHISxl1uLeasEkjps8N38RhEgbUKJAS8GaD0iKwE2+PQBMs54dv9CH508qA6z99eKNAMJpn85TBbAXK6AnEJIQCOj0JvgIuGLmtMLTD5CRY7RjFuhG4OM8x2LEiCb0c/o7+/C4X7dpSihlTCG0iBCknUemCqtlLtswVCUlXzT3S0FI5Bq7SvZcGSRBwnhCCgmzzXTpk6lQbDxPOUZYUV8DGLEKWACFaY163gQf4StKBiCdOxASWhjHJs/pKnhQ48nGNsc4Zy3+NPZBHzl5V345XHlQL1g1IEJ8j/ATytma4wAAEABJREFU8LFi1cKS7a30MvZZ3mCOWwvAaty4sSVV6sTO1A08cxZj/mE1R8C/UUMWOgFN67W+2G7VsYYA6DPX7zfAVL4/2sEo16vTlCBByExZ0wj9av2qPYKXFtfZVYhWwEBhGrTivvqKMiDSPmBdt/YTFDAAsAd4xlgU+5WYnHaW49/+oowHzgPhtLFn+zEF7AEcMH4ih7mSguEFryHGkE+q9RFABNc6vtoHaMxsvGuA0tHDFglePjMnrxXy+1nbpO/4y/xopcu67c+8BlwJCQjJ8/gTr4l2wFDOohtPHj9x6g2uICR0My9iEJtkzEt8w+yT33zAiGZqrJk6fiXVvFVCfR/GBORPZA9ow/mCb8/1Rhh+Y8WOIf26TZem9Qar8HHXOt7YZxzGS5Z5gXGNezZuUVE++bQsmwHK1HErZeLopUGCkOgGlPACHwMQbOygz/ToOEnJe8auRx2tQrUiaozs5iXwkbb6D28qH5TMKw2alVP5BznmWgAdO/Woo7xc+WXftQ7jI17pr8aLLXjgmefpN5GjRJIW9YdKh+ajbQMf+R4xgv5ybZWQp3z05A6BjNTQmMMwmNspi/Qd+qkwRlC69a0PCQFKUCAk410/Qy9A7+XbxOt4/MzPlGw4anJ7mb2kj9LhoseILssWbrVNfgrwAOG0Eymc2tXNag54jQMotHgR/H7/T7WITNaU1eXtjHWknzHBXjh3zbAGFpcW7aq6bQ9hmIT6f/35t5z87ozbOssWfW2ANkPFLmAJIhCApi/spQAL9h0Oh8cJ7r+HDw3righKFYo6oMHg0a0E7zKEEq63qwDGNGhaXqJEjqw87DJkTBmgaSZtTyAkgBSWt+ED5ordSmHdhqWFRYnoM2sM8HPOtPVy4/odAZA0PbLw/hrUa6ZgzXQ4HEJYO9ZvADzyepBbqqVhFQ3wwD7cAQxDgAAUJSzP4XAoYABwD7DMU9OEsWJ5rvBBB2XlLFbiHU9VvX4cugj3LVupkJAX6J+//w004QYFQuYwBA8SyGM959v1BoEIW/AyUuTIzgWoABlR/BlbzDY49v13p1X4Gf0EkDqGCwhJ/25Qs79axRsPA66NFj2q8uC7e/cPgXaEFbH5XwxDuAHEqFX/IyHxO80Dbty7+0AafTxAhc1yzLTk8y3ynlggqEeHiULf5/zzFniNYoSC5HA4PI5pCNgF3n9LHA6HKgCRjG08g5UGfxn7oGvqvO6Sr2A2OXTglBo7oJPn9efvERoxvPA9Ro4SWfGaecQdCIlR4PGTJwJ4xnzLPIPx5c0saeSHk+e4lW0Fxb9Zm8pSxxi3c+bOKK4LzqD8egIh6dt/PvhbmtYdHMQ84/1HoY80N+QQFiq7cvk3ad9spCyYtUl6d54SAExEWe/W/ikIGTlyJGXYmjS7i0xf2FPIocj78T51nu/IGIDx5PCP8wQAhn2zttXrm2+aMYN3w7NSh2P0L8YfPOQYHzluR2GcgV4WTcLQNXnMcqlUopPMmLQ6yObDc36EtxGR1zA0NCAk9SnhyWtkkd6DGwuGgCJ5mknWVNWlU6sxHnNC8nxHD/0o5FAGhNz//SxhcUU8v0l5BNDAM/m6oBus3z5GyH/N3MIcY7ZJbkucFth/M0tqYdzAs4p9CnWbt61qyFx/C2knLp6/xmFbCnIHaY06dq/jlEGsDQcFQjKOnD1zRXASAei2XufLbXhN3sazN9fIuVtr5fi5xYLR1BzfGM+CAiHTpk9uGJt3qRzi3pJXGU/LVCyk1gCIHj2a1G9aNhAIidyKQShe/DiKPfy6AyGRvx8+fKzSSzVsXkEIgWcxtxp1Ssi50wEX11E38uEfaB49pb1y+mBBolfjvSKecpSHlyzicDhUzmN3bECunzFpjYqqcA3Hpp80NOTsnV9/I48ePlL85lvECM9z/37/gfTvMV0I7Xd37xf1mAYgX9Q3+xI9F+Di77//KR1bjFYhyTw6wgCAYcmCreSTan1l7owNHHZbSKgfJ25sqVyjmNvzCB5mom23Fbx8EEsVK6wR0lEgRyP5uHwPlSuFZkyAgAmZfcrmdfvl+tVbakLCq4PwYAa37VuP2uptAPhYt1EZWTx/i1z+9YbK7ZcqTRJIDFAYjK0gJMnpWQgA5ap+03KCq32AC3y8A4iHFfDu3d8NwexpaCE5Nt/N8omhJI5yHoMMFMai7zRT3rDk5CJ/zobVe6Rlw+FGGRagLvV9VZi0suXMIFs3HZB3MtWTwnmaqneNN1CmrGkEwRQBO6j2eQ+H9p0UchIiKAVV1xvnENpI4A2I6HA4VP9ASK5YvUig2/dx8YTsPfhTp8DNIhN8k4EuCuOBP4yxY82KnVIsbzPh3RKOxeI9AI5WEBIB0gxFYWwZMWiByiEbwwWEZOzp23Wa5ExfSxp93F9ZkPnN82ZdwcsmjGSG+rJCRXIK4wAXAsggtN29fV9QUDhe4P0cKj0DSkjfLlOdlny8DHYenaa8JU9+f9YA4Y9wi+cu9EfCvPHWJr8uIWPc1HVMo5/8/de/AvBJ/q0fTpyjmvKGdAUh/WXsI78cY0jHlmOkVoUeqi/t2XHMMAw9UYYhf/weFVONP9GiRlHAOOG9e5+lj2AMcQUht2w4aCgllxVImd0Ye5hnPij5jhw7+pPMn7nRuJM9/5kf8fimnwDQ4UFYzKCDfSsF9HkrCGnOMyjvzdpUkXPP8jpbr/HVNrQBzqF8V6/zobBAAIatXp9NVuHrru26gpAAU3nzZ5UFszepCALX+r7ah9csEoZ3NB7UyBcTZnZ2AgiMdf26TVMAKt4drxpKI9/CkZ/mC17feH/nzptJGF95Jl/R6XpflPT6hmLO2IwMkjjp68oI5FovqH2758eIymsrD5mXAYgAmznuOrZzzF2xm9fQgAc1cj/AAXRzjHBsQC5POSGRC81w4X27j8u7WesbescY2+Q+ZGyiFLLmSKdyuxO5M3luNzFlKPhIioPzZ5+CR+gJGItO/bpMfY+A23gjfzFvs200w1f6dotnC87EiRtLWrav7hxDOG8WVxAS0GzBygFCdFuj5uVt1Q0wpHTr10BY0AXPaSKGoL1S9aKycNUAQZ6BbnjuCkKSNgbP2ukLewje194a+2i7fOX3ZfmirxUYa/ZTxjoMLtBDIe8/qayY05E5cVJwB0LioLLP6MfoDUQcMW62aFdVkImXGHoc97Kr8GyvGoAp7Q7sOdM5z6EvMHea/IYeu2UR8mZu3XRQwAGCknUYSzyBkIwxDWr0k4YGEInOiO6IDjl+xBKpVLKzMPbwbC9TifQyPax+1pBzIKLUxIvnjUyphBwLTATu6CbcBkHZ3TmOrVm+U87+8qt8VC6/c1LBuyNfweyctrUADDRpVUmguXuHicKghSIFuMpkATGuQh0TyPCB8wShAyXg3t0/hDxpXdqMo7otBcFIgY/ztgiTB4td0HCadMn4CVR4VyYI6XA4lDBFvhE7FwIwiSJUPI4BQHtaPdCsxy/CXufe9WTc54uFnFxlirQTclxiyee8HQXAFL7ynhHY6Nv0E+jYiYXt0eMQgx5HDv0g0WNEFZREX9P+Vq43RByiclEiZACIodQiOJkCtFj+9bGAkCjwLDjTt+tU9W1Yqj33Jn0RIQ0+crOu7SbIyiXbxB0IyXmzLDTAgBEeQEizDiADuaP4NY/Z8cv4hXcaOWtoD8Go4oedVDoGgNQqNYsJuSi/+/YXTqswrHGGIHTdMGQwhmCl/XLtPuXJqSp44Q9jAhbe4Bbb4j0g0BOKj+DetskIpzAKqGoFIf1h7EubPrkUK/GOfHPoR2UEgFU8A0Yv8iXCT4B2V0CPeq7Fru8RYX7l5s/l9PVVkvvdzEKuYMYQQvIATqErU9Y0YqUZwK5/9xnKGIbCgkLG3Nm8/lCq21YyZk4ljHOkYADEJlS5+EfvCkoK44SVEOZOE4R0OJ7OM1s2HhDmVms9X2/j0VuidD5lJASkS5chudM44Klt+j6AB4u24KVl94Iz8JJFwqIaADXK18G9J5R3RxwXAIHxs3alXkJ+NLO/A/xxPX0EYwPjj6fn9PZxwsCr1Cgqly5cV57IfH9ZsqcVPJShKTTt2fU9QldE5LU7XjKOhAWEtIvX0Ayo8fY7mYT+yXfGMbMABHgCIXlPjD29u0yRLRsO2ArioRsA0vz14G9Zv2q3nDh+RnlTuXpbMb9/XKGnAjSICnM4HGqV6VixY8jNm/fkc0NXQHYxn9fXvxgA6NuME4wjzI2uY4iVBmRaMxwbfpPjd+fXR8XOBWdKlskvNet+qNIDlSvaXjCENqs3RMlJ0Ir8zftgm8KzIbMAKLGPl3uCBK8qXYjQW455oyBLvv/2pyr3OXzq1Wmy0hGju3hCImcxP/ItAkiT/sITCNm/+3Tlpcm3wLz+/bHTQtj1PgOY9AbNIb0HjhA4n3Q15G8Wrqpauovs23VcXc73yvyO3MIBu2UR3i8RE9UMmujD0IDOgrGNbWthrvMEQlKPfNnoauiO6JCkreE9ce5lKxqAfNne+Av2vIT4xooVQ3lTeXo0gMTRkzvI5j3jhTAirIBM5Nb6TNpYyYePbytYrgjJTJ8xhbWKLdslDCUlQaJ4cvb05QDtMQCSE9ITCInQhPdWugQVBM+rAT1mBLjelzuAj41aVBQUVwQ32jp/5ory/kE4YvLgGNbYUZPbC+AI+zzTV5sPKSHQ7pyPtG8WQqofGEIdqwdWrfWBedjtb5QokZ35utxW8PFBwDrCyho0LSdXfv0tQG4WBDtAXQRkBAkAhOA8r1iE6a8//1F5U31MuiDQsIokglNXQ8iYM3W9UmjpIzwXE7orDSTwvnbltnh7wRnXdlz3oe95QEgEpSatK7vNX+Palrf3+b469/5Ebly7Ld3bT3DeHkGYbw6hHhAbYCF69KjO88mSJ5DLv96U0oXbSqn32wiJyulTzgrPucG98Bw1hS1oCWpMM5ujXlAgZHiOfdCY7o3kAqiENwreYRyj4Klw/uxVMYVovkerEM0+74K6ZrHreyQP11tvZxTCrnPmflPqNCqtSOAdASgylnMAGq0gJIBe+Q86SIZEFSVLimrSvllAD3Gu8XXBMME4hxJN/8GjN3LkSMLcCX8D8XTv97Jr27dqrAmPeQZADF5vXr9fyNHG2EweqCGjWwULQmbLmUEIe7cbfOQdFv8oryRMHF8mjl4mTeoMkprlu8vQvnNVyKorgEC/wfCIlzdjPAosXt/IIniPcD+7CgpirYq9hEXN6lTqqbwzaRuP79CCkHZ9jy68jhC8Rp5jzCtVrkAg71LG+NCCkHbxmr6QIlUiwwAXU2LFiu72G2ROQZY1Pcw+rltSpR/4Ys0gGT6+jRzYc0Iw8nMvuwrex1GiRpE+hhG2dePPBWDME9AB/5m/c6StKXyHfI91DCNBvqz1hSgeu2imHSIsyhZtJ1VLdVbjyAjDaItBxXUMoa5ZkBEBHRkr1yzfobxMzXPP80vk0IYdY9x6X8KF1OwAABAASURBVFrv+17RnGoXWVptGH+OGsb6kwboe/fOHwaIOz9QuCxyytQJq4Q0UvC/W/uJgl5pXOqz/4x1vQ1DPe25gpDWRkmh4wmEZOxmHmc+Z15nfmeet17vq23m6plf9BbyZT9+/FhIeWW2BV0YRE35CT2S+R3ZmjrQCK3QDO08A9dwztcFXQWdpVnbKmqhSdf2ggMhXeu/rPsagHxZ3/wL8tzkYXv46JEUfD9HoJWlatYrKYRbMbgxYGTMnFotxJAnXxYZNra1DB3TysmFY0d/FjzKcubOKKlSJ5HxI5eqhUecFWzaQDCKHi2qxIgZPVCLTHAoXFYQcvyMz6RR8wqyee8EAQgMdJGPDyCEFv3wHZXT4tate87WLpy/aih8/ynFPG36p16QTJLRjGcDHAEkQbnF0ojVy+6cj05CjQ0s4L9dvyNRo0WRytWLCEKKcdjv/hMeQahFjBjRJFWaJJIwUfxAgj8TMMo5gtOjZ56Q5A6jnwDAowybD1asRB5B8Ylu3I97mcft+kXADw6ErF7nQ0UO1lxfC3OqIcufrgZIGhYQsnm7arJhx1gpXb6AxIkT03JH328iECEYvWK0+6cBLGd7K0OgRvFEZdGIuK++4hwzY78SU8iVhreQCVQGutAHB8wxDRDJ4XCIq3e32ST13IGQjD91GpYSQlTNus//G7I7EKLVZ8ingjKFdy5gHp7EgLuEsRMmR6iNqxA9YVYXmbagh1Joazzr37Ro5/eIMH9o/wm5c/t3g/4/5OcfLkKCKowhzesPVQYlDjBOmyAknrOADhy3s/B+WcDAtU3G7m4GyE7/8QRCQv97RXNJeCw4A70oicXztVApOliQAQ9Mxma8YoMDITEiDOo9y1ZZBAWPxZTeLZBNpXaZN+P/6WswILAYH33eE4CAoQlPHbu9vuG1WfCQYZtxwyozhQaEtON7jKi8Jp/fl7vHqVQv5EMkTx4yHTw3C/KeKwiJHILxg7Baa307eG3SxS/9999/H0riJK8LUVQccy1WEBLZkDEkYaJ4MmrwQuV15lrfV/vIo0TeIEef/umSWBewC4kMxXfI98h36SsaQ3PfkIwhzJ8YbbwJPvKt4ViSJXs68RQCbj5HGkNniRQ5srmr5GzS8RT+ILeMHLzAOR7jBQkgTf+lMkYwDPrdbAAfaY/C/PI8ICQOOvWblFPPyP28Vfi+9x2fJRS2Xe+LzEk0C6lReN/xX49ryCIPAlRDFnGVn0wQkvyr6PUBLrBhh++xS696xtjxmtJ7keHcLXTrCkL2HthY5WTddmiydO/XwAZK/b8JDUD6/zvSFLpwgNwtKNocxl38zq37ytNo7PROamUphJtvfl4gg0e1EJRAFBPqWgsCRbkq7wsDL8cjRY4kkSJFUgMgAjaTJMfDo6DIMiAzQLu27ypQ53k3s/QY0FAA0KaMW+la3ef7CJkk0//5hwvybv5skjZ9ctXm6Z9/VeEpgGUZ3kypjvGH/HqAHICQOXJmcL8QABVtLExyJBJ/+N8j1Y/IU2cF6kxSEDYIEyDszzxm1y/0EFZ27vQVufYsTNZTWBnPYwUh8bb5sPS7Qk5QhBVoRhCbOq+HEKabLEVCn+RDo/926FZbVm0ZoRZPwLOYiRrQCBooQQnQgCSE3RTJ08TnlmRocVdCC0Ki2ESK5JBTJ84Kii/fq7v7evsYvMaSDCgWPWY0AegHDBsypqUAXFvbI+z61m/3jPHOoRa42HFkqno/efJllv27n4a8WOv7chvhbXoIF9uCl64gJDnm2nWpJUmSvuZLMgPdu2P32kKqjKhRo6iUAAvnbBYWPFs8f6var1yzmDgcDhUqzPdoFaIJzwL4x0ucMHNubsf3SDsI70QAsL1p7T55+43akitDbadCxXEKNFtByMzZ0ipjXt+hTSRdhhRUsa0g8A8b20o6G0K/1WhoEhAUCJkqTRJhwZkSBYzvoOUY85Jw+4WvjAshBSHxsgIIsYtglHT6SCnDeALYfOf2fTWPW9tHNkJGYqxzBSEBcxiLrPXt2GauIKoFucm1PcYNeG4abl1BSJ7ZOidxvR3fI+1GRF4zn7QwjGzIeKd/vqTCgBMaxtAeAxoJuf7gn1mQD60gJPIqRhuHMUfu2n5MVbOD16ohyx/GDJwXWOyibMVCHo3OfHs/nTovLPJHf58wapmtsghjH/z6qGx++ahcAfn10g3LUzzd9CRD8R3yPT6tZe9fHAuGjm0t/Yc3EwAu19aDGkOoi4zCc9F32H/ewreGXI/Rh3u5jlsccy2vvRZXCn/wtgLm3IGP1I9izP9582eVnLnfZNcAh3d5dcEZddMQ/EGuDwsI2c+Yz8lXCbgegmZCVaV81cJCvlFK2UrvBbqWtCSM10+eiJKVGEMaNC2v+C2Wf8yZVvkJYHrLvonStE0VIX+1paotmxhC7919YBg0dwvYA56nyLHoNq4EWEFIAFa+4Su/3pSxny92rfpS7rsFIF9KTuiHjhAcwLuncYsKasCCYAQJwqrIJxcz5tNwioKF3xI+dofDQRUV4kuOvhb1h0qF4h1lxeJtSqiOFSuG4KVEpQ8NgAZlEsGayZFj4VGuXrmlBDqU1Bbtq7klAYF67vQN8sfvf6kw559OXZB+3aapZ3J7gY8PQg+A14XzVwW6aY5wGgQ8gN40aZNySBW82FiREg+tVMZx01NBnfTxH7xoUL4JwyeMmX2zyQmjlsrBfScUPwHkRk5qL0wopmIC+Ijy/UqcWGLmeTGvteMXAYOwslLvt5F6VXoHG1bGpM07OX/2ivBt4GmIQGfSev/+A3n46JF6XvKNejssB8F57dejhBUXM2VNo3JSZsuRXuo1KiMbd4wRJnGTFuiCPuhMnOQ1Gfh5c2GFR7wlEFDMeuH1G1IQ8pDRf1DYUXRRePku7KIZYY4Q6loVekjWlNVl1JBFyqPbFI54HyYt9A2S0KNQYZwBoKbP7915XKaOt8+IgbIamsW2oB+eAkIy5jkcDmHxseH95wo5jzhvR+logI+NW1YS5gvCrWiT1UcBysnZx1iRr2A2uXrlphPYh+enTpxTuSxJJ7Bt82EhZxTHud7X3yNtjJjYTipVK6JyPqZNn0z+/usfDnss0NbcmDMJgcJo9N9/D4WQP57R40VePoHiCEDBOMxcUrlGsQCRC2ZzyAHd2k8Q+gV9GoWdhc2IgPA0j5rXevsXxZ/xjXQjGGCg3doGfGV82LLxgDx69FhQiq2ekBUMxS1fwezWS2zZhm7XRcKyZE8n7rxMkJGQlRhDUOY/61FXTl5aKrwrPKxtIdhoBJrx1lz55XCB30S7kNuUfmOcdv5n3IDnjM0cBIScs7Sv6ksLVw+Uai6pV3z9PUJ3ROM1fCtZJr9UqFJY5s/aKITUEuY+eexyIb8cXvUYCRjXqWuWa8Y4CJCEZz3jCAvUsM9x6via17ThWvgGkXseP36ijM70W9c+wzVpDYN64iSvq0Use3eeEshQQx1fFeiBrjTP8qhjzH8nXxa3gJ6rDDVsTGs59MNcad6uqtMpIKR0Pk89+jWLkyG7AcrUbVRaZi/to8YF1/u6jiGtO9YQvkUWsGrTqYYQGeV6TVj3yYWdyHiPLA44ecxypSsxbrVs734xHJwMcEoBnMZIX9jF89Gkg4VE6Evm/p4dxwKkRTKP2/GLjtA7hOHY5FhE3jYUadmz8zsFmlqfwxv0ElVIG3zzGLxd73npwnXp1HqsGkfMebuwAfiSNop+ZK0PbYCQjB0cJ9ew3XIf7VLqVO4lH73XWkiD0KXteGEcM+VsdEbqWAsg5NaNB5WuhSzFc/A81jov67YGIF/WNx8BnxvwsX7TsoLllUnEfAQ+cBKd/37/T/OQ+tgZpFjsolje5kICYRY5QQAl3HfahFVKaEqaPKHkyPWGnPzujJA3kUnReZNw2Ni36zu5c+d3FQ5cp0GpQBZlk6S0hgJ56cI1QyD6Ui3qgYBtnvP1L/yqVL2oWMEh2idJL0Av7TPAXvn1NzaFcAa1YfzBep4uQ3IBcOK9GYds+Y9QHJLVPAEXmTARTgDL8LA6cWGJAFyiKC6a+6Vh5dxtC82ujZhgLbx2VaamzuseyHJY0QAb4sSNrXiNgGq9H99PywZDpXGtAWphEt6X9fzzbNMvsHzjqfne259K5uRV1UrQpgKCcaBjjzoCkGO2A330CQQWhA9CWvt0mSreChvCaxpBknubbYbmNyQgZLVaxeW3G3dt9XzkGQAXAdPxGgCI4RiA2IhB84UxEcNMfMOaz3GzLJy9SQlQGAQQFIf1myPkivJmPzDbcvcLSIcHIUogC4IgxJHTJ6jFtsz70P/Pnb0ijO92C6F48MDrpQu3CgaXfAbQaNJl/uYtkFVeTxhPWNwqraHAmsfTv5FCjh87LYVyNpbGtQcKz2Ge8+X3SBuMu2UrFRK86x0OhxoratX/yLnoGnXcFfrDLz9dVJEBzLF2go/Qwyqk0aJHFTzn8TYIKQjpcDjUwmZbDJDPzoXN6NeLDECre/8GwhzZ2lCkV2wa5kx1wDNR4CtjOPSZICSK16otI6T3oMaSPhzyTwMcPn78WHobQAtyE2NxAqMfI3cFB0LSr3g/3hyz4VNQhbGceY9v8NCBU3Lj+h1VnXcALwFw1IFnf3756ZIam5EBOcS3zHOtXLxdxo9YwiFnmWyAFL6aH2kkovEamil41NEvrAbLkYMXyglDfn78+IkAQnYy5nbkLeqbJU6cmGoBJgAEK/jIeV/yGvAfUAD57bNe9RTYSJuUudPXC5E7bGMknb6wZ6DvtFXHavJq/FcEuXzN8p1Uta3Qj5Gh2jcfJV99eUgYJ5CdB4xw71VolaEYJy+cvSodmo1yGsHsIBxDaLESeeSL+Ztl09q9Sv4AOG3QrJwwjrjSgL5lGjL4nkn7QO7HIX3nuFZ9rv3BvWepvKqkkyCf7viRSxRtceLGEncgJHrA/Xt/qP5SqEhOmTJuhaFrbQpEA5EMryV4VR48+CvQufA4EFIQEn33/r0HKkIDRwXmI2/Ti37XsEZ/adlgmPT8bHKg248Z9oXgYYzM2rrxcGWcjRw5kvI6ZfymP1gvgsZ7d//wqtxHG4wR1nZCs+3Kb0B3xhvrPZiHkP00+GjlytPtSE9/9F/NAf/mAJMX4GP06NHklVdiBrLqkei8RMFWypJjJlwmITrAAcqtuPxjFWPCR8zDeNCQJ8Xc9/Uvgx65tEqVK6CUQbM9AIFd275RwgbC3Gc960rTNpXN0+qXAY2QXFaV7WUM7FyjTvj4D4N1SLwNTDIACRBKWQ2OvGgAToCqX8zdLAhLZj1f/0I3q/BFjRpFmDCCWs2zQc3+auVfJjroihY9qno/d42JjwmTSVVs+ucO6DWbdlWm8OhAGeNZzToIRSSe9sRrcgNRzPre+m3YrLw8NhTZvgaAaH57fFusakfYJyssI5R+/MlHUrJMfmezcwyF4PKl3+TypRvizZyPKEPkiylf5X2ZPKdgfx6uAAAQAElEQVSrep/ORp9tkNIBj4GzN9fIuVtr5fT1VSrkFBDhWRVhLHGXE5JvGa+lwX1mC6vk8W7Ma+z4pZ/ENYBmhBzr+0dJPH7sF48kMM40qNFPKpXoJIBLHiv64AS5ksKy2BakMPalTZdM7AYfafvIwR+UF32fzlNl5ZLtghc3uYY5Z5boxhwVyQDAUqRKLJ/1qqv6G/MXIfGmEcGsa/3lW6RYj4Vmm3mh58BGAUBFjkHf3du/y5A+cyR/9oZigvr0G0JAqeOpnUxZ00juvJll9tR1Yjf4CE1DjG+qdqVeAlhnehtEJVdvDc+ekNu3HlHGxdUGYICxkfvYUeAjYX6kP5g6bqUcPfSjMNbhXYxiTr+10oFCxXOZIGSKVIkEgGHU0EVulV3rtb7Ypl+Qo5Jxg7HONAglTvKaAg8A61zbXbboK8PocsfrY7ZrO+72WYE0ZerE0rHlGMHzu1jeZrJnxzHBgEi/RYnlnVivZWzu1226YBwFSOMZ7Z4foSei8RqaKclTPu2jhG0CkHEML7eEieLJF3O/VN9dvPhxpH3XWlK9dnFOC2kQPvgor/x46oK4go+qgvGHcY9ibHrtP4a5L9YMVFEX5H1v0a6qWI0B9IVh/eeqvkujRAKQa3Hn0Wmyadc42X9itvL2BHzc8dVRqtha0EmYnwFp2jUdaRi+dwkgJAtvegIh9+w8JiySgrGXSAGe0S6imWfy5s+m5gnmxxYG8DSw5wwFGDEnor9hCHOlBxASuZxnW7N8h+ojrnWedx8+mLIo92J8njh6qUcQct3K3WpBFGhCVsVYWqdhKS51Fvo/ET5EEhDR4Dxhw0aOXG8oAxfGftfm4GVvQz7heU2+I39Y6xEK/P23p5W+zDxkPefNbcY5HH/MNojCIDLK3bgMEEq/9QRCMn96W+5jXiaXrauObfIAeRrDBemjZi/pE0BfMeu48tsdCPn1lsOiPR9Njv3/N9L/N/WW5oAfcMANCQyenzQpK3cMJYqwXnIKYpl0rcqAy8QB2MHA53redf+fv/8TVrkzLeKu5321z2DHoIeAPMkARFwTeDN5EMKMIP1qvFfks571hJwXeHAR2jB3WT/DMve6bN14wFckBrovAzEAV0i9DbjBmZ9/NQTSfwyr+CtS9eMPpJYBOC2et8VW8BE6ihvCb8LE8WXi6GVqFb6a5bvL0L5zBQugqwWUiZIwjZzpawkeYYDZ/AJmTxm7gtv5vMDrkAC9CFUosGb/BYQkrAwL3FcHJsmD3//yGrAETeRWpa8i2Htiwjv5s6q8q+Qqgj5rPXjbsuEwWbNipxKkX3s9rlSr9YGzSqPm5SVy5MheBR+htVWHakYfjC0Oh0MKFckpk41vjucxGyY8p0PX2mqBqv/+fagO49FD/tjBo1sKoffqoPEHxXzlkm1CPZQxvgl48smnZQMZRYzqtvxHkX785Ilkz5leWnesEaBNvJIY4/By5ATPbYaHuoJVnLerALaEdbGtHLkySKn329gadi1u/uFNcenCdcGz0HqafLLwPLJhzcfAdOLCEmVEYjVQwB1rXW9tI9AznwD+A4KxT2Ebj6QL566qVVuZI5vUGSRY42k7h6HIBAVCohCw0qSd4GO+gtnVwmrQxxgCzWxv3XRQmBvZ9wRCAjwBdmxYvUfsBB+hr2mbKmqMQZEC2CBEFc9NxgqMFCg7jEfUNQtj4ucD5suvF6+r+QjvnIWzN5mnw/UXYA6AjvHFEwgJCBglShSvjtkheei06ZNLsRLvyDcGyGuCQ/By7owNCvBAdiJiwVw8yXrPLNnTSdRoUd1GBljr2bntL7ymnzJHeHr2Px/8pfo4aXXMvHElDSMiHpAYDc3QztcTvKpA60mzuwhyQ46cGQRAjG/X0729fbyFATimNIxA589eETwJ6RPJUiQUvkPADNqj77Ru/Lns3fmdmtMZswFMGUcSJownmzccUGMOdcOz0Lfh77qVQYOQGNpv3rireM3YaSfNH5R8RxmeTx4/62x2w5q9CuwnhyZgGOmzOvWs6zzPBiAaeRR9BT7ShrvCXAw4hpHIVQ+gPnPNvl3fKYMG/bnvkCYKmEYPmzKvm8xc1EtSp0sqq5buCBDNwLW+KnybIdENrHMlfAf8JX8yKUHQEXCmaFRrgNCvfEWr630BHytWLSzZ3kov7sZl+mubTz936wnJPBM7Tkyvyn30wzIVCwk6tjsvWHiNrtC8bRUhfRRz95hpHQPoA+YzuvL747olZdGaQXLg5Bxp3amm4CBlJ69Nuvz9VwOQ/v6GXnL6GAQQGiaOWib5szUwBqC2goLHwMGAFlb21GlYStIakwcTTFjvEZbrGPRatKumwsjxwGTyS5govlgTeDNQYS1Zs3ynyt+HUIQyiZdV2UrvKTBlzrT1tirgTACh9TY4e/qyylMZM1Z0wfts2aKvBUE7LHwLyzXwjMmasI7rV28pz0bzPlhdzdAPd8IH9bZtOWIIF9sNS+gRdm0p9Pep87pLvoLZ5NCBsIWVYYH7atMhYVL0FtEI7fkKZZc06ZIJSdGZjN3dm7DTOHFjC32aZ3FXB8Hu4L4TSpF5M0salQKBeghFNQ1wGKWAfW+UZgYo8POPF5WCjIDDPa0gJM9RsVph+eHkOanyUWd5M1kVla6B0GDT+l2zXokAC7mYICSLFkWNFkV+OnVeurQZZ2uoE89hlkP7TgqLUCFoAkDR5wGW8PoEEGYcwfOO74FQNDM8tFHzCvLF2sFOTxXzfnb9AvKifLjrJ7wrK7hOuGSPcFpsiz7CyoXklitpKNsmfxinAbrSZ0guNeuVNA+rHFCEwP9242lIKIovADDhqVzjrOjFDbzhzfbw9mEBAErGzKmFcc46FkAD80tIQUhvkUn/W75puBw7s0gGj2rp9rbwesTEtkLo9chJ7QLV4TkYPwAy+PYqWzwhAQ5YcIZUIHaDj3xvzDMXzl8V3oVJOCGn9+79IczzgDtDDIMGz2ie57dC1fclZqwYYjf4iCFi1zfTBYD8y93jhXkDeqyF+dodCMk3W8FQJmdOXqtCG705Zlvb97Sd7o3kSnEkimTCzM7OauUrvy/nz151AuwASVaAnf2HDx9JUJEBzpt5cQPvUXgMr+E5Hveutw9vXlevXVzWbx8tyB+8X+ijr2JgQ/5jf9aUtXLi+BklgwM2Mu6lz5hCDu0/yWkhQoQ8sYDWpFopVb6gRI8RTdYs36XO2/WHUPG0xri8YPYmKfpOM6U7kLcSuvgOkWdMEJIQUPK6lSnSVhi3cWDA47uyIQ9gMGW8tIPu4L5H6PAEQvJMfI8Des6UGuW62QaIWfmSyDDyMwZPnd/d6Sn2SeMyEiv207GNlCnRo0dTxiWiobiWdwC4R9/HO5ZjdhS+xw07xiq95J9//1MgY5y4scQKRMHv5vWHytIFW5/qYVEiq1zm8Bk5IJJhYBwzbJEQTWcHzXyTfJsh1Q2scyV8r1G3hDRpXUkwKiIP2kGz2QZ6b1lLCphMWdOECIQs+mFu+ebnBVKnYWmvLjhDVBQOMY8ePlZzs+u7h+5WHaobelh2Ia0S8ihjRwxjLOM6wFzqWIuV31ENvYD3dPqnS0Juams9vf1/DmgA8v+80Ft+yAEmATwKEAwgD8WjVaPhQignA5onEJIJBsGUfF1cZy1Mei3bVzNAh/O2LrrApBXSBN48d/tmo6Rc0fYyf+ZGJfSR8JhwjMa1BqowB+sz+XI7rN4Ge3YcEzyw/jUm+LkGYIqQ4Us6rfdG2UXxKFW+gESk1TwR9EML9DI5hjSszMqjkG4z2Zat+J48fvRYXRIUCEno9ePHTwQPN3Iiqgtc/tC3EeoIc8f6mDZ9MlWD43zfasdLfwA0P6nWVxYaikjLBkOV8MWtTRAyZ+6MQoJsAAsUEc6Rx7R62W6ycM4mJXgivNWu/5Gg7HKesn71Hrl1655aDAigjHfAcTsKxhMULLMt6GbxGLzDEXw4t+arkUKeTTywEJBRJKct6CGZs6UV3g8LQcFvhP+GzSpI2vTJzdvZ8ns1gi22FSdubCHkauLsLrJ5z3gh7BBGLVv0lfx66bdAucMIn0PxbVF/qNSp1EuFufOeuCaIEuZTvEuUJcZcbvL2O5nkTQN8HDVkoer7HLMW6nsCIcmXOn9Ff0GptV7zvNvlDHAITyi+eRQLwHHrPRmzWXQBz2KMbhWqFpGQgJB41wOSABA3b1slXAwBSZMlUKH2pBaYs6SP2ubZylcpbIwRp1UOS9MTcuCI5sL3yHkAnLO/XBZynzJGccyOwpjeqWcdMenGW7DXoMbStvPHgZpn3raCkCwStu3QFMGbJp0xdnt7zA5EgJsDRC+QJxgjRu68mYS+hDEDr3WMAq59e8KsLsL4x+JzsWPH8FpkgBvSAh2CpwOGN1Ph9bFfiSnM73jc8w5cK4cnr0sZYCFRCURSAHTgSQxg/tAAbA/sOaFI3fHVUSWTksOWMQRZmhMo2vxSGOfOnb5iGNkvycnjZ2VI39nCnMo5Xxf427xdVTX2YZSbO32Ds8k+nafKkgVPwSTGNisISSXm8JGDFwpRL/27Tze+2184bEuhL4Tke4TnriDk5LldZYMBHDduWVHI90wdW4h2aeTqlZsKyHslTixJlSaxGgM/LJ1PiOYCrMYQhowSwwBxPm1VSYjSQX8rXDy3eHPBGReyAu0y9nbsVscwFP4oRDaxaB8e6+TLjuMGhOzaboJ8XL6HkBf3hAG+Y0ycO329SrdDKHegBnx0ICy6AaDYiEELBFkbAI1xnDHGFyQyf7tG1XCMOS5a1CgyZtgXQgoYvI1pPzgQEscBh8M3Cw3ynjGmZE1VXfp0nSbMJxyzAtCFiuaUwwdPCak9ShRoKa0bfS7MdcjYVsMnz2IW+L188TbB4xcDL/NQeH2PJk3+/KsBSH9+Oy8xbVhj8xXM7pYDfNBMwsGBkHiCzFrcW/Z/P0u5y+M6v3HnWAGYJESun80rRwMMMAng+m8+GAIP4SuAAuR8JFwO64x5HqGod+cpSugrU6SdtG8+SliswTxvx+/zeBscMQZw8sv5atJz9/wIoWFbYTKWfNajrpy8tFRQhEkU7+7+vjoGCFTMz8LKEB4KFs4p40culVxv1BYVsmIAkZ5AyHNnrihhJ1asGPLxJyUD5KMTyz+88i5dvC6PHj2S//57GvZsOe2TTb4lwsCwANNAoSI5hYU4OE7hmLWgsMwzFBiAA0CT4h+96zxNqNPVyzdVbjp31zorenmjU8+6gpDHIj+MkebtAS+ql+mqPDhQsubN3CA//3BR8EhBSUSR5J0x/gCsvpersWDIQaDCwzxHrgzmrWz5xfPc3xfbMhmB0o0w+eTJEwEYw6uw37CmsufYDGnQtLyQbD9z1jSCZ4R5Db/MU3wvIUkHQv3nLbQ3vP88OXv6srpVrNgxpHKNoh6/QeojIPNsXPDW2xlV3tOmrSvJkYM/KGGb494q3xz+UW7dvKtu98cffwmhgmrnCVYLvQAAEABJREFU2R8MFtFjRJX1q3ar1CjwOigQcuznS1QIGSAU+dv4rgf2mvXsbvb+oHyjxDgcDkmY+DVJ/0YKZbBIlyGZrF2xU+WPXbtyl+AJCcA6ekoHATTtbHzPsQxQao9hrLOLYhTZosY8M7TvXHkjSSVBBkH5Zt7EaxrAzJUW5m+UV8YP6gH+4dG7b/dx16o+2wc4mPlFb+WVgof6wjmb5cK5a7J4/lZhv3LNYsqrfufX36h+Ye3bGTOlkuIf5ZXzxvzE+OgzIl1uzBjNHLNw9peSMWllYUEkZM+glFi7eM28YDWqdWs/UfDY5REUCDm3m/Cd9uo0xa3MmSPXGwJfkVtJi8R1lDcNXjOnf5i/pZQt2k4wmnPc14V+idG5Y/c6QkqUa1dvBTJGMKfz/unHriAk8pevaXR3/9B+j4zb6D/rGE8MWQzZhD7VodmoQM/rrj1fHSPMdM2ynbJg5kYF8NdrXEaSp0woAHa0iYwycvAClXcRoy5j5I3rt4XjnLertGhXVcmo8BBe0i5A4sQgckICqndtN0HpYeTMJk2TnXIffTOsugERaHyPjN+MLTyvtwtAY1ApYA4fOCWksELeZFw257ugQEhWIr918574Itf3aqOfzp66VrGB/kf0AfO3CUJivI9hAOWb1+9XcwkVARd7G0YMnsHT+M17Klo8j/C8PKfZv7hel8Ac8C8AMjB9+shLyAFyPpL4NcObKTw+PR82E4gnEBKhB2GPwQJBo1jJd5SCmCTp60IoBont7ZxAeBAUj3QZksvcZX2VNw3H8KRJGEwC71RpklA13AoDMwoHil5ovQ1QhhFM7CQe4PDx48fS2wBusVoibCZIGE/lJMIz1pUWazg2z4jXpt3KFTQ9D9CLl4IvwsoWz9ssgFV4IPPN4e1nCr4AWq7h2Me//UUIr378+IkCPlAIEE54PteC0nv71n354cR511M+2+ebt4KQCRPFl9cTvqqs9e4aHfv5YjlsgOgOh0N5VZh1CHUibIv7mcd8/Ythom7D0oLwjudi596fCAqu2S60jBy8UCm5UaNEUfR+fXCyAHYwBvL+Jo9ZIShhXAOwtneXbwEE3j3hVk3bVBZooF0KbbMIDmHuKLD+tNgW9KHA1qjzIZuqEJaH1yjzCqAHBxnPO3SrJc3bVRXCsfB243h4FXjde3BjlcsUb3noACQI6hukTyAom8ADigohlL7I+cg7Z5ETIhrwDHUNA2MRp2J5mws52Zi7WYwqKBDytxt35KcfLggLivx06oLYbVCEv2Zh3Bs+YK5K1zFm+CLlPUW0w7//PlQr2FIPL+t1q3YrD+R48eNIytRJFODDGMv55y0YJ3YcmSbu5jjz3ihIpSsUkq0bDwjzHscZ21G+//rrHzUOkpqB75Vz1jJn+nq5fOk3o9xQKS14n9bzvtwGfMSIkipNYmcz0F0kTxMVDYJ3cr6C2QQg2OxX9O1TJ84pr/fLl24IC0X06DjJqVA6bxSGDegBQCbfclCX452LgdlU/AG/BvWaqSJDUGJ5V+7u4WteM5cMGdNKeA6TfmRlwmDNsYAx7cb1O3L+3FWzSoBfQqujRIkkGBuRY/MVzK48wdkGEAtQ2YYdPBrxQGbMAJRD1qZfuDbN/Md7QC5kTmJ8JMf6wlUDFP2u9cO678vvkb6NEff2rXuqfyPTMP+HlVZvXEf77ZuPEsZx7le0eG4xbHYCEMw+BXkPYAnDHHNq59bjBHCPc2LDH5xA3jAA8rt3fw80DgQFQtJPmF9tINFtE8+jG2TKksYw0mzxafor0o4wH0M8jj+kf6FgrMXzdeumg5xShb7bvP5QtWAYB9yBkBhHvL3gDG1RchiGE751vnuMFhxbOHuTWEFI5kCHwyFWz27q8Ry9PYCQ9JEbBqA+acwyveAMzApB0QBkCJikq9jHAcDH+k3LChYEq6egOwoYyIICIRGQOX/+7BXleYCg/97bn8rAnjMDTT7u7u/tY2FN4N21zyfeJiXI+zEoj57SQQ7/OE+FwKHMRgRvA/Oh9u0+Lii69B+sllj+EDY9JdLnOkIpmUBRVOgz9B2O21meB+i1K6zM/OaCAiGnjlshPxvAgMPhUPkdJ87uKq6pEEqWyS9p0yU1FPbDtlvtEZQR2PGYwqstf6HsgRamMd87z7tqyXb54/c/FchkHkdZ45y57+tfQgzxTvr+2GmDZ0cEr0x3IKRJBzktAaVRwmLFjiF///2voNS6AkvRo0cV+v3xb0+bl3rtFxBj2cZhQkgv4/qWvRPE6l2FIEd4Fu8AhfEzP1hsi4cHMGUV15QWww/jASBThkwppUyRtoKifvL4WQUmYdxgbMnzbuYAuSC5l50FJeDyr7/J5wPnS6NaAxW4RfsI3AjbnhQo+jHfK2FaeKu79hHu4a3Ct7du5W7hl3sChOw4MlX4Zd8s8JtxmPEYQMGdJySeVlGjRpGPK/RQAr95T/Medv8SRtjo4/4CSA2w81bujIIHB/w1abl//4EAvJPHetLoZdK5zTjz1HP9wj+ME6nTJvFoaKMBUk4kTfa65Mz9pvIk5BjljTdTyY1rt4U5CC+QFu2qSf0m5TjlLI2ae3+RMOfNg9iAl4CPQXnj5S2Q1TAkxRNyEAOymrfDy+q4MWYWytlYCBv2Rh/hOyJCIk26ZCpvpjsAkfYJCWcMyZAxRQBQGF7zLIy7GJMwdDA+co1ZfMlr+gqRNteu3DKMtFPNJtVvpiyphbB6wGgOMDeSBgHlmn1rweuUMZDxO0PGlPLF2kEqzD1GzOjK69da19fbABbKg3vVbuW9jWErddqkMmR0K6ex30pDHwNEMEFI5h7G74nG9wjAYK0X1m14XNcwFqb24feIx/iNa3dsXXCGfoCn26lfl8m5W2tVOXlxqRBpZgV7kVdINfBqvNiSI2cGJxupE9kArVsYABSh7naCjxABTfTPePHiKGMLx6zFFYRs3bGG6tMAVuQltta1c5tx2Z+dQJjjrKBiSFLAWOtbQUhSZsWIGU1Kvd9GSGXjTT7Tfz8qm1/iGwZAjBX0ZfRd2rCCkKQyII1UnnxZOBWgMEYgu167clMwImFkwvC3addYFTmHHAA/Alykd9xyQAOQbtmiD4YHBxDCAB8RyrB+IOgFRwcfOoqKJ09IFJlu7SbKqZPnVFgX9YO7p6/Ok3PixPEzfp/Am+S7ZSu+pzxpylcuLOyHp7fB874PvA+CAyEJg4kSJYrtnh3WZ0OgjwhAL9/QDyfPK+Ua+lHErJ6QKHnk1AE8cDgcyhNyyrxuQvgcgnmbz2oKC4qc+eWyygvDPewu0GiCkLRdqEhOjyDk0UM/Op+Vuj4qQd6WvtHm0xGC1yUgB2MJoLonEHL+zI2qL+MBTFgUXjiTxywP0AYKMoLinp3HvA4CE9rHAkCvvBJT/vzzb0FJBdho3q6KdOpZV9FBP8L7Dk8OngWgiTGfUOayld4Ll8W2AB8bt6ykvHrSGAos9ChijT/kMUNwRfHDe4PwwoY1+8vBvScUIIwnJ8KzKdAal9jyn/e4adc4qdOwlLRvNkqFtCEcA5Ka3kyeQMhiJfJIyTL5JHfezDJ76jrlTWYL0UYjjAUAIakNPvPLvnHY+Z+5m7mdcYS+AQjJOIISAeBgelpdPH9NKM4LfbhBf2AcO3ZmkUqODzjj7n3D77hxY0uq1ImdAAj1smRNK6RuwEBGfk6+geclF4CuVYdq6nvhXoApyFJ417FvLXyDeLaRK7HHwIbqFKAA9ALI4K2CsktfBoQHhITXi9cOlv27v7d9wZlegxoLSiLvHDBx3IxOwmIdinDLH2TGSMZckyJVYvmsV10FLsCD3HkzeXVs4x2S3oWcmTRPuwCI7kDImIbhB4A8lWHIIOccPOb6wh+8Ldu/OiI9OkwSvlPugdwLvbyLBasGyMVz13zCa74xvjU8cKHfteD5/fvvf0m7JiOVFy/ngwIhmecJsWV8py6g6sjBCwQjA/t2FUCB4vlaSLumI6V+9b6yZeMBAYTkPQUFQl48f13o73g/AUB4g167vkdSf9i54Ax9d8SEtlK2UiG1IAjpJOBXLKOfF/0wj0xf2NMZkfGPYfB8+PCxitZo2LyCtGxfzfgu6xmAfQk5d/oKl4VLuXPrvpDLPG2GZMI87o4IKwjJMzP+kdNvSJ/Z7qr75Bjtjo5gTiDMZaFNAdPcAKL37DimeJg5W1qVAqbv0CaSLkMKdcybf5hLMIITscICWcgU5KKePKermi9oizGAsYAxgXGZuQZDOueshfHGBCEjR4lsGL4SytebDxsGnSnWano7GA5oADIYBunT9nAA4QshjI+eFhEcBo1socAL9oMqDHwoKoCQWDcYYKz1yZlYvliHYMAO6xW+2UahYlEZLPHQzMRGS1Y3byyCTNCnf75kewJvaKFgvbx44Zrymnr0+JFaiIPjZrHT28BsM6hfJmsmilGT20uHbrUDhHqa13kCIbkWwGPm5LU+EfjN9kP66+9ALwo4iz20aFdV7t6+L4TXoHy4gpD0dUIp9+78ToEzWBQBO1iAoVnbKnL00A/Ka4nvIKS8eZ56eGDSR6z3CCkIqZT2SJHkhxPnrJfbsk2IdekKBVVbeOCpDeOPtT97AiEByaaOXyU53n5DCK218pr3iDciOTsRGo1bevV/8Y/eVW12aj1WSPLeu/MUBeIyvjduUSEACNneAM0YFwFNMdDgcY0Xmd2LbZngY4wY0ZRlu0zFQrLiy89l+Pg2akxBqf7ph4tSunwBJ6/wZmOhIwAlwsp++fGird71ABb1Pi2jcg6261JLWeBN4gA3ggIhASMGj24ladInk/IfdLAVfDSVdBMI4RdgBJpM+vllHGFuN0HIkmXyy55vp8vkud0kZqwYsnXjAarZUvhmAMMYx16N94qgxFSqXlTwjuGclQgA9cdPnkiyFAmFfKF8x+SgfjNLGsE72Vr3eber1/lQvj36s0rwj/JM255AyP27jytwC3AGr1faBjR/9PCRzJuxQQjLJoTs9/t/KkATw9K0BT0kVuwYKrUGfYpr7CiAu2WMb3Dn10eN+eJHBRyQMqN1pxqBPGbxKCXsF6WyVLkCcuLCEkFxvGiA00RCeIteQG/mg/rV+0mTOoMEfjCmuQMh8e7Gy550JBfOXZUzv/wqnzQuI/Sdzev2y9ZNB2XYgHnKMM49oJe5NVXqJGrRQe7tLbq5D98W3xjfGvtZsqeVqfO6O5VvjpEXmLEM2ki3Ys45nkBI5tDKJT8TFtrCq42Ft7zJb2gKbWGeg/bgQEiMzrwLAAeAh9C246m+Xd/j9q+O2jrX0HffMmSJFYu3SaFcn0qGxJUU4EJKEmRA5JAeAxqpb5N+s88YaxhnOI7REZmRSBKMop545+vjpFG5f/+BxDLmDr5Z13HbbJ9xlDmHSBO+Q4B2+rp53te/OH2UjWBOIPAyLClgACHJQ00fQk71dgoYdLxJBsiIpyJjAgb82hV7yoxJq4X0LQXef0smz4VIcIkAABAASURBVOnqHAcZCxgTACEZ660L01jfO2Pkzm3fCnPn6uU7hRQr1vN6O3gOaAAyeB7pGj7mAEDcR4bQuHzR1zJpzHKVpNjhcAjuz6EBIQlpwgJrKuw+Jtvj7ZnY1m8fIwdPzVXWe5RE18pYw/0pgTf0ESo5dEwriRYtiixduFUa1ewvDWv0DwTcIizb4W0ATcEVeLto9UDp3r+BoAyinKzYNMxtLh8raIOCFl6reTIhkuN03fbRsmrLCCG01t1z5i2Q1bawMnftux6Dbrw/YhgATbXSXaRkodaC1wEebAiariAkYDoee2WKtJUBPWYIgifJu8nzBuiEouDahi/2ATuGjW0lnXvVk6FG/7a2gVAZnCfkJwbA43A4BEDPeq2vtwHE+g1vpsLIUB5d27P2Z4R8a07ITFnTKIEqZ+6MQl/Pmj2dUgy4B2DsxNldBeGqX7dp4s33gBBK24R5btlwQAASaROllGTihKQyflhBSM7zHgApASLLFGkn7ZuPcrvwAXW9XejXeOXmeTeLAmAAvA7tO6kES3hUrVZx+XL3OMHLaeOaPZI46euBQq0xcrUwrPndO0z0Nnke78e8OX7GZ5Ij5xtqlVkAchZ+atGuqvMalCcrCPnW2xmFlYBnL+mjwEre/ZYN/8/P5LzQhxt4s+GphscAq2KSnJ4UAQAjACSufR0QslPLsQqUQUnB4+D2rXsyYtB8Y576yoeUBrx15RrFFFi7bcsRwVOQVTqpwVw+dlqnAMZSeHru9GW1KEr2nBlk2Lg28kHJd+TY0Z8EoJ3rvFXodxTeNWPCjElrlNGQ7x7DrtUTku+sqjF2E7ZOv2D+ZHzE4ElfgCaUb7x9UazYR0kbP+Lpgj/s21EwIqMY4nWEIatqqc7yufG+f7//pwJGS5bJF4AM5hqMd8h/nKCfHDNA2T5dpnp1fKOvVijeUYXRo4CycAt8Z0xD7mOMoH0K/GT+w0CBpzfHyL9587d7AjjDPuMj6V/MkOe7d34XvNt5Hs57qwCAd+haS3nfEtYIHx0OhxR4P4dYQUho5nlol74CkHf821/YFXcgJKsYT5zVRT0PBhiuV5VD+yeU9RlDMDZjdMawyBhuvQV0QDuAA7IJDg1WT8i06ZPLzq+/kY4tRguAg/Xa593mW6TAxxfle4Rfud7JJIf2n1IL7/Fs8ImxjP5tAkh4Tteu/5FQv3/36bJu5S6hb/MOvj92Wgi7Nvs+1/uy0EeIxEAvYIymLdo+9f1TQzJ9AnnWte9Q74OP8goLoo0cssAAWacKcxDH7SoRzQkEvjxPCphffrqoPJF9kQKmc+96auz6fOA8BRIyf9MPBvWaJYVyNlZyxM3f7vIIzsKYEBwISeQJeW9Xa/DRybfQbmgAMrQc0/W9zoGtmw4KycRR/D43LMLD+s9Vg5HDEToQ8pefLgmhhgkSxhMGB68TGoIbAhr0HdZUCHFKlDi+WgkTbw2rEsBt/C2BN95QzdpUlqqGso1ySG4ZBmkK9FqLXd4G1jbdbQN2AFBHixZVUJoIlUVpwuuEhOQo6K7XIRCa4dgIHuRVQUlx95yu13pjnzYnG9a45m2rSLYc6SWnARCRTwohnnPWNqJHjyb+AvRCFxbwLAaQtXj+FmcONwR9vlsETYTMNOmSCV4zKLVcQ+G7RKnq2m6CzJ2+XnmNcNyOQh+BvwijUQ1gHRAhJCDk1n0TVcg4Cw0A2I0fsdhWIRQQpl7jsgLYi1APeMoxV55Z+zMgZO/Bn8pXBybJnKV9BW9wvG5uGgov9+g3tImofE1f9BLy0QK88m5c7xnUPoDFknVDBC9W13qcGz+js3A+oTH2mYqrWQ/FNygQ0qxn9y/fI94w7xbMJgC1CJ+EtjX8eIABGP2sgEg8Zeo1KiPkgXI4HG4NHHbSTb8GrDt/9qp8WKClWrgFT6SP3msjc2dsCEAKyiJgE+HYADN8C3yfbPNdsmhHgAt8uIPADgCK1znjBrQx37OAVlAgJAAv4HTFDzsJyn14eFqR0xHPbTwoxn2+WOA3ijfsAnS3gpDwtH/3GYLSzbiIEo6hpnn9oVT3aRkxcL4EBUIyZh/ef1LRQOhkosSvSYyY0dW++YexZPLY5VK9bDcp+FYjQUYzz9nxW7DwWxIpUiTlNW22xxy/atl2gZ+EkZvHzV/GF/pFC4PHeORVKtFJvA3kmW2ZvwATQYGQ1IPX8BzPzNRpkwjABsfNkjRZAlm7YpfiNQoxXqjmOW/9wodenadI6cJtpUubcUL4Px4+DkdgENLaJvMDQJ45lgNCTpvfXcnXAz5vruaYi+evWS/x+TZy3eK1g6R1pxrK6IzxedmGoc5UByYB8BzarSAkHszkJV60eoBKMbRnxzGzus9+I8L3aAJ07piAvLR66whJky6pnDx+JlAVxnAAdsZC5pS0GZJLiTLvKuAfQ3OWFNUkQ6KKysuecTzQDXxwoNegxkK4Le8bkBrPYgoyyvyZG5QM6nA87fs4MHDcJAM5vEGTciq/M4YkO8e+iOgEYvKN7433jfxEnzBlDs7Tv9zloSaaoKRhTMqdN7NPUsAg55QuX1C+OfyTYASHFteCUQlgHPqt53gOTyAkMtTZM1dk+IC5CtS0Xqe3Q84BDUCGnFe6pk0csH74DodD8uTLIgBNKF3BkfDgwd/BVfHZeSYxrG1/GTSsX7VbeWwAiLnzREAoPXn8rDBhh3cCb4CNhs3KK48pQphQtkuWzaf23TELYdYObwN3bVuPNW1TRXmYsKoqSixeEsu/+FoIm2CCAIRkArJewzaLcVwOp9U8AfGwbhL6ivKCx0PkKJGlZNn8ylsW4QcaKf4C9EILJV+h7Mo7Fu8J9s3CxA2YsM6wdqMcuoKQNeuVDOAdZF5nxy+AUbToUYV+cefWfRVaGxIQMmnyBPKOMe5gLSfUDuXWF/TiKeDuvuUqvadA3m2bD6tUCACIQYGQG1bvUWMJ/SdFqkTqeQmVQnGcNHqpCvNzGAo9QAj9v3alXur+7tr2dIzxDS8SaPn6y0MBqjE2Dx7VUvAq4Dz8S2AYggJUMnbgoysISU695ZuGCwCOUcXW/3jLZ82eTh7+90iNJTwH3ydEEF4NiGEFIgFmSGT/9jtvKuMS9cKjlKv8vsSJG1tmT1unFD2TBgR/+m3/4c2EAuDHOY6jEKxftUfu3f1DCJvDI4C5lvN2FGgZMKKZxIkTUyaOWhqgyZGDF0pwICQX0J/t9LSiTbOw0BdjsrnPuGcq3hxzBSFRtgltR/lGCUc54xrq+roEB3qY7SdK8poaE/HSNOdK5IHMWdPIbzfuCnKKWdfOX0BRvrUPS78boNld274V5sy//vwnwHFzB/7SP/btPm4e8vkv83hwICREpEqTROXES50mqcrXyjF4njd/VmVwh9fQz3FvF4DEjWv2Om8LyIkXb1hASPrKwtUD1TNcunBdVi7Z5ryvrzfgF0a2G9duC95SP526oJokfxxzE3OUOvDsD/y0gpDMjUQeTRi1TOwElvz5e8RrHqMQ3qzP2Ob8IXQa5wnm9LSGcTlO3FjOc9YN+Dxp9DID2LslGE09yTXWa3y1zXNUqlZE5QFlfmPuQ6+hbxAxQLu8f8YRh8MhgGMYTbcdmizkUt79zXTJ/W5m+XL9fjl35jLVbSkR1QmkY/fa0rRNZZWmxsoo+I7MgeGT4/DZCkIyz/g6BUzxj/JKrNgx5ND+E5AQ6kL/sYKQRMoAZLPgTMOm5cQ6pob65voC0QCk6gT6j79xwPrhOxyOEIOQgHk3f7urQkLsfqb3iuaSKFGjSJ+uU5VHCh4bQXkiAJoRJgQICa2ED430QQJvPLiwEJM4//i5xbJg5YAA1uKMmVOpED5AJDymIkVySPGP3hUmCwANaHMtAAl2extYaWAye7dANrlw/qrg+m+eY7K7d+8PAfgFhGT1TIRW8zy/vlxhkvsHVQDxyBOHYtqgRj9hEQuEaAQkktNjsTV57i9Ar/k8KIXRo0cTBHjzmPmLAEr/sYKQo6d0kB1HpkrL9tUkecpEZlVbfwnhA2xDCenSdrwhIN9UCndQICTvA2+siQZw17LhMJ950Qwd00rWfj3SmQ8RxiDwf31wsuBhBaDeqNYAJzCDEuAJhLx1874cPfiD/GkYPwAjUXi4H4VvNV/W+pI+YQXJ82ZdGdhzZgDQijrBFYR3FLx0GZLLV5sPBQIvWbAi3mtxhJxn5KCjnzQ1DAQIma73hh4rCFmsRB5hsRqUYte6vtx/x1D8M2dNI8wXo4ctkmNHfxZywQIEWNvdte0bcQUiMdIwRlrr2bkNcPRq/FckZarEzmZJ5cBqjKxISq46yoxFPQXFhkooBBhrcqavpSIOPHkEUNfbhTlo4Mjmgnf6ru3H5PKlG4GaGOkBhAS4ZDEUc1wMdKGPDgBGA46b82YqA0ByBb4Y9zyBkDXqfCgs6uEj8oK9LWNAUPIHN7h47qozXJsclZv3jJdufesbIPUD2W28J+qER7lx/bYwJ1apUczZf6GD/k7UAuH77DPHj57cQS0IhGyDckh/4ZydZcdXRyU4EBLZigW5AHEwjMFr5sio0aLIjq1H7CRXtcV4G1oQkjHSlFfPn70iyLCAm+qGz/GHbw1DZXC3aNyyoly8cE0a1Owvg3vPkiqlOsv2rUcFwyfGL4xg3Mt6H77RzwfMl18vXldAL4AC+oW1jh3b/vg9wvMqNT+QGDGjScVqRYT+aI6zzN21PvlIbv12T4VRR44SWQArkVHc8QvQf9uWw8pzEKDXXR1fH+N53i+WS2ZMWq0805BJK5XsLHyf9BGzfd5/2yYjnzqJPHqsZEJA00yGPMDiUaQL4n2Z9X39C68jmhNIUwN0xJsYr01SfeBxasoaJr+QOawgpN0pYDJlTStPHj+RG9fumCSF+nfh7E3CmIGxJlasGJIjZwZh/hncx75FiUJNdAS5IFIEoVOT+RJywPrhOxzBg5BMjJmzpZFvDv9oK7cAuAizTps+mbCgzLqVu53tW0MkXT0hEdwI4yJcqEX9oQKg522lkAlh0uwuCsBFaUb4JbzJKqj16TxVOrceJ/AboAYABuG/ROl8QYKQCHZ2exuYjCVsCUEJGucs6eP01ixfpbAc//a08gAzPSFZ+IR3xLUIKLyfmuW7C0IJx+wsLFxAu/COdgEZu7WfICbPXUFIwBr6Bf2DfgIQwjVca3e5efOuRIkaWQjbS5s+eaDmeSYEPqyCJN4np1v81+LKlHErbOU1Cmij5hUUfXxjCEHsbN10UOXzYR+lzxMISR4/QOLXX3+Vy3xSAL8KFckpr8SJJWY+RMavBoZV9acfLsh3z/Ju0bgVmPEEQqZ/I4WcOX1ZKWS9je+Z67xVTPARBQ++wV9XJa9/j5lCPtBS77eRyWNWKIDTE63QRb/+Yt5m5a1M3+cbsLNfIzDj9cF4QWL6yWOWK5ARxQX63BUrEPnN4Z+UUuaunh3Hbly7LVGjRBHCsAEyvvl5gQCeqCLmAAAQAElEQVRqEOLpcDgEAwwgOmNkzXolVMikHXS5a4NVLafO764WykGAJx/d0g1DnTlJrddY+zrjB2kD5i7rKxj3rPV8vU3/xhgEOG7Om/zWrFsikDc3454VhMycLa1azbPnwEbCM/ia1qDujxI9Y9IaJ8hIv8ejybyGcP0jB34QQCWeL2Pm1MrjetaUNfZ5/5jEWH43rd2nwCL6b+uO1ZVn0vSFPZWnzRZjHF9sjB3qHU3rKBWqFRbmVWQbxqpRk9uHS39nXu/WfqIycmGAAYC25oQkBP9rw3gDEMJ3AK+jGgbrxfO2hIvBHHaHFoREXm1sGMWQR8oWbe+VeZ13TC6+AcObCd5r0OWu4K2eKUsaseYr5ds7evCU/PXn3wJfMxkAEt8tfcN6jwpV31eLVgEkIOdaz9m57S/fI98J+ccHjWwhWbKnNb5/UYA/nvWm48GhfSekZ6dJKgUDMhGLPNGvTXnFHd/wUP/7r3+EOdXdeV8fI0UA/QCg3GwrTpyYgvf61cs3jeeZLHynnGM+x0mEPj176johxzeRXeWLtRdylVPHrpIxgjmBkFuzmWFgxnCMUYX5g/G3ebsqghxr5RvytglCUg+jEfoY275OAYMMyhhL1IqVpuC2GUeWrh/ifBbGDKKRkKt0zsfguBfy8xqADDmvdM1w4AAfPkID1geHwyGEYyOkMIFaycFDom7D0mqFxwUzN1pP+XSbgZScd+RbYyGdX914dngCIRG8EKqwHALkIUx5k1gmAoQFwIzPB8yTIwdOCQMobeApCgDDtrUAAnRr/39ADIDPFEis9cJjGy+aXoMaCwDI1Ss3xewTCRO/ppRbJsV0GZLJ2hU7pWu7CbKWkOCHj5T3HZZd8vl17lnXELjSKSXBjmfgHZsLzmzYMUbix48jWOKtbbvy3ApC0s8p9A/6ifU6X28DXrMSKc9AW3hwACxmeDOltOpYjUOBCn0Yr9TfbtxR3njzZ20UvuFAFX10gO9xxMS2CoyBdtdmggIh8XCi8D7wUPWlhRMvu37dpqt+iFDfvG1VadqqskqMjxEAPlpptwIzCFXktcTyTB1Ahdx5MynAAA9E12upE1QJ6hx9D8/HNzKlUp4N1KUtFBerknfN+B7NdscO/0IIj2MfWt15bdKncuV+U+hTjDfwnHvbURgX6zctKzFiRBPed+KkrzsNGCFpH8UF79SubceHpLpP6qxaukNYBCVW7BiS0QCNAGAcDofcu/uHsKhFoVyfKm/XvTu/k9cMIwCe1z4hJJibwusixfNI3y5ThQVnMP5gGAKYa9q6stC/XG9BX585eY0CzcR4pj3GM+C5SX9yreurfebGNIZBkYT140cskYvP8tyhmJAqwNr3oQHaACHxwGf/v/8eCsAf3wL74VmCAj1MuiePXaG8gXg/n9YeaOviPu54w5wB3wE9yPeYLkNyY97PJgf2fC8YTJEBJs3pKhhymJMAFSYZRgTSbCRJ9roBShZxd1ufH4OObkGAkCjiw/rNUd7W1G3RYJiEdx8JDQgJA/kmkEfoO+w/byFVDuMTxs2KVQt7BCGTJU+oxuna9UsJObNpl3kEuZscmiwqA/iEocz8Rjlfp2EpObTvpE8WnIGG0Jbw/h4Zu3BAiP9aHGnXdISQHiJz8qrG9kiVsxYDc/d+DVSUA8Zkno/FktBj+B6RV9ArGNs5Zy0JEsaTf/7+122uSGs9X22/nvBVAXDCi5E2eFZklaRG3+n12f/BR3QJosJImQVo2r/7dLVADnMPRmuu9XbBY5AIBbwdzXuzvWDVAEFnjUhOIMU/eleY4zq1HitZU1Y3DPtTVL5eT30D+ZCxLzxSwESLHlXwvDR5HpJf5Oh/jTmcHP3UZ00JFmHS4CPc8F7RAKT3eKnv5CMOIIxaQUjCb2cu6iUTZnaW7v0bCvnDeg5oaAAef3ktJCQkj8LkBhCQJl0yVT2GodC+ky+LIShnV/vWP0ze5uIneEIOG9NaDv0wV5q3q6pWjLPW9cY2wkGdBqUE4bJ2xZ6CcF6tTFdZs2KnIKQh7KFguWsLMKBbe/cgJAnAyS2GYOfuWl8dw2tm3PROQpjClHndJFOW1DJ8wFxBGB4zfJEgRFSoUlj+/fehfPUsP12nlmNk3ardCjhB4U2ZOomgIOI94Ss6rfeFR5MNJclccIYFXBCESpUvqARpa11Xnhf9MLewEMrcZf2kbKX3rFVt2ab/NGldSXkNmA1u33JEbt+6pyzlZSoWEoAvcfMvS7Z0SpD9uEIPQdh2U8Unh8zvkXBvPHgrVC0iIQEhq378gQBOE77Hu/IJcW5uagVDSXvw6PEjZUDxpNghHJt58rA2k3vn56srhfd05dffhITpbpp5rkN4kv738KGQLqB35ykq/5rD4VCGIAR7eO6uAZTq4EDIY9/8LHhW0Pfd3cMXxxi/qtQoKpcuXJcb1+8IVng8QKbO6x7om/RF+2G5J6D67m9nyMLVA515lshN1dgAivDaQFg+cfyMTBu/UliEBkUGgZ9+RB5Qfh8ahpiwtO3pGr6rL3ePdzvXmdcALgIoHDl4SpYs2KrAdoDEaRNXCWH6r70eV8y507zG/D353RnBwLTz62+Ea3gG85wdv9lzZRAWVWj0cX+1YEeNct3V3EHbQYGQ505fFnLk0vf5BqhvR+E7ZDxAycXDxLVNxmEAUfieOMlrauw2PSHh7ecD5gneQPDazu+xl2FQ/Pb0Qvnl2iqhP+E1aNI+Y9JqIXVEugQV5O2MdeTypd/U+MM3PHRsK8GICpi9fNFXanziGcYZYDF5bpOnTGjexuu/0Mh8cfbmGjl3a60Q+s33wHxPYzuCCcembxDJwJiKMYNrwrsgJwYVjk2fyvNuZq+TiQwBmHH29GX1biNHiSyMGTgZuDbGmP3Xn/8o+cMM8a3XuIzEiBldRbzQd/ft+k5dxje6YNVA5Tnbsn01dWzPDt8vOKMaMv6Y3yPeuBTX7zI8v0cMl/EM8BEvPwwOBrnqPx669Mu6lXvJ+JFL1THrn+BASJ4ZWfXUiXOycsl266U+3WaeIZqERh4/eizxDYMbCz5BDzIKMrcVfKQe+R8x2qU1jEzs+7pAX4Om5YUIBaIWAB4pHbvXEbwIre0z/nrSv6z1wmMbnvJtJTWMPFs2HBD6BHQQuWdNq+MOoEYm4Ru1MwUM6XWgLyw5u/HiTfLMOI0Tz3BD30Sn5H5eLC/1rTQA+VK//ojz8CYIycQB1UweZQwQhLxXDC6EH7ZvNtrpXk8dXxcmvmtXb0n75qMU6AWwh6WeRPtY6F3bt4KQhDJeOHtVOjQbpTyXXOs+zz7gUb1GZWThnC8F0MJ6r96dp6qcdijed27dt54KsO06CeLhCSBGnqhYsWOoEMsAF/h458PS+SSmIWji7YBXVc7cbwrWWRREJkGUdFYpvXXzXgDa7t9/IAj5LB5AkuzObcb5mNL/39664Azto+gBNBFOOG76Z4EADyvPHQ6HJEocXyXSttvTiv5DKDDKv9UbD8UKIAElNnr0aCp0eIoBBiOUmE+NQoGi8u3hHxUobB6347dareLCCqMsAIWlPjgQcuznS1RfQelJnTapyl84sNcsO0h1tkGfjRvvFRX2GN3gaf2mZRU44KzgssH3PHLQAmVt5hSGhO+++UV6dJzk9XGE+7dqNFwBE3xDjMEjjLYZgx2O0IOQGGt6DGioDEbDxrZW4DR9nnbsKoC+tSr2kg/zt5Q6lXo6+2iB93PIVD8EIfm24BsKN+FlAB2AAfALgR6vAsLeAY+G9J2jQD7OmQUF688//3Y+p3n8eX4ZH5h78TTyNNdx/7wFssrrCeMphZB9s0wes1xY3Mncd/eLV9P33562HXzE2x+PFIfDIdbE9SavMWBBL0qY6WXFPoVjyjg6eY2tXm2AG8Hl4oI+V9Cj98DGQnoWFl/A44k6dhb6MjkyMQ4yjtGfACTxvHelgxQTAHxEukxb0MNQ5JMqEJsQvq7tJjir//zDBQVcByXbOCuHYQPaSHXwxx9/KS9GwE6MQXhSLVw1wBmez1zZrf1E9T0yrn9ct6SQ8gFj+eK1g8PQsu8vcQdCzlnaV1QEx7ZRwgIM3qbi7OlfpZth7C5RoKW0N2Th82evCPOxOxBy84b96rsiFHJInzlKfgJounH9tpJpka+a1x+qDAUOx1P5CQBh3ao9ss/jokTefiIR+vCKLz8XgD76BQW5aOPOseqY2WJ4fI+MT2+/k0lIMUMfNWmx/h45+IPqt9Zj5jayNnoM8hX9uknLSkIoNw4hS9YPlX///U/6dZum5CrzGl/+omcNH9/GmWv3x1MX5Mnjx1LC0BdwUHEHPkLP7/f/FDMajH1flz0G+D176lplnGK8696/gTDmXjx/VZCxXb0ukYv4LkhPEzlyJPU8zE2MgRhgwsMJBH13/IzOwoI9CQ3dBKcPK99IqxMcCGmtb8f2Lz9ddDqg1KxXUo0ZoWkXfr+V6w3Vn9E3Q3Otrhs8BzQAGTyPdA0/4QAKcPNPhiqvNwRMJpEfDGsbC02ULNhKWHXSTlIZcLFiMym3azpS1q3cJYCQWOY9KWZ7dh4zLL1/KLCjbZMR8stPl7xKMsoh1qdX4sSUosVzOwVisxGENMIesSQTwkeOonXbRytL8ewlfYTQBLOudRJ0OJ4KdITe2GkFQgFHsUueIqGQM+6rLw+q1QuZzE06+c1hTBJx48aWVKkTO8P6mDyyZE0r5H6pV7WP8mTh+alvRyGs6MR3Z4RwXtpvXGugyl+EQGENs7bSAs/3GlZ8QD673f3hNQsUNWtdWWLFiqGEni/WDArg5YTQTH/H8wRFoWSZ/KrvnLiwRE79ukw+bVVJeT/OnbHB+li2bBMyXSxvc7UAFKDt5Us3lLeEJ09IwsTJt4j3IIKenYIzDCF8sGzF91TYdb9u0xWoiFAfHAiJZxCLyQC+16nUS+UupN9wT18XxuCwgpAo6o1bVFQWf0JsfU2rp/vjPcg5xl6E/+PP8m36GwjJ+EVutFRpkwiLCzkcDnEFIXkOCsoBHm1cwz4FTy28e/fuOu41wxxeG3Ubllar+dJGUHMdfTmSQTNRAXUalqK6KozBZ595PJ03AAd10PjDGI6yXqxEHmFubFRrgBL8jVO2/MfrqlK1Iip/YM63MwpzpLXhoEBI0n+wQApjvZ2ej7Qb0lxcPAvj94xnOSEx4gL0Xvn1poz9fDGnbSsYDDHE0Q96dpospqcu/RejMkCflRi+0W1bDyvQkbkHAOSrTYcEMMRaL33GFBIpUiQDPD5pPeyVbea6mnU/VCkOAPzJHdes3hCnDIc3L9+h2RgAT7f2ExWYEzVaFOF5k6dIoHIim3X87dcVhMSYSFQAsmLnNuO9Ti4ytKnYwy/mwfPGmIBs4Q6EnDt9vTAuIOtXrlFUpd65duWWky7GFhZN+frLQ4LRF5mAxWqcFXy8wcJy0D13+joBVB1kGDThHQZ/Qp7bdKoh1DHJsPt7WUuPLgAAEABJREFUxCD1qmHwZLFMkwbXX+RAAK7128fI4R/nyVoDfOabNOsh//Hd8Q3Sr3PmzijpM6aUBbM2Cgv+Ma+adX35C/iInpU6TVJBD6QtFnP67be7gqyRyjAqE+1Ev+KctSB/v5bgVTE95KznfLU9ddxKYWFD9Fbka/oEnqKe+IVM180A55FN0RnC0wmEPkHYPkYiHECSJk8gCQzjoiuv+J5dQUgWcsPwgsHOtb6v982oLdph0VLSPbAdkpIwUXy5d+cPW40XIaHrRaqjAcgX6W2+BM+C4IHiTUhOjrQ1pXThtirfWHg/OoIPgnRwIOTH9UrKzRt3lYLlaeIJ67OY4COKn8PhEIA7Bn0mD+s9SciMBZ+QLTwls+VIr+qiFIyd1jHA4gBMgtu3HlEeWr4AxKANixpWVLatdCLMmxa36DGiCZ5eTesOFoor7wDsHj95IslSJJR+w5pK9drFBW/NN7OkkR9OnrPe1ufbWL5ZeAEwer9headv0Ch9t1enKUGCkLwzFBVypdgB9EIXBd7TVxIkjCfrV+9ROc8iRXJI9pwZhBynnKceBY+TXp9NFrxNeEaUBRTHKJEjC8Jep1ZjbQUOoMm1QAffY1Ag5JuZUql8QYSKk7/NtU+53tNb+/CScO8vVg+U+/f/kCljVwiCslVwCw6EhBbSD9jp2UGblLCAkKuX7VCWaIRphGrGFe4V3oV3HhQIybsyPQ7tpjWZIeRfunBNAJkrftjRGP9+ViS4AyFJ79BvaFOlMOLRtv/7WYISeXDvCSG/lbrwOf/AhzIVC8nq5TtUPkfeKd+/JxAS0Oj+/QdKGezc6xOn9w/zDMrA11sOK88lxg48aFZ+OVwIV5yxqJds3jshgOHjOUkP9nLmzrKVCgljmcPhkJixogsAB+/fevG1KzcFr1PTEzLzswVnUM54B9a6dmwXD2UuLmgC9Ni68aCgABNmzthnzlGct6PghQXAS25QxhPmuiF95whh9/QHAA9XELJP56mSKVlV6dhytABC4pVtpZXryld+X/DuQrG3nvPG9ntFc6rb7Pz6G/XLn6OHfpCTx88oo/LnA+cHyp3JPDTZGN/xQqbvdDMASY5xrb8WQMiJo5cJNNNH6Ov0eej3Nc3wJjgQ0qQhs2Fc5jvNZMh4vHuO871Sjh87LRh9eRaO21GQOYuVfEcWL9iqIo+YW2ZMWi0A1csWfa36LIBdhWpFpHm7qk6S7PwekfvxUsyaPZ3gTewkwtgAYMc7d8OOsVK3UWnJmiOdApmyv5VBuvSpLwBJJp+tIKRxqSRJ9ppEihzJNrkPnQUZO+6rryivS+R+6EAewpiBPhDD0BlaGYAvThaxX4nJaVUw1DVrW0VwTKCuOmjTnz9+/0tIh0IkFzQRgo1Rz1PzyEndnoGQDkf4OIFAW/uutSTea3GU4wy8Rcds2qZKAF2RehRXEBKDImHmdn6L0EFhPNm25YhyDIps9E/SdGFo5FxQhW8hR64MgoNCUPX0uefjQKTnu1xf/Zwc0JdHIA7gvbPrm+mCt5drviIeAyEe0MMdCInyVqFqYRnQc6bUKNdNEE64xlsFt/zS5QsIwJVpnXQ4HApYBFhCKKMtlL938mdVnmGL52+RLm3GCaEtTCqcjxc/jjRtXdnpRQgg9sFHeWXD6j2CkkAdbxVoIkfLO/mzyFtvvyGEGHCM+/OLUmda3JKnTCjkHeGcu7Jlw0Eh/5bD8RQ0GzaujXxgCIPHjv4k82dudHeJT46hNDVrU1nqNCwtOXNnFNcFZ4ICIVOlSaI8nQBYvc3r4B6WMM9Hjx9LlVKdpV3TkQrY/3L9fjVxp8uQXEqVLxjgFoRilyzUWkq911rVJ7fL+7mbCMYBOxQViMFbF6/dTbvGKS/MKfO6CYID5ygIH3yPVhCSOnyLfC8I2VjxL56/pgBXrrGjEHZIUmzAjqzZ00uVj4upZl0FN1cQkm+CUEuUc3VBOP4BNBgRwnBsBO006ZIpwBphGqHaLtJRNA6cnCNmvrbTN1bLjiNTnSFb0MFY7ApCEnqIp8rC1QOlWq0PqGZ7ga5uBmABv9i20ugKQvI+yJPMAgAoY4Q4f1pnkLRvPsprSiHfda0KPdQiIGwTMrlm+Q41RrgDIfn+GCeYW/BIweD1w+XlKtSd8OY+BqBEnwZ8LFoij/A9UBflLKNhHOjYo06oQ6bC+pLu3v5dSG2QP3tDp8dDjlwB5yTz3jw7gAwLW3CMZPwzJq0ROz0f4RtzM3PillDm4uLa9G+kkPAAH1G2AZezGkZPPMMADOAhxezDQYGQ1AN0TZAongJH2Kcwpk99lkKhn49CQNOkT2aALJFpThXGtYEjmkvhD3IbgNMCgX5OYDglLBTFm31km9s37wvfMt8Ex/y9XL96S/795z8Vzkxfp8/bRTM86tdtugTlCQkt5CY2bM5Kxp08p6syOg8e3UpYiATjB3XsLKQJgh6MztZ20QuQs83ctwBjACFp0ydX1ez8HlnE6dqVW4IXGyHAhIUjQ+0/MVsmz+0q7xbMJoCkijDLn8gGePN+0VzSrsvHzqNWEBJAisgrDDlU4JmYe/lG2Pd2Iedxr85TpFjeZoKcmtfQafjuaAdAF9owUsDruoYsvve7mbJ5z3jBODd8bBuJEiWy8tjk3XCNHYU8kC3bVzNkzavyLJe3eg+de9VzC+SZNDH/+9IJxGwnqN/+PWZK8XwthHQvk8esUDIFfcgT7ciyRKzxDsLb6IyBH2cJni+y8d4rVisiyHVmf+G4tXAcwBXjKjm2ref0tnc5oAFI7/JT3+0F5cDQMa2kU886BgiWQClFAGO9BjUWACfrIzOhAXpYQUgm9g3bR0vjlhVVHkPqWK/xxja5zYrlbS4AV7j69+o0WYX+OBz/ByHLVCykvNmuXbkpH5fvLoSHMFEQRsQ1WLyhJWHi+JK3QFY2lcXLF4AYAgrgI0AM4YV///2vZM/5hgAcIpgxARAigeKNUoqA48niBqGEVfbvPkOF/zJxkJtpzfKdQk4gzttRUK5YJAehC4EN6ywWcfat7buCkEU/zC3k1yTkpZlhVeRZrPV9vc0Kb1nfSq/y05h9k18Aj1PfnxWHwyEIbO7o4P3A53Urd6v+5q6OL44BZkyd310A1FHEKYCPE2d1FgRqFFLaRZnhezRBSOrs+Xa6IWx3k5ixYsjWjQeoZmsB2ACAuWOAHvfv/WEAcxed7fM9Wj0h6U8A84QbAcinTpvE68YLZ+Oh3EDhHjFogdy987vqI3nyZRG+ab5t11sds3nBGb650VM6SPO2VYUwT8AW6OS7TJ02qfQa2EhGT+6gxnJopR/T349/+wu7QughnhIrF28XVuNVB234w3vesm+irN46IlD6DFca3YGQ/bpPNwwxV2Tj2r3i6iHmC/IBJ9YEAUKiDHZrN1GFQ6I04pH5808Xpfcz8BHjGHMNoCOeCrkz1pWBhpHu/r0HkiFjCgPcedsXZAe654xJq4XFQa4Zc2MTA7ilv1CJb5Xvz7VPU+/0z5fUmMl13gIfGbdYWI/CNjS4FhQkMzKAudrss2Y91zHECgyYdb7ecljs9nxkfmQBBsBlxu17d/8wyXH+MqYApPP++YYxtiBj8cydetZV32us2DEkRoxoUu/TstLUMPaRm3DJusGCkZJr+U6cNwxyI/QnX3struqT0OYOfOSOhLcCiOTM/Sa7cvaXy0LEAHOROuDnf+jrGKFZTITvm75uN8nwKjgQcvO6/QJQypj+XtFcSnakn2zfelRFYnibZr5HUh6YwLLr/UnBEC1aFAUquZ5jn7Fww+o9ymCTMk1iee+ZRy3n7PoekesAhvi+ABrx4OZbJFemw+GAFOWpyTiNLkGqgekTVgkpr8jTWqzEOwEWzQToMx0ekNGbtKwki9YMUuU9453EiRtb3dMXfw7vP6mAMMaMxxjPaz415NJW13YThLGANDvsvxrvFcmYObWkMQyhl3+9Id2M84yTnPN1YazAmEZf7dlpkiBnDOk7J8QgJLKtr5xAQvrsjAH0Heoz1zHnse8JhOSZcxnjH+m+urWfoCIduDY8CvoUKV1YrI/2GS/Qeeav6C/TF/aUKka/gV7menKUcyxN+qRqYSvGIa7RxTcciOSb2+q7ag68OBzA6lfUmHiH9p0rbySpZFi7FyrFg0HLFJCtT8vA3NMAANc9ywnJ5IenVYdmo4TB0FrXV9sAkih5TBwOx1MQEoX7niH0MwG6CumsgLhlwwEVJhk5UiSJHTumkzRv04yAC1CB8sQiF9lS15AsKapJi/pDhXxAtIfFrZhh3SSPTkgsbhALsEcOrgyJKqr7tTf4zbvgnB0lY+ZUKp8f756JN1Ikh+CtgQJLX7HSAK29noVjOxwO54IzrApsrWfHduKkr0ucOLEkc9Y0goBttgnvDuw9oUJcHjz4yzwc7r/QiIfp3dv3BeFz9tR1ArhBUvHIhoWz8AdvyxTDmk8/g1iEiE4tx6o6hJRR5/atezJi0PxAIXPU91WhHyzbMFTdftPaffL2G7UlV4ba6hnUwWd/EIxNEBIlgTx+X6wdJLneyaSAHJ7nWdVw/4H/IzyAkChseALVaVhKUL6w5Acg2Ic7jNl4bKCE4LVXp3IvKZSzsXrfWOXpA+WqvC/WnECMiSi95ATF6DFn6vpAOeZ8SLICHM10BwjD9BezD5vtQiPjtwk6AUKOn/GZ8ugkfC5ypEjKS8HO0DJAiqBASLwICIdEmb1w/qqgqBMGNWtxH0EBfvzosaxbsUvwombMIVQL8DRq1CjOXJPm89vxCw2Ac0GBkCiFePGRyxSFzFt09R36qQAYUrr1rR/otvQHDBEYQFH+wpKLixQheHvynIEa8NEBQI5WHaoZ4MwrqoVIxtzIMcJW1QHLH8YUvltAEuZNvmU8vzNnTatqMf5xLnGS19SCXZy/feu+dGju3UUI8bDvNaixMxWAmtMjR5KyhiGX9C6FXTwfFXHGH4x2Vt4SzgzNxqkI83+DAZTxXSM/2kE0/Zq0JKevr5IVXw5XYyE8Yzz25AmJ9+zwgfOUpyTzOrItOSLxNvQmzYCa5MbedXSasHggociHfpgrzGvWdghBxugMuGE9bt3GG4u0GjFiRJf0hoGFc4zpdn6PfF+fG3wzwTlooPx+/08lfxOhVbN8d5WXFbmKPJr9e84QDHivvR7XGLPTUN1ZrCAk8kq+gtkE72Zv9x/GAowQLCbibNzYQK7Yue0bA9DNJbwr45D6j1Gp6DvNFOCHJz6RUC0bDBOOoR+pSjb8KVWugHzSuKxMmtNV/nzwj9OAPHLwwiBBSJ4XnS1Hzgwq7VSnlmNsoPZpE8huON1s2DFGKEPHtlbf5NOzorz9gwMh7TY6m7S5++UbQ77Yu/M7ZQCgDvwt/lFeQRY5cWGJrPlqpDH3VlRGrtlT1imZlXq6+I4DGoD0HW/1nSMIBxCEp8zrFmCANUlPmz65lK5QSHlKoRhxfMLIJTJx9FLBywSyW68AABAASURBVI5BrFHzCsoSzzmzIICuWb5TADqwvGCBYRA0z9vxyyRrBSGxYEaLFtXZtOsGAh90E9riq+TMCJqAj/Fei2tYIScKNJp0EAqO0MA+gi+0sI2CF9xkR73wKLx/PK1I1k2eE6x9CHiABIQeYG1jRT7ABOpaaQSE3LXtW5VYf7XRV+wUMKx0YJn9/fc/hfD7Dt1qK69C8/zTPHTXZcuGg+oQShmKwvFzi+WbnxfIyEnt1IStTtr0p1CRXHLj2m2V4wmwlxx3gBt9u01TC7k4HA4BwMFzxiQJXlOn4oedFNCNELpg1ibztM9/EXIqVSsiud/NLGnTJ5O///onyDZNEPK3G3dUPbx6d379jfIcUwf86A/9fcSgBUpBcTgcgifkglUDZdOusWpBD74Db5OL59P2w1OEUHrXe6OEIPR/c+QngTbzPOMJyunIIQuUAYlvs5hhWALQNuuQxy+qMUbaDT7Sfq9BjYV0B8wr7NOHGTcYM9k3C/MI4wsLXDkcBr+NPgVwSW6pL9fvN6vZ+ouyuWb5DiXcZ8iYUlgcIF/B7IFouH7llsSIGU1IqJ8iVSJVf82KnYFCxf/55z/BQxjQJ9BNnvMA/Jy3vJ/8eGW5nLy4VGYt7i30Gett6SueQEj6C/eoVKKTUsSs13lr2+FwSPzX4gS6HZEBETEXFw+yetlOyZG2phBt8c8//8rrCV6Vzr0/EU8g5OcGSAIoYo59KJC8F77pvl2nCV5alO4dJnl9IS5oGje9k+CBjmzI/pEDp+T+vT8E5bxQkZxqMRlo4dmsBaWW6A1/MtpZ6Qtum/Fl4uhlggwWXF1vnbemJcFztE6j0urWyKT9uk1XICNGo4pVCyvAQJ00/gB+MZenS1BBcqavJQN6zDCOeu8/XvCT53aTgoXfChCanDBRfOnUo26Avgu/ANZZ2KlkmfxuiYC3h/afUueiRomifsPjD7IPfGthGP0B7kmdw7fZsuEwt95q8JnVsT3Ryvlli77yadh+ecNgWP/TsjJ4VAvZcWSaWEO8aR8QGm82K42MFxjjWJSwd+cpwiKa1vO+3Ebenziri0FvS4kcJZKkTZdMyctWmcUVhCQVErIN1z71sH7b0A/+s81xBX5A34pNw6RyjWJCDv0s2dNJjTofyhdrBwcA3V31MmjHg3D5puEyzAAs7TY6Q3tQhW8PQ3SPDhMFmRSHBWt9DNOA2UT8Des/13rqhdz2h4fSAKQ/vAVNQ7hyIEu2tAIISViTqyKSM3dGIc9SztxvOi3hEPvGm6kUCHL/3gOVZL9Fu2rimtS5Wq3iRp07PllwBhpCUrZuOqhAC4Qjh8Oh8uUQ9oYC5Xo9uawePXpkCJ63ZPf2Y66nn3ufNk3wsfdnUwRQyLxpWgPoxSXelYfmedfJzpp7hMkajxSzrp2/rTpUl7IV31P5qMpXLizs0z4TGWAkE13kyJGkROl8ApgArZynQDNhKuTtDC/wETrwJNi36zsFBqQxhKQJMzsLYTRL1g1RQN7UCSuVAIQwjkcb30icuLGEVVRZtZb8S9zH1wXBCLAgZerEstMAbhEorG0iVHdrN8HovzdVSDBKInlXrXXwHEMIRTC1HvflNlZ76wIX9IFa9T9ya/Cw0gEIWf6DjsozrF6V3oKSYCfdVlqC20YRt4KQiRLHV+FRAMQ7vjoa3OWhOo+A3rJ9dTl5/KwwvrlenD1nBtU3790NHOJJXQCQeTM3GIL9vwp0L1+lMIdVATQgPxNhZeqAjX/mz9woeJ4Uy9tc5V6j6aBAyJ3bvpHbN++pxUQYZ/oZAHx49o+QgJBzZ2wQvtMTx8+oMEm+xwkjl/GozsI88fY7b8o3h38UzjtPeGGDe4+b/pnyliFkMFbsGFL0wzxq8RtkAGsT8NIKQpIuhDQZg0e1NIDiFNaqXtvGE4o+jbJPf3C9MZEBETEXF2MASh085duaMWmN+v6CAiFZzfjvv/8RDC8m+GjyA6/amuW7q++FBbzM4976JZ9fzJjRVUQInqbIf+tW7pZtWw6reTJGjGjSpFWlAAo5bTM3kvYBA9O2zYc5pEsIOMA45yktCX2nnwcQEpkAnoegiVBXQd4BVMEISF7sCsU7ChE6ABXc7NV4rwjRCWxTWKyHVEL06U496wTQFzhvFgy+f/z+p+ANbh4Lj1++RWQhvqVtW44ESwJ9mjn1hxPnA9VlXP2gxDty5NAPwjyAvhGo0nMeWLtil/xw8ryS7VKnTSLoABgh8RS/ahi2mA8Bin3VH0JL/qjJ7eXtvJlU+oWsKatLoVyfyoY1ewU9y3ovKwiJXE2fO/LTfEEuYZ5cs3yntbpPt/HexRD6/XenhZzu5Hjn+wOso1+371IrgNHXqpdBO+sk4IhBZIBPCX2Om+MN+9F7reUtw2BhAvD85nqjtlowapchVz3H7fWloeBApFDU1VU1B14oDmDV2bxnvHToXkeFehHWBMBi9dxgUCW0ImuOdNJjYEP1/ExwCEwMZIQuA0IipOKdAICGUEQ43Ka1e32y4IwiIhR/UGh6d57qBGYAvtyBkDwXYW/rVu5SgFMomgi2KgIK4GM2AxxYs2xHAPCRiwm7/ufvf6Vdl48FHnLMtVgnO/jNRI3FbfG6wcJ7wzPB9Rpf77+TP6tcvHBNEDwfPX6klCqzzaBAyFTPFpwhxDw8wUeTVvoH7/3PB38LSvlbb7+hcrBNM8BHrMuAPv2HNRPC3vBKIewZYfzhf4+U95BVEDfv6c1fwAHCZQEL6KcIw+7uT1+fOn6VWsEzTtzYSgB0V8/OY3dv/y5D+syR/NkbCmAvbTN+AEjzXbDvqSDIrzMUX/M6T/X84Tgg5LJFXwvCKjk3fQk+RjZAfU+CYoKE8QTvkkxZ0nj0zsU6v8cwsuA1kTZ9Mmc9+jre1t7kJ++YMTe4e9J3GTN45yhxKLRc46mvJE2WQLZtPSILZ38pgDuugDzX2l2ge00QnpAoveR4rFmuuyRMFF99p4z9Jp2A8y3aV5MHxjhEpIF53Fu/eHWwmMiWjQeE/nl4/0nBwy6NYXjBi5RxxtoW9AJCmu8C5RHwjLnIWu95t5EZKLxDPDCqle7iBNcBQpgXaYO+AU1sQwN9lX3mQxRy8ixyzizwM7xyceH1fdRQpN3N53x/8DEoT0g8yb7/9rQywPCM5jP58tf8VpOnSCjkyvvqy4PqPcyeulY1yzy5zzDWMW6gkPcd0kRYBI2QbDwlWVApdbqksmrpDmeopbpQ/3HLAebAkKQlAQSxgpCVaxSVk5eWKm9IQBO3N3+Og3xznXvWk1PfnxPGqjUGCIQxBA9BczEZbp/aGDcwdLI9zzCuHD34gzII4QU+dGyrAGANdShZc6SXq5dvypZnUSUc8/fCuJjn3cyCYcQ6Xlvp5h0x/jNGWY8/zzYyPWMY92AMIDUAnvEXzl1TxgHmkCatK8uXu8dJvHhxDHAykvDuqB+ehQUOkVMxdqInQgt8Gdx7ljK8sW8tVhDS4XAY+mhU+enUea979FrbdLddoVoRg4cO5aUOvcxHDWr0E6IUiMxYv2aPGg+t1zIPrV62Q72Pn05dEBwvkGOsdfxxm/5kAvD8su+PdL7INEV6kR9OP5vmgCcODB3TSvoOayoxDCv37u3fKk8LgBUEB2v42P7dx+WiMdmhpJgraeHmj5KNwDFn2jqZNGaZcC1KAErMtAU9FIiz/auj4i+DGsotwjOTisPhCOQJieJSpeYHakXsMcO+8MS2MB1HqAd8zJMvi1qEB4HBnVKyy3gPUaNFERPIddcYk52pdMWJG0vl7ABs6PMMYHV3jS+OkUeLPhTNoHfpwq3SqGZ/aVijv7jyjomYCZmJGdCE0ENzwRkUbV/Q5umevAdPoYf00/bNRknWVNWFcKZ+XafJ77//JXihkEC7dccaytP31s17MrDnDOnffbogjG/ZeECiRYsqqQxA1VO7bo+H4iB0AzYjjHIZ3ieEQSIUs+9a+CYP7DkhhEMlS57Q9bTt+zMmrRZyU/HthWSBC9sJ9FKDKApZDUPNtau3FLiDQuKlW6vbAIK3bF9d9cOYsaIL6QDUCZc/pI8gjUSGN1MIOXpdTjt3163aLRiPoPutXG84j3t7Y8DnzQXPOYpr/ipPbdFXUOZM4CuHQR/KOt8C19D38xrGD5SxXp9NdqvUUM8XhdA3cqCdvblGKHhrdO/XwNkUdK8JAoSkImGqjBnMtzwLx/i+8b7O824WwRMQ5Yfj3izZc2WQo4d+EEA+APPqZbuJSWtQICRzP94/zD3MQd6kibkXAxqAHdvWe6NMd+1TX4Ub9hve1HpKbUMLNDF+I3+4AyGP2bwAFIR16llX8PomFNnTfO4JhMQAzCI85ENuVGuAV2UoQAE8++nD0GktnCMKhvPRY0ST7775RfUT+orZF+Fz8/pDZemCrcrYGDlKZCVL4Wlfskx+wVg9ZtgiGff5Yuut9bYbDtDfKxmAR0jTkjCfAEJePH9NgSRPHj+RWVPWCuHibm4f5kPmN4fMP9mQ7Xnn1pvRb7/adEgBjbFjx1CGFM5Tr1+3aQZwdIFdSZ02qYyZ1lHljWT8ZnzDezrbW+ll/qyNXjfyq0bD+IdvjnDhStWLBroD3wVj0N07fxjA1IpA5znA90He1mtXbrLrlQJNc5f1VeG85g2XLfpKLhkG/9M/XRTyOZKCAY9UvFHLV3nf4HkSKVo8jzKKm9eEx2/mrGklUqRIcunidWfzyBmf9aonu7+dIadvrFaFdEbwl0qAkIw1AJYTRi6Vhh8PsN2IgRwE0IjeAk0UFnz8oGRegffoWRyjYFTlmSjMncyR6DrWa6mni+aAJw5E8nRCH3+xOfAyPx1567CuIygWzt1EGhgWHsIr8mdvoBaYiRc/jtRr/DQHDRNr1dJd5OMKPVRoAZMFCtPpny85BWOsXOQvBJSEryxiMH7EEud5jvlDcQdCzljUS5auHyJ4Em7felg9ozdpRWEGfMyVJ5PyEsRzAEXJnVKSIGE85bnk6bxJF0pXeFrcyC3YrE1lqVqruKRIlViF2e8zgGqKSaP1lwmZiRkQ0uFwOBecIS+NtZ4vt3kPIQ09hA7CqxMnfU0lziasPPYrMZUHbbd2E4TQYOpQzp6+rHKhAvqw74tS4P235Mb12/JJtb6yZvlO4TtD4AHs51t01ybhXHilevKUdHeNHcdQUvCoCmqBCzvo8EUbeGklT5HIJ+AjOcKatqos5ATE6/zi+evCypAAHa7P8v2x02rVTkJsa9T5UDz1ka++PCT0W97Jd9/+4nobr+3jqfnw4UMBnB08qoXsOz5LUET4poJqBGUOMM8EIQkBXrphqJAeYdSk9gIIizdWUPfw9jmMLi3bV5PzZ64IuY3xgMYTrGHzCsLiDOYzQfcaCwgJeDppdheVu4u8er9dvyOEu+NRPXpKByESYcveCZIxUypl3NhhGO+8STvt42mFlwwGR+u9rbS6G1dQtHLnzSyzp67zes6O36bLAAAQAElEQVRHAMdOPeoIMgfznhVApN92MRRWeGT25ZCAkBhrmM/DKxcXz1Trk4/k77/+FUAcnsvdfM87AMyZMWmNAvPoR4NHtRRAh/RveD/EHdltyOhWAj1fG98+7ZuF+ZG2iYLhfPKUCVXqHfO89ZfxoqsxD35cvocsmb9FLW527OjPysiE5yryoLW+3g7MAcZtAGoAXIfDoTzQa9X/KNi0JIwLhw+cEt4BwDuyYOC7h/2ICT7yzaVIlUgGjmjhFsw6tP+kknt+v/9Afr10w9kg+gLpAvay2MXDRxIrVgy1sB8LXOz/fpYUL5VXxo9YLAtnb3Je4y8bLKKIbnTkp/nCojuEEAOQLVw9UKLHiOp1L3vGNxaXgueuPAB8xBEkUeL48tXmQ87TvPfN6/dLxsyp1ZhBGgYWOEP/AjijYvKUiYQxiO3wKhhAGdObtami8oRiYNr9zXRp0a6q0K9wRqAwJvUb1lT1f2hFVkAvGDVkoZK3OeaL4umeGFDIPcy7oQ7gY91GZQQPyD6dp3JIlXqNy8isL3pL4Q/eVvvhYeRSDes/EZoDGoCM0K9PEx9aDpBMvOiH7wjKp6ugyORG2Nc7mepJiwbDnLfm+GFD4OBA0Q/zGADSa4LnJPtmQXiePHa54FFR8K1GAthnnvOnX+iyekKmSpNE3jaUK8LFUcS8TSvCwO3b9wVPBvi6Z8cxZTlGyLcqJUx4hPFeNSyo61ftVgsQtO1cU03erjTFNsAwFMXwsLgh2KBAQwMCxKvxXpGSZfM5BQhXWs19QMjtW48oEHa1AaLZHXZduUYxSZM+meCxGJLQQ8KDTh4/q94Vnj94tRHaTP8xn4lfrPyAOL7IGcr9KXgPAj4inJGLCf4FB0LeuXVfCOn/9eL/lQPuZUfBu+brg5OFlfUoe47NkL5Dm6jFC2if8cQTCIlnLblQ8ZagbkQqg3rNkiJ5mvjEGw+grVOrMWqxCbyLyhRpK4C4DZqWE5RZK5/41r5+lqsNPg4Z3dJtKBxgV/To0VQuSd6J9R7e3N60br9cvvSbuqXD4RBWLkYR2f/9bCF0E/BDnXTzxwQheVaMNyg1rHwdLXpUlUsRhdzNZT45hNc6oC+eGsxzpQu3VfmtoJGxMHPWNIIHhdk484kJQqJ0lSiTX44eOqW8lvYZBpvli75S4yHPlDZ9chWF0KrRcK/PnVZPq9Rpkyhw2qTR/LXSytxiGjdqGAD2uwWySfkPOvgEfOzYrbZcunBdyMOGEk0/bNS8vPKqI5/WvbsPRM2HxngW3eir0BMcCGlGBoRXLi7axzONRUHGPzPEus73Jt/5BYScOXmt4MkkxvexZ+d3AogDLzjvjYKiD/jIIk8AGgBF1vsii+CtyXHCwuF1UwM8YL631rNuM850bTdBWNyMBYlYGIfrrXU8bL/0h8OaluTDUu9KnneziC/Bx0iRHArg5CUBSNNv6D/suxa+XVM3MM/RB1jsok7l3vLF3M0COA0gyfzIwi/kwDXr+ssv+dhb1B+qjEqvvR5XLbqDNyRz5GZj/vq4Qk+vz+uMs28aQGLPAY0CyPkm+Ih3PHPD8LFtBEDUfAfkEb537w+BPvgH7c3qDZEKxhi9ZvlO9e4yZUnjlLeoY3fZt/O43L3zu9FXM8uwcW2kWq3iKi81czg5RQGgMaSy/UamVIFyydpJL3Ov2R4RIeiy6GKewEfq4njw559/C+Mk4zRjOOMh53TRHAgpBzQAGVJO6XovBAdKli0gjx8/lk3r9oXpeRIleU2thpc9ZwanZw1CKsrXbzfuiqswEqZGfHwRIBICHBZDPBTWLN/hdc9H8xF2fHVUEA4Aj5iomhtCzp4dxxSwZSolHQwljDDFc2evSI1y3aV1488VkDGs/zy3K/Jx7/CyuGXMnEqFqQPi4Y2FsFr8o3cFDxtASWhzV/CiQXnfsHqP2A0+Qk9oQw/J81O1VGcVjo318/7dP1QIBvcyS0kDUHj7nUzCyrvUN49745fw2tlL+qj8Wqu2jFAhiCZ/4d9qQ9AMCoTk+nsGzVs2HvAGOSG6B/QR4t6288cCIEO+uFixYwggPBbjhasGOMcMvgUrCIl3GyG6TVtXUnmWAHVC1OhLUgmlbtuW/yfKh3+AFITauwMhhxtjx4E936txBhBy5KT2Kmk970jkKdPqNCylzuPF9PSIb/7ybZDKg/6Id6YCWoymAGoI3Vy3fbRSsOizxuFA/+kLKLT9u8+QIwdOKUUQA5m3vX8CNexygAWzeAZCscxTO7d9K2fPXFE5zQiZ3WcAi+Y5fgH2UMDdzTMAmeWLtVdgE4Ayz+htJaZTz7pSpmIhcUSKZGBbDmUo8uRpBa3MhdCKcsz402tQY+WdyLN4syAzAHrt3PaNiq7o0Hy0micL5GgoLEKEdyn8+Oi91mo+7NJ2vPKIQeELCoQMz8gAkz9Txq4QDLns00eRNfhezfkeIJtz1nLi2Gm5e/d3twvOWOuFZRvgAhAJMClqtChqcRBX0J/FfYrlbSbkZJ48ZoUCMaDX6pEalrb1Ne45MGNS2NKSILs2qNHP68YAqEyRMrF8aegFgIQYQi4/82yk39B/6EfUo7xfNJf8+89/svyLr9l1WwDGGBMBp/mWeWa+A7eV/eAgc2zbJiOUIQigjPm2eP6W0r75KDX2eItEDLSk8Og9uLFKpwLg1a1fA6fXYquO1RWwBT3oKHyzLC7zxdpBMnluNwEU3W7IAtlzpg/gnUp9DNREsjWuPdCrNAf37MgSpSsUdFbDmESEHQAjB+En/WnUkEVC/0J/wJDKWImhPHbsmFSzvWDMWr5xqJhj8snvzxgykQgRgkQ1IPtbPR9NApMkfV1iG7Ktua9/NQfCwoFIYblIX6M5EBE5wIIhWbKlkdu37otrCE5In+fiuauChZwQDbxXNu8ZL9361pd7dx/4ZOXokNIV2npYFh0Oh6BwoXiF9vqw1kcAa+4CQrbuVMNQYH9TICjKtnnvxfM2u82Bwj3Cy+LGZNy59TjBgvlZq7Eq3w9gU4nS+YIEIVEoye8CeGY+nx2/AKNhDT2EPqyjhQrnVIo7gh/HKHgidO/fQA7tPyG8C455qxBCSEJ/kssj/OfMnVGBR4tWDxRTCYCPqy0gJB6GVWoWE3Itkcvo3YLZZNqEVR4BbG/Rar3P2KkdBat980+GGAB6U8mVobb06fL/xZ/wvsEbD29frqMfA0KaIbYAljMmrfGJckV7L1qBf55ASM6Rj+vQvpOGQP1EKTooPnu/mymM2ftPzBYAP4ASV9DMF3xasXib4F1w/NtfBLBtjdF3yRtMW4BKKFizFvdWtNVtVJrDgQq5TauV6Soo4Bh0AlXw8YGUqRMHaOEpsNtO0qZLJijaGJuowNiA1wffIn2duXLN8h1qfOe8taA0rlu52+04b60X1m08rYb2nSNEJZjvGboYF11BKNpgLly3cpdhpHyiQCjAM0A0znmrOMHHr49K+2ajVDvmvTFUWUFy8/jWTQfFjFygv7gDIbkO4NRXkQEYVvoPb2aSFOAXRfboT/OFOgFOGDvwDz7yTQLqAbyaCq9xWv1H4fXFgjPMF4BHeBk9fvxEtZU7byYhLYz1/SN3QB8VXOnVICRceb7CWDF0TCvZsGOMKkPHtnaGW8N35kG8vGklqO+T8+fOXObH64W5AC9W6GEsAyQCNKIh5BD6Ef0JowbyxfpVewKko6FeRC+Mx8i1B/aeEMAzvgtvPhPe6G0+qymnf/5V8Aj9fMBTJwPSifCdMS4A1r7/9qfKGFC7Yk9l4EbnYtwjh/pCQw5M/0YKNUYj87nSx/vzNt2ubVj36Q89BzYSxkYi7MxzeLrmzfyJpH29vDLkF8rZWOhj0GfW+eP3P1Uo/8Xz18xDtv0yZuPpuMOYh5AtaJhF+Ojz6DTk1o8RI7qS/TlnFuaZitWKGHrwfyoljnlc/2oOhIgDlkqRLNt6U3PgheZAipSJDEU0tkQzrOAAK6F5WITV5u2qGhb6b+XIgR+UUvtqvFckY+bUKoxs1pQ1fpVUOqhnQ8nBWrdxzR63SmFQ13rjHBOw1ROSe76ZJY0gXLDtbwXhmUVPCPlAODbpw1vHzO3IhB0cCOlNwRlBZ9/xWSqfHNsmTdZfhL1KhqBAkvewhB6Sdw8vrWjRokqyFAmFhQFoi/uS0wYhEqXY2ubzbpNHsGqtD2TS6OXyZrIqgkX+/Nkr6rbwvtegxmqbP1YQMnXapGpFTHIWZTaMDIN6z5KFNuZZAjQilQEeESgv0EeZP3OjSucA8IQVnL7UuGVFTqnCtwBgcO/uH4KSjvKrTug/IeIA/PMEQqJMkSNqSJ/Z8vOPF5XADACCF/s3h34UFgSy5jMNUYNhrMRYQcGL8JU4scT01Jg0Zrkg8NM3GEOYT8gJxbeNYYv+QpMsptO4xf/7Dce8Wfi2GN9KlSsQSOGwtkP4OOFk0DVyUmDwkbqxYseQ94vmFJRE9jEkAeyxbXeZMSn0nlaEzv1+/4FPvkcr+OjKE+ZlFuEhVy9KniuvQgJC+ioyACWb1CP3Db640sU5AFFCmOmnIQEhiXogDyqgFAYjxvlGtQYEAGNd2wnLfqPmFYR8bID2vTtPUWGRDodD8uTLEgiEtN6fcZjxmPGFMQNwhHdHHd4N74ptXYLnAAaJFZuGCWlgkPOyZE8n9Jcv1g52hp7CZ08gZKuONSQ80pIwj7uCkFPnd5dPGpeRzRsOqPQTwT+9/9UIjiLmzVoVegi5CIOrG5rzyHb0BdIzcP+Zk9cI81/lkp8J+VQxqv354K8At2TOxKDLeSJtACJjxowu6C/ocBju0M0CXGTjDmNC3Yallccmnpyde38SIJw8KFIYRypUKyKkCQprRF5Q9/d0jnaJOOMbvHjumhw29FmzLvyeOn6lYCzF87RarQ9k8brBQqQGdQiPn20YSvPmzyrMR8i1HNdFcyAsHNAAZFi4pq+J0BzA+y9HrgyhegaEprrGRJP73UyCoDR57AqVfHzdyt3yae2BEcoSijfep7UHhQv4aDIdgdMKQiLku/OMMOuH128vA/DasneCWsnQTMoNyIUlHJqYsD2BkAhbWEWZ8KnrzVK+amGVSw5AoGyl9wLdGqWwTMVC8ryhhwgYeDniPZLn3af5bMpWKiSb1+9XoZO8x0CNh/EAfCpVvqAc//a0shRzG74v8j8iFF+/dlvmzdzAYWexgpAcvHThmhCqiiWXfbsKIdTRDMPGuTNPwVJru/QR6GQRIo7nyv2mAFiyjSKbO29mnyxwwf0jYgFoM8OS+X6w0gelZNAHPYGQPD9AQsmCrSRz8qrKEyFXhtrSsuEwW71joWPblsMK3MNQwT50Txq9TM6fvSp//P6XAESTVsDheJonsknryrLzyFQ5eWmptOtaS16NF5vLvFpQKOD16q0jhPFt4uwusvbrUYLnomtDF85dVYsqfFyvhIyb1jGQ56NZ/9bNe/Lgwd9qFyV+ovGMasemP6w0a6A8XAAAEABJREFUjocjhW2zWfjN3B2Up5Uvv0eU1U496gjyR7z4cVVfMGnjl3mZBXIKFX5LQgpCfly3pFqU6MDJOYKHFt7ojDfcz1uFuaRxiwpCrl+8eqz3xSBVu/5HQtg6fZcxPCgQEtCB3GEYtsiDynhveqZa7+utbUJpydEIuIFBasSgBWEGIfHMZ3EfFHIMcIDw3qLzRb0PUQzIUN9/d1rez91ESr3XWqWQoK8A2LTvUsuZn9f1+2RODe+0JIxfVhAyYaL4ghxCX3pR35kvnotxgVRFyHGMUa5tMGaResmTQZDzzT8ZooBKE4iMFMkhKVImVsC26/3s2CeijrHu+2OnhXB1UqvQp92BkOg2h3+cJzMX9RKMIl371JeNO8dKsuQJZOKopULft4Nm5nv0l9oNPlKgKfPd4FEthNRBvCNooG9/PnCeMI87HA7JliO9EO137tZaIQyetEsbVu+RMcO+oLoumgNh5oAGIMPMOn1hROMA1jPCHAG7AIdCQz+L1rBqZ6YsadRkQegAgi2KL5NjaO7lD3W96Y0X1udh0vVnEBJPv0rViqiFW5iUCevASwnwcfyMz5xKOu/fCkLiybl130Q1aeMNxHOGlUeerjt29GehP+M5deu3e4GqeTP0sHfnqYJV9MTxM4LgUb9aP+naboL6DgI1/BwHin+UV5ImS6BCf8zbIBQNHNFcrVw6tN8cMYFFjiM8UQ9wb/XynYJSkyZdMjEXkOBc4BL6I3iGLd80XI6dWSQIkXh+uSqfSZK9LjFiRJPM2dK6bQDBG4ENoY5wo8xZn9YDdPDFAhduiYgAB5u2qSyEaCH04t0AUAuQtMX4nn66skK++XmBygtKiD7AiOmxxzfGWOwpJ6Q/PPoao4/+eOq84AVJ/6VMndddsr2VXob1nyslC7UWFi5A6eXbhuZo0aNKpEiRZNbkNULORI55q1SsXkTGGEBiZmNOQ3nivg6HQ0gVgIca9HHMLN8c/lF5++OlmeHNVIKXMbSa583fHDkzCF6e5jOYx339+8abKQXlCoUK0JrC9mbDgITiRfv0E08gJB7fpJvwxfdYu0Ep6dSjjsSLH0flh2X1UHcg4w8nzsnDh4/E03meYeumg85wbLxU8hXMJqd/uiTMQZz3ZuEbA3yMHj2aJE+ZUOp/WjbA7Zn7enScJFlTVpeBvWYJnjP0GxRzd56QpMVgAYO///5XzV/zZ20U5tYAN/XhDm2FFYQENMU4QmhiH2NOvHblpg8pfTFujYeXw+EQFnyEX8yDeKOuWbFThZ6uX7NHeVKZT2t+n/6UloQxzgpCpn8jhQL7kQNNuvVv0BzIVyi7ICPdu/tHkBWRq5C3eg1qLIRXM5ZYL2C8sQKRjx4/cqblsdazY5t8/20+HWHM2b2k0cf91eJqzHnuQEjGvcMHTknh4rmFcG3kmlPGWE/uX/qXHfQyP/YY2FBF6hXI0UjwcL14/prKjVzg/bekc+96TjIwNH1ae6AKf//j9z8FPQP5+tKF6zJi8AJp33yU1+V/Z+N646XhgAYgX5pX7ScPGo5k/HDivDABOhwOtcobYbUhJQfB6MkTkRSpEoX0El0vBByAr55AyNivxBTAHnKVhOBWXq2C58z7xXIJIXwAXAiglUp2FoQFvD1cG0MwQgHEy83hcEiixPGFsAquda3rjX2syA1r9JeWDYZJz88mB7oldM+dvl4l4ibUNCivH/NiT6GHvCMTcMejhOTq5jXe/AVoiWRYtdOlT6Zuy/ufPKerkL8LgMYEHzlJ6B7AFNsU+GwFIckJSZgOSv7XBycL3pvUC02hfSzWn49vI7nzZpJX470iCRLGEwTkWV/0cuaw4p5//fmPRI4SWQEHCHoccy0kJt+78zt1OFXaJOpX//k/BwAfW7avLij6/z/6/61oBhgX//W4AvBcskx+adm+mkwy+sf35xfLqV+XyVf7JworeLJgEqAJ4Mn/r/aPrc3r9ytFjDA+E3z8fOB8ARiBQr4tFPT2TUfJ7Zv3FOA3Y+Iqn4CPnXvWk58MQLTU+23k7Yx1BKUDBQo6APIxCLBtlnkzNsjRgz8oZST+a3Hks551nd5LZh0MeyhXKCo7v/7GPOzzX765sdM6SXSjjzAm9jLGRBYJo2Fy1+LdiTcW+4xnVhDS9LQCIOSbp443C4p0h6615PrV2wJ4SPuRI0dSYwXjk7XN/O/lkBgxowcJUkIb91m+eJtaCIOxnefhvpzzVuH7wVvHIQ71zqMbIGT9pmUF7x2zDQCljWv2ql3yiLGya1AgJKANYPeEEUsMUH2tMI+pi238w7cWWhDSHxb3sZFFXmvqrVxvKKAR+ci8KavrflAyr1rUDiDXPJ4paxrlFUw/xhscWR3vdcLhzTrh9YvchwxIugxosOaEZF+XoDnwiiHLR4sW1TBuJQsgN5lXVapeVNZ8NVJ2HZ0mjNWke8ABYPvhKc4wfbMuv/QngMgSBVpJ5zbjOGRbwesb2ZIGiRDil4KBfM7U9cqw4gpC0qfJrbluxS6lgw7sNVOgn+fgWjsKBrYECV5V8zzGgCULtkrjWgPUyufMRwDrVjqgDRqzp6mpIkcyJK4k5OZk4RxrvVBt68qaAxYOaADSwgy9+WJzAK+/7775RQnTeCK0aFfN7WTojgsoCYAjCEXuzutjYecAk7MrCImV8MhP8w0lLbec/O5M2G8exivzGxZbgEY8Dc1bxIkTU638dvXyTUEYRSg1z/HLhL196xEFGgCGAYpx3FuFPkioxIKVA9QtCV0D5IR/HEBgI3wSZZx9s3AeBRVFlWM5DKUA8M5aD+E/d97MPgsFLmkARiSeJ6Q2X8HskBGokF8Mz5isb6UXBFBP4CMXnj931VCLHWw6C/yG71hqyQlJbrEC7+eQqeNWyBEDOHFWDMEGvAYgKljkLTl+7LRs23xYAGi51OFwCLmsmrapwq4qeCA9/O+RynvHYifqoJs/Rw/9oBSyO7fuuzn78h4CpPm0ZSW5cP6qyr1HSBOrjALIdTEUjPkzNwrgLWM4Fnm+TZNbDodDyAuF9wQLFvELWOKPIOTKJdsNo8AtadmxuvJ8tIKP5vPw+7YBeEczwDRfgo/HvvlZ5ScFRGKMALTDwxneRo4SSQHu0GIW6vTrNk0pLHhE8I2Nn/mZ4HWI0siq0aOndJDoMaLLsoVbbfWQ+PiTjwRwGn4yJgKmVijeUYhc4Lv84eR5+e7bX8xHUbQxJtrhaUXIYLP6Q+Wj91qrvKPjRy6R3+//GQhkBNgr+mEeWTB7o+TP3lDwOmeMrlHnQyfd5kba9MmlaPE8cvjAKZUShndjnvPGL+Pf0/DAZQqcXrV0u9AvorsBIa3tBQdCVqpeRHmzb1y7T4YPmGe91Nbt0ICQ8CJNumQqRQJGRuZ5W4n1YmN23yqSAbRjrDBTOgA+1m1URtas2ClW8LFe4zIy64vehrz3tjIw+VIWCSsPkPeQ+9yBkADri9YMEoxiYb3/i3wdqWnQnZgzJs/tpkBFjMKkNNhzbIZyNEAujRotSgA2JEwUXzr1qOsxryIefJQAF/lwh/7bb3gz5QGLV7trU0GBkCzihrMAC7atNYBI12t9vf9W7owSM1YMARw122LuX7boKyWTmsf0r+aAXRzQAKRdnNbt+AUHsNbffqb8Y8V0XQ3RE5GVaxSV115/VZhIPdXRx8POARSo5oaSBkiGcotFjmPD+8/1en7N7v0aCODm/9i7Czgrqr8N4M+lU0GQFmkQBEVCUkIFFJEOEVAJlRQUCak/3SkpAlLSJSUhIQgopZTS3SUoXe99Ds6+d3fvLhu39+HD3Jg5M3POd/beO/ObExxxL6wcp3j2acSNGwcJEycA//FCkH8radM/azofX7d6O2fjtbKvYM7SfqZWXK48mfB6hcKmmTKDYSaBix54EcSAXN6Xs+EH+8l7yM0y+FilRikT1GBNIObXMQ0tecFNX87nyZ4VhOSdUXc1PWSwkX3MjZncwXQ8X7/R22AQlTUYmQ/H6acff8PZM5dMP3Md//cRnNV8tNKnSv0MQp6schndFy/YYEZIZHPnqPz90JrBx6zZ06Nlo4FgJ+mN7HeKa1XsgK2b95obGLwZ8WqxF0FH7nf+rDU4dfK8CSpUrl7KDIjD+c6mO7fvgU0tnS2LqfMYpOHol+zWok/XiWCTpm9Gzgdrp71r92QNWC4vW7gp8trvyGdLVQXvV+mMXp0ngMER3ijgXX32L8fvDzoyWMIgZOv27/GtT0z8HLKfv4cPHmL0sLlBNR8dM8cAar6Xs4PBHHc0u2agi8EkNutmfhz3PXLwHJw6cR6s0Xv61EXHReY1L1gavtcTrN3IQD+NefFdtVYZMMjAwVt6dBrv8u9ss/NwHgoVzW2Cetb3MpNWrFzc/P38vHan0/5qWXZP1LTifvi9wTxxYnPUUUNnm/zyd47NrResHIQ6Dcph6oSlJjDDv2XWOmeNEw7awPUcJwbiRw+b45bgI/fDPLN5oDVqKwfMWTR3XZSCkC3twfblP4/A0nXD8G61Uti764j9POo0d+PVKTJBSAbrGThQ8DFyh4y1YRnwYHcIDN7UbxQ6+Mgtslk+v7v5feLL3ZLw+yVkEJI3hBl8TJQovumuh+XRFFxg186D2LRhlzkvY007DoIyZ1l/sEuD9M+lgs1mMyvcunUH7C+UN454o5+/5Wx5wr8fk8CLDww4Nmj8DhIkiGduojgOTOWYrZBByK59mmD1ltH4bvb/zECbvAbl96vjOp54za4jaFnLfkOL57jWPjlA37Wr/+DY4TPWLFMTmd3bcPCZkNcSQYn0QgLRFPBmADKaWdfqEoi8AJtB8oKVtSJsNhsKFsltggW8iApra/wCrvtBBbDmDWu4hZVO86MnwB/lGVNWmH6koho8elIOWBOPNeySP/MU2DF0WEFIBgiYhj/CPP7Ogo/cF2vFseZN5qzpTM2gT+r3AYNgXOaqiScLDD6WKP0yWJMnZEfdbCrHgWFix4ltTuQYCI1IEJLBHXby3rZTPXPC4ar8WtsJ6mMuT2bcuXPPBO64jIFDLnMWGOLJGWtBxokb2wSA2XSH6zhODHSUtFvwItxxvuPry5f+RrSCjzkyoGObUVi1/NegzTL4wv7O9u87bubxZI7HnW+47NvRi8zfLo9DlZqlwQsT/u1wOScex/LvFDUBnsnfLuUsTf8J8LPPC8//3ponBt8mjF4I1gZkQJh+ZsF/D7yg4aAWDJRULdfW1BpjX3RZUlYGA5gM4MyausrcEPhvFZ94WrlsC3gTrLD9t8dZhhh8ql2po1uaXTP4mDrNM2BXIr0GNQvVfxY/U3fv3gebUPOib++J2WDn80cuLQIHOqnX8C0wf2wmzkAka0zu230E27bsw9eDZqFq+XZw7CrBWfncMY+BCwYArN9xNpP7olN97PnjcLDgI7/vf/p1jLlRxO9Jb9W0ChmE5PcE//7HjpgfYR5+V/JzE+EVIpCQTegtw5DJo1cqNn4AABAASURBVBKE5O8jvw9pzf5x9+4+DAY1Q27bW+/DC0LyRgAHm+HfPJuKK/gY+aPE4/3oEVChUjE0bFoZi+w3T7u1GxdqQ2nSpjCtS0It8MEZVhCS34PMHvt03r/vGNjElucBnKcptECPr8Y/vnFlv/kGIFgC1o6cO+MnVH79c7xb9nOw/8Fi+Rpi9rRV4LXa81nSoUTpl4Ot4+k3laqWBI8vW8PwHJVjCYQXhORvIwOoiZMkBH9vWb55M9d4LNv8/uLvfZ0G5c0+9/953JyDs3XXd7O6Bf32V61V2rTasvLG3042fR/9XQdw8Jkf1gwFuzQyG9GDBFwooACkCzG1Kf8Q4GAQq3781dzNt9lsphbT5Dndwb4G+aXtWArWcBs1qQMy2QNMrOWkk1BHHde/LluuoAlWRSV4FF5ueFHFpoIc5ZV9gbEGG08gONjCJ62qhVr1L3uQ6dHDh+CItSMntEPImo/WCmxKx5pA1ntewFuvXfGc2H7yYgUfbTab/Q7yw1CbjRc3Dvg3zWZ7v/zXxyAv+MILQrq76SEDjBw19PiRs6j5dntwBOKOrUea4AULwIABa4vyteM0ZthcLFu00Xw2WXOCTfHpny9/dpOsfqO30Xdoc8SLHxcLZq0z8xwfeAGdK3cm07dYyECtYzpnr2nNQBebbT/7bDK8Yz/hDJmOJ6AMSrIfs7t37+Hff28FJeHFLGsrMSjAmk0cRIU1m1g7gidyHGn4uYypMaTvdNMENGhFvQhT4ElByLBWZBPu0fa/pW7tx5mLhrDSeWM+f0NYCzKv/W+6fMWiHskCP4+8GHk6WRLTbyB3yhYAHDmZ3418z4nBfX4vvvBiJrBmni2WzVy02Gw2MHD5ZecGYE0QpuXIwuwTtmLp1qhZsYP5u7Yuyrnck9OdO3fB326WkxdQzoKPzM/JE49rKT/1VGIw4OeOAWe4n4hMjkFIpufN0JB9QnK+e6bQW23buT76j2hlao2GXvp4TmSDkA3r9DA1lFkDaszweXi/ahef+zzyeztkn5DTFvTC8p+Hg+cK++3nAo9LHzMfGRy3+ryLrABvRpw+ecG0DGANrAQJ4oe62cnfXd6wu2O/SWn12xrZ/Xg6PYOQ69fsNN+N/NtW8PHJR4DnRbwx2L/7d2CLBX7/8sZV7y4TUfylRk4DuD07TzA1IhMnToBnUyV/8k7cmKLOu1+hxlvt0KhuT7BrlCcFIS9fum76TL5547a5CcqbGG7MXrBNZ86aHuynnNc2HMSR3+u88cPvMpvtccUb1kD98/RcFC2RD907jgfPS5j+qx4NjTVbSdyx/64mSBAPNd9/A7x5F2wneiOBaArEiub6Wl0CfifAH0KeMKxYshlW8IgDHzRoVBEbd47H5t0T7SefI8ARbyfO7IpMmdNi0Zx1Jsjjd4X1owwXKpoHz2dOh8G9pyKywaPwismLal7YMaA1YuBMsMYUm9GwmQfXa/lFbYQcsXPdqm24ePFvMyBGRvvxnzllBXjSyfSOEy/Sn0n5NC7Z0zrOd9VrnpgnSZoIXduNBU/knW23T7dJYMfQvPhnM+uN6343ycILQrqz6SGDABzgYt/uo2j4Xg9zYsMMsdNr1io8f+4K35oBXXiBZ944PHRtNw68G8sgX/z48VCxSgmwg3LWxGIfkhykYeTg2WBtZofVzEsGB996rVWk/354EWQFH202G1hrh03a2bQdIf6xGwYGHy9fuoYtG3cHW8oO85t91N+UmfnndnnHuVzFIqZW2WcfD3r8dxRsLb0JTyCqQcjwtuntZfzusf+Z2YN5FUxWvuhUD9MX9jJBNDPDDQ/sl7Fgzvqm2a71XeIYhOTfKpvExY0T2/zW5c5QE5yG9P3eNBdmlhicrNOgHF96ZKrToDzYxcWOA9PMQEN7T87Gxt+/BfuTZWDEygS/a3hTibU2O3b/CCFrPlrpOEhN7Nixrbdef3YMQsaOHcsEfflbxWPhycwx+MjuCngR+t03i8PcNc1fyJMZ9+7dBy9Q+f0ccmAax5W5Pf7esj9O1kjmuZfjcl95HTIImSp1cnOTiOcJzn73fSXf7s4H/w679f0YQ8d8jn7DWjjdHf8mJszoit8Pf4+fd4wHm1pbCXn82Zcpm2LHjRcHNeu+jpmL+4BNO5mGXbRMsp9jFy6aB/ztZjCP8319YpnzF8gB5pfXErwx6et59pX8cWAhtljgeRpvXH07eqH5rDnLH78v2ESYXXucOnnBWZJozeNx5E1itlZhZZOIboznJE8KQmbNngGHD51GdXvQkue0Ed22K9KVq/gqMmZKY2qP8neFg0Hxb/Qj+w2hKROWYs+uw+bc9fiRs5g3a405J+XntnX7uqbvZ57bftVmJEoX/NQ0nWcf27yh7oq8aRsSsAQUgLQk9ByjBPjD1rxhf/AO24lj58Cq8gRg4IE1KRi8SflsMvx99R8M6TcdHVqP5GJNbhRgP1m8w+jK4CNPMNhM4uzpi2bENwYg2QSfFxxs5lGueAsstAeXudwqGk+6r1y5DgbBrDuALdrWNjVkucxKx0AbBxxhXzVMa813xTP3w79B5pN9EHJQBQ68kjJlsnA3z7/rph/2Q3hBSG7XXU0PacKaVrw4HTNsTqgTS17Msf84ft6uXf3XnNyELBDL0L7VCLT/7GvTXxgHI2Ea9g/EC5rPPh5s+sfjPFdN3ft/AjaT+erz0aA1jzu/C6rUKIWQQch8+bOBy1gDjHkNmQfO5zHLkbYaeMefEwM5rA3E/IdMr/dPFuAJf3jNsZ+8Bd9Kwc/B7t8Pm2ZlrIXQqGll7Pjtz6Aawq7OLWsi0ZB/r9w3AyuOQUgGFxgIYL+n/K3jDQ0rD6w5wYtE1vjgPP4uOrtxwGWumngxyL5j+wxpBtYMZDcXvAhKlCgB2GdY7XpvYt6PA9Gld2OzSzaLY7N2Lo8bNw62/bov1HcPE7KGdGx7oO/82ct86xPTk4KQiZMkdGtg2go+MpjI70D+ZjqD4XzWqk+WPKkZwTWifUI625YvzuNv7ZzvfwJvSvOzwc8IPyu+mFdP5anHgE9QpERe0+KgWu2yoYKQ/JtgwLxsuYImcMGBNpq2rgkGJPl3y3zSdWCvKWBQw2az4cV8WcEWAbyhOOOH3nilUC6wuSpbcTC9P0ysNX7q5EWntfb8If/+kkf+DfHvhV2C8PrA1fm+f/+hGcCOwTVWNlmx8WuwlU1E9sPfU8cgJFv8tPiitlmV58AFCucyfd2ypid/d80CNz/QixU5MmdND7bimjTuB7CW6div55k9s5JCN/sNfva1zUHAEiVOYPpuZr/sn7Ssbvq3PHPqIjrar3d5Hcb0bNXD31Z2NWA2EgAPKoJvCCgA6RvHQbnwksDk8UtQqsDHaPPpEHMStG/3EdM0i01Z2TSAyxwvxryUTe02igKs2ciL19HD5oJ3AENuhj+wvNDgjy2X8Qecg7OMnfwV1v+0A7xwZ022BAnioX7Dt/HLHxPAk5Q1v43BgOGtECdObEybuMzpxS63F5WJeRjzXQcMGtk62IXnuTOXEct+8fykbfJkJ6wgZPU6ZcGLBnc0PbSCj6nD6WOOeefFP03ZJw3fhzUxUPxOmdbIma46Mqd4FwziMbDHAF9Y60R1PvvtLF3wE7Cma5cvx+C7cUvgLAjJ2rQV3ilqalhF5IKJTYE5RTVfWu//BXjCbwUhv5nWKdhngzeN+Ln5/9S+/+rihaumz1bmlOVi+fjaExMDK/zeY6CF+8vxwvNm0CfmgTWROM9x4o0bawArx/nueM1mYCPGtzVNvvm9zJsRrEXHmhuHDpwMulnIVgscQIt9VW1c/ztmTl1pPrP8O2jTvi5GjP8y6G+E89gMjX3Rse9QTu7Ie1S36SwIyb9xjqq7atModO3dKKqbDnc9x+AjE/K3gUFGPvO9NfE95zP4yMFY+PcTXnNs/ha0bv+etbpfPPNvJE++LDhnD07zs8Ey+kXG3ZRJ/m2UebMQDts/c7wRzxqM1UIEIfn5y5ItPbb/9heWLNhggowM8Jd5swB4DkNTZm/axOXgDV8ONvbvPzfNZ/jB/QemVcCgPtPQpukQl55DcZ/unPi9xBuLzs4p3bnfQNx2vvzZwywWA+Dp0qcE+08MM1E0FrDLJPbrz34m+XfL30HejN60ayI6/u/DoN+PsHbB30srCMnfI9YiPHB2Pj5uWRUM5K1c+v99iIe1DVfN52eNza2nz++JQkVyg7+VbB3FWqa8jgm5H3Z3wJrJDPCWLJPfDOp47swlsJ9zx3OAO7fv4t7de2D6kNvQewlER0AByOjoad2AEVg0dz2s/qzYNIAjrrLWB4M5AVPIGFYQBoteLf6iCRZF5GKCP+AMPr5erhDWrtoK3nFlbSDeKWSwgHzsQ40nKZmypMPpUxeC7hRymSsm5oEn7qwVwJMunhBY271vP2G3Xj/pmX+3jkHIF17MDA44w86ks2TL8KTVI72cF5y868tmkNw3N+DYvJPvrYlNqP/55yb27TnyxBM8BpZ48Wut66lnx5EMY9uDzFVqlMKoie3RqWdD/H31X7B5ilVOT+VJ+4EZmIV35Pn5mPlDHzBYxZNu9tfWa2BTvyJin1asVcgLGF7IeC7zj/fE70QGWqwgJINLbILN2j2PUwR/5AUIgwbsbmLThl3BF7roHY/nJy2rgzcAyxT6FB0++9p0p8CbEd3ajcObRZub71zre5EXjeynlxeq7GNr5pSVpkN9BksqVStpulTZc3wWtu2fCjb/3L3zIMaNeFwbxEVZdtlmQgYhWcv0i071cPTIGfToNMFl+7E2xNqg71QpaQ8cbQS/79g1hs1mA2vIM9hofe/yme/592EFH61thAxCshk3L97Ztyhrw1np/OGZAdP0GVKBnwl+Nvwhz+7M4x/bD4DB//IlWoI36Pk9wc+VYxCyQOEXTNNptlxp2Xgg3nv3K3MD32azmdrdPJfhOQ3zydr/TT/oi7yZ6iBLysrIlroqXnulCXSDnzoxc2K/gt8v7AV+Z/B3nN95lGAT/VmL+6LCO8Xw/ZQV5jeA890xrVy2BefPXcbNm7fBljs2mw1p7UHPj1tWw8pfRoK1dfkdGNa++ds9uPc0E3xnGg6g+MeOg2AgjwFOzvPExN/AStVeM4FE3hTg+UV4++X5K69t2B88r3XYL+fCOesR8ruP3UxxIKm1K7eFtzktk0CkBRSAjDSZVpCABPxBgEGKp59OEnRiEF6eEydJCAYfeTHLi1rHtAxE82KYff2wH8OpE5ah+Uf9wXmOdwod1wn3dRgLmQeesJco/TJssWxOUzHAx3ROF4aYyRMMBiFZc4lNntlv17ejF4H9FIZIGu23HAjnB3sQnyYM5PNihRsNGYTkiRxPaNgfJwOWm3dPBJugsr9VNrn8+tsv0ax1DVStVQZcPntJX3Qf8Ck35fGJF+WONSHZEb/NZgMvwlXzweOHI2iHDDRxoCI2F+XfCPsJ3LF1Pzp/OSYoja/H9G/UAAAQAElEQVS/KF+xKHLlfh7eCj5aPrzYYMAlrM+rlY7Pz6R4Cg8fPoK7LkQYfGz6WQ3w5g+7R+H3F/cbcuJ3MPtZZYf6XMbv6zcqvAr+Hfyvwzf4X/txYL9h/M7jzQN+X/I1bzJ+VKeH05rw3I4vTAxCTp24DKwhzjzz4pBBvnNnLrk8e/ztKl3wY7D2N/fbpe0YcD822/8HIdlHX1jBRytDzN+iuevMxTu9U6V5Bvx8cr6Vxh+e2eKFHvxM+EN+3Z1H/n1w4n5oYn1PWEFI/l2wRQaXMQ0n/i62ajIwzCAk02iSgCXA/ma/HjwL7Oecg5tNtwcj2TSfQb+sOTJgaL/vzYCCVnp3PDMwvuWXPbh88Ro6fT7K3Pxi6xfui7UaGQzluSn7ieTvNueHnL4dvRDsX5m1YutV7QL2ccnthkznrvcNP30XpV4vAKu2MvdT6vVXMHh0a74Mc2JrorqVO5mgY8bnU5vfTcfEvEn1RoXCmD97rUnjuEyvJRBdgRgZgIwumtaXgAR8X4AXQjxZflJOeYHqGHzkRVTNum8EG5iGF8Ps55E1crq2G4vlizc9abORWs48BAUf7ReAiRIlQIsvaqHW+28E2w7TsUPpYDPDecN8H9x/Amxqwc6/3RF85O7ZJInNPbg/XpBYFytcZgUhC776AtihPYOQnG9NbN6e8tlkpm+od6qWxJddGmDImDamGcuVy9fQze5tpfX0s2MQkvvOlDkteKLM15q8J7Bg9jpzY4E1FthVAi96+bfnvRxFbs8cQIkjf7L2ROTWdH3qsD6vjjUhWZuctVN+27wX476e7/JMMPjYvE0tnDh+DgN7TXvi9nlx17LxABPoYGIOjsOLJb5mgLJ88Rbg1PqTweBFIbtvYC0uf/gbOXrotKnF6c7gI51CTgw2dW03LlgQcvKc/8FZzceQ63K9Y0fOmCAkg5H+FnwMWR69Dy3g+D3B86qKlYuD5ynnzl4Olvjg/pPg9zH7vrPZgteE5GfU8Xsl2Ip6EyMFePNjSN/p5hyVACeOnQO7TGL3VwzscZ4rJ2fbYvcBceLERracz4Gt39hHIlsgXfv7X5Oc/eOyn8hRk9qbLphC9hPJljo8N2d3O+5qHWAyEsYDf/PeKdMGVm1lfhfzxlzlGqWfGITkJtnPa7JnnsJrZfPzrZnqNXwLvQY3w46tf7k9CGx2qIcYJ6AAZIw75CqwBGKGAGvZsaTZcjzHpzCnASNaoWiJvGD/f7Mc+hHjADPs0yXMFV24oP/wlsidNwtWLtti7kKy9gvz367rB8GCkDypYE08Biar1iqD8PrPYfa69m0C1uqcNG4x3BV85H5CTo4XK1zGIOTkud3B5n0M4pYr1hwMDjBfbG7Jk042R2VaTiy/r4ww6RiEZHCazbFDDkzDPGvynABHTWXQyR+Dj55TivienH1e2YyWwQIOCMOuBy6cv4LuHb9xeV9tVvCRtU3YHxVrbfCC7km5Z6Bj9LA5YP90TJv7xUxgB/x8zYnLF81dD14U8r0/TLw5w9osu/84BAbxWCPRk/kOGYRkoIm+Vg3ZsPJSpWZpPJPiaSyau87kO6x0ALTIjwUcvyf4W5gmbQq8U6VEqBLxsxcyCLlt/1Twd5PfJ6FW0IwYLcCakGwOzO+a40fPYmDPKS7/nQkPmH/Xf+49hrLlCiFz1vSmljxbPFUo2cr0b8obnTwn5fk3u2BiP5H8ex47pSM4gMuy9cPBgdHC20dUlvFcn/2sMrgZ3vq8sWb9VrAs3TuOR2SCkGfPXIb9XgEqVS2JtVvHYv32b9ClV2NsWv8HeHMpvH1rmQSiKqAAZFTltJ4EJODTAhx1kRnMliMD2IyCr51Nq3/8DRxZmbX22Oej1eyWNfMaN6+KVl/WcbaaS+dxxGfewfy0QV+0aNjfjFzHE56QQUj268IaeBxQgbUEF60ejCOXFmHfqTn4/fD3WLlpFJb/PMJMm/dMQrVaZeDOmo/hIfBEiKbWxStrS1y68Lc5ueMFyiJ7cKDHV+PNHWfe7X4hfQ1UfuMLc/LJ0Uh5Ash04e3DU8ueFIRkQJjNFT2Vn6jvx//XZBC7/DtFwa4FeJHLk2//L5X3SxDy88qbBuyHa+KMLuZi0B2fRwYfm7WuaQrPZsc2m83cDIpoEHLx/A34acVW0zQ86VOJkeG5VGZb/vpw5vQl09+ZN4KPltmq5b+ai05e0NpsNnPTiM1tGRy10oR8Zu1Y3jxjvkMu03v/EuBx7tyrkRmszso557GLA753/J5gf3eOfUJyuTXxt5vfz1ZNSPYfy/57PXkj1MqLnn1fYPqk5WjZeKBpdu2N3K5bvQ3JkyfFW5WKmt0z6Nd7cDPw+mFgrynmxgpvivPv2GazgefmbJJduFgezJ62CvzbNiu68IE1Ldlv+4Yd49FveMtgn8nwdrNu9Xb7zcKwg5A8h2L5rG2wKxh+TtmlwvOZ0yJhovgY2v97tPGzwaGs8ujZPwQUgPSP46RcBoqAyuExAY5Cd/fOPXDgmFr13oTjD65jJjjAAftCseYx2MQmDewHxn6egfv37luL3PbMIAov+LgDnrizA+ttW/aZ0SJ5osOakBkzpeHiUJPNZkPChPFNOXmhwJMLTgz4Des/A7y7DC/944mQYxCSQQ2rZpWzLPEEj81v2Pk9HZyl8dY8/l1YwWnW/qhSo5S5+z1naT+07/oBstoD3d7KW0zaL0+UP6j5P9PMj5+bmFR2d5fV+rxa30UMMOzZdRjuCD6yLLdv3cXYEfOQL3MddLffjGANGJvNFqkg5JqVW3H92r/cnN9P/Hvm97Xl760CRTYIyT47WbPdW/nVfl0jwPOHEeO/BGvhMvjC95z4um2nemATau7J+p7gzUXWkg0vCLl39xFzA8NbN0KZX03+IbBx3e9g9xreyC37dufI0WXKFTKDI/JzUKBwLowZPhfjRswHrxN4g7zhez3BAVtYQYDXCDwn5LmhO/K8bNEvuHnjNpKneMrUsFz00xBMmtUNEbnZzc9oyJqQ46d3xsgJ7fDd7P+hgv0mrpVnnmu/XeozNK7b00yFX/gAGhzK0nHhszYVTEAByGAceiMBCQSKwIa1O3HxwlVTnEKv5kazNjXN64g8zJuxBhfP/43TJy9i+eLNEVnFpWl4QhAyCJknbxaMGDgTnzcdaqZRQ+eYkyI2YWZ69lfDu7PMyPVrN8AOvHkxy/fenHgiFJkgpDfz+qR980STJ5w88WQQsmSZ/GCTnCH9vgfv4D9pfS13jQADNAzWuGZr2oqjAD+v69fsNDc/du086LbgI/c5efwSjBk2ly/N52dQ72mmSbXNFvEgJJvhs7Y7B9ni59JsTA/RFnhSEJI3uRicivaOtAGfEWANXOucqWCR3GCtK078jeP5BP8mrMzye8L6XQ8rCMmAZUH7uZevBB+tvOtZAs4E+DedNVt6fDPtKzgGHx3TsrLC4YOnTD+9PBfkOaHjcle+nj9rLY4ePhO0SVY0YH/M0xb0xJK1w8zAa0ELnbxgeRyDkBxQhuesDC6yT/uQq7C7Ek4h5+u9BNwhoACkO1S1TQlIwOsCvJPK0e04citPkHlXP6J9OpYo9RLYx9zi+T/bTwBOe6UsDCo6BiGZHza/jhs3tgk8cjRgBiPZaTb7VHw5a11kS10VHHSh6Qd9vVrzMSQYT4SsixUuc6wJyX7mJszoilohBtxhOl+ceMJpnaQx0Mu+ixR89MUjpTxFRYBBpcJFc8MNwccnZoefo8gGIRmI5nf8hfNXwWDkE3eiBBEWYMCJfYAx4G+zPW6OPW7qV/YL9E6Ysag3+Jsa4Y0poc8L8LPU9MN+2Ljud5PXVwrlQs4XngcHCeFn08x0eHD8Xec5lmNNSAYfL138Gx/V7u7R/qcdsqeXEoiUACsbXL36DzJlTger5mPIDVSvUxYlSr+MKeOXgueCIZe78j0/j6xIceXSNSyev8EMvMeal+yLMk++LOgzpBk2/v4tWnxRO8wWXvyMsiUUKyjwfJU3EnyhYoIrnbQt/xRQANI/j5tyLQEJREBg3Ih5YLMKJrX6dGSfKnwf1sQ7jPUavo3dvx8y/SeGlc4T80MGIa3m2OEF6xgc27Rhl5PseXcWT4RCBiHZgfe0+T2RIuVTXmt6ExUVjorIkzkFH6Oip3V8WYA3BI4ePuvWmo/hlZ+BjsgEIdn/YJIkCbF1817T1DO8bWtZ5AVCBiEzZ01vBmtg0/eObUZFfoNaw6cFGPQY0GMKjhx6fOM1UeIEqFa7TJj9zzn+rjMIWaPuG9j234Az/GwePfx4Oz5daGVOAnYB/q1utp8737p1B8fsv4H2WaH+/7hks+mr0t3BR2vHs6evBoOiDDwWzFkffbtNMv2oc2Acm82G9M+lAitW/PLHBAwc+ZnTz2n2XBlx5849n2kVZZVNzzFbQAFITx5/7UsCEvCoAAN4vJN5/twVs98ECeKhQeOKWLx2KNiBtJnp8MC79gxQ8m5h947fuOSCljWK5i4fAG7XYVcRfskyONaETJHyabBPyPCCkBHeuIcTWhcrrFHDXbNfzoP7T3gt2ME8RHZirZ/cL2aCgo+RlVN6fxDgBQ9rUR/cf9Jr2Y1MELJ8paLgxRn7y/JahgN8xwxCjvt6AW7evA1e+C6au84MyhDgxY6RxeP5Stc+jZHy2WTYt/uIMciXP3uYwQ0mcPxdZ+0snmdxUA52E8PlmiTgLwJsmsy+4zkCtbM8M0DPm13OloU7L4oLGRTdsnE3Xi3+Ilg5gt0ZsMVT84/649df9sDqdol93dd473Wwn0je1Of1TZp0KTF0zOcoVCQ3hvSZ5lOtoqLIodUCSEAByAA6mCqKBCQQWmDh7HXo0nYMOCgNl9psNryYLyvGTO6AzXsmgYOIjJ3SEeu2jcOY7zqYO4XdO443dxmZPjoTA2zd+n6MVwrlRJ0G5dB9wCdR2hyDASGDkB26fYjPO76PURPb4+cd402zkCht3MMr8WLFU33MuaNoHKCoavl2YJDEHdvXNiUgAZjP15NqQrJLigrvFMOCOevgi7W+A+k4xoplw6OHj+CvwcdAOhbuLAv7gTx96iIG9pqKRnV7YbM9+MH9RSQIue3XP81NWwZJhg+YwdU0ScCvBNh1046tf6HYa/mCKilUqlYyaAAmbxRm9Y+/md2yD0fzwv5w4fwVJEueFKxcsXThRrDShH22GZCyeKmXwGuazbsnomTZ/Jg34yfwvJXLNUnAVwQUgPSVI6F8SEACbhNgDY7qb7U3/aiweQV3ZLPZkCZtCrCzdd4tTJXmGSz7YRM4wu6WX3YzSbQmBh/ZJKJIibyw2Wxgs93a9d50WRCSI+O1bFvbBB5Z22Djusf9NkUr0/aVWQuUzTDtL93ynzUs8hfIgV073TvAhVsyb98o74BbNTjtb/U/YgJKJYFIC0yftBwhg5Bfj28Lfj99+ll1tG7/Hrb/9iesgWwivQOtECEBDjhT98MKWLF0s2o+8TUXXwAAEABJREFURkjMfxPx963Np0PMDQD+zn3RbNgTg5BlyxXEB40rIu/L2aHgo/8ee+X8sQC7l4gbNw6+6FQPM3/og16DmuEl+znr46Wef+RN+21b9oHXEuwCg79/fYe2QJKkCcGKCS0aDUDxlxph9LC5ZuBNtghgLjk424Aek8FWDXyvSQK+JBDLlzKjvEhAAu4S0HZ5Mt2qyUCULdwU/+vwDeba7woumL3WPPM953M507lCq3PPhqbpAzuA7tV5gulA2lVBSNaIZB7ZD6ErO5VmjaJBo1pjyJg2prkH9xFyatysCljj8vfD34NNPYoUzxsySbjvefJ06uRFv2p2HW6BtFACEnCbQMggJG8YzV8xEG071ceunYfM9wiDJm7LgDaMv/YeQ5P3eyv4GKB/C7xZ+mWXBqZrmuU/j8DICe1g/a7zfCi8ICTPGfrYgyEJEsXXgDMB+vcR04q1aO56XDh/1fSn+HLBHJgxeQU46KM3HViJgjUeP2hSEVbwkX2qMzjJfPE3cGDPKWjXcgQ4+JOCj1TR9FjANx8VgPTN46JcSUACbhLgCfXk8UvMhevnTYeaZ77nfFfucszweaheoR1GDp6FCWMWoVeXCaa5hCuCkBcvXIWrg4/sX6bF5zXx1NOJkSlLOnTr2yRUELJt5/po27kenns+NZ5OlgRs6jFyYjtEpj9K3o31dh9zrjzO2pYEJOBeASsIye887on9EHLEa94w4oUX52lyrwD7InPvHrR1bwjwhiC7ofm4eVW8kDsTWNu1YpUS+Pb7zqYGGPN07swlE3y2mmO/9EoOcAC5SbO6oX3XD8DP4Mqlv0J/I9RyMmmWXwkwIM8uJ+7cuYvvxi2BpwacCQ+JQdEjB0+hfqOKpuajY/DRcb3KNUqZt6r5aBj04MMCCkD68MFR1iQgAf8VOHHsHDhZJWBflDyRYZ8t0QlCstlh9pwZXTqiHZtFt+vSALywP3bkDNixdcggJC9UqthPbv795xaWLNiA7b/9ZdJxUJyO3T8Ca0JYZdWzBCQgAVcKMAjJPub4HRXZ4KMr86FtSSBQBNics+fApiaAWOudDiiRvwnYMoSBFwZhOOAaJ5bXMQjJJp4c4II3LfmaXcAo+EglTYEgwIEqUz6bDL4SfLRM163ejuvX/gU/b3xtzbee+Zm9f/+Bqa3JG/3WfD1LwBcFFID0xaOiPElAAgEpwCAkT/DZD2VUg5Azp65C84/64btvFrvMiB3Pfz/5R5Qv0RJlCn2KhXPXm+CiYxCyZJn8Zn+dPh+Nlo0HosZb7TD26/ngxQqbhrTtVA9hBCHNenqQgAQkEFUBBjty5MoIBR+jKqj1YpoAAxKjv+uA2Uv6Oi161VqlkSpNckybtBwcfINBxi9bDMe3oxeB5yj8rDkOXsHlbI69ZMFGM+jF8aPnMLDXFNNfpNMdaKYE/FDg+NGzGNR7qk/UfHTkW754M86fvYIK7xR1nB30mjWR+flV8DGIRC98WEABSB8+OK7LmrYkAQl4W4B9Ki1eOxSNm1XGo4ePwJo8UQlC8iKANYFcWR6euEybuNzUhOB22zYfhpBByJwvPI9j9hMzDkTANJzYLw4vVhSEpIYmCUjAXQJ58mbBrp0HoWbX7hLWdgNJgMFHDoJXotTLZnA9Z2V7uUAOcx5y8fzVoMW8iVinfjmwhhWDGTw34EK2kmCtR55/8DP4cta6KF3wY/C8gcs1SSBQBJYt+sUn/65Zy3jtqm3IluM51GlQPoLcSiYB3xRQANI3j4tyJQEJBJAAT9679mmM69du2E/aP0WejLXQtsUwl/QJ6S6mkEHIsuUL4dyZy6F2F1YQkhcrVn80oVbSDAlIQAKREBg1dA6aN+wfdJMkEqsqqQS8J+CFPVvBx3JvF8GF81cw5/vVTnMRK3YsPPVUYmTNkcEsZ/CxTYe6+G3zXtM3thV8fL1CYUyc2Q2Va7xm0ulBAhLwjsDKZVtw8+ZtvP9RBeTLnx1jp3TEkrXDkDFTGu9kSHuVQBQFFICMIpxWk4AEJBBRgRZf1EZS+4k+g3Xnzlwyq7E5tiv6hDQbc9ODYxAyQYJ4KFQkd6iBabhrlsuxJmT3fh9j7dax+OiTSmYkQabRJAFvCGifEpCABGKKgGPwMbY9wJg2fUrUrPuG0+JfvXwdiRInwLvVS6Few7fgLPjIFbds3I3r1/5F4sQJ+VaTBCTgJQF2lcDpxXxZsWj1YBR8NTemfLskWH/zXsqadiuBSAkoABkpLiWWgAQiKRDjk+ez36V8pVAu06cSTxwcQcILQvJCIleeTI7JvfLaMQjJu6zd+jZ5YhCSNSv27ztmalEc3H/SK/nWTiUgAQlIQAIxSaDPkOYo/tpLYDPS6ZOW48H9h/ikZVWnv9l7dh3G7dt3UaBwLnTu1ShUzUfL7SX7OUySpImst3qWgAS8KHDjxm2z98uXrkGjXRsKPfimQLi5UgAyXB4tlIAEJBA9gQwZUyFJ0oRIlCg+8hfMGWpjIYOQ79Uvjylzu2PGot4Y8HUrsClzqJU8PMMxCJkpSzqEFYRkTYm/r/5r+mpj/1EKPnr4QGl3EpCABCQQYwXY3PrDWv8zfaV2bjvGPDPI2Hdo81BBSPbfePCvE7DZbIgTJw4SJoxvWmogxL/q75UFa0ru3XUkxBK99W0B5S7QBFgxIWv2DFDwMdCObMwrjwKQMe+Yq8QSkIAHBa5fu4G7d+8jdZoUeLtycad7dgxCxo0XByXL5MezqZJhSJ/psJpsO13RxTNbt38POw5Mw9HLP+DQ+QWY8H0X8ISHu4lIEPK9BuVx9vQl1XwkmCYJSCBmC6j0EvCwwMZ1v8OxpcW61dvRveN4U9MxZBCSfTwO6fv4HIPNtUu9/gpm/tAHH35cyfzus+9q9jH3brVS+PWXPXAcgM7DxdLuJCABu0CxkvnMjQLVfLRj6L9fCygA6deHT5mXgAR8XYAXA39f/Qdx4sbGO1VKhKqFYOWfQUg2W7575x4YtBw5ZI4ZidJa7u7nfsNaoEHjd/Dblr24dPFvxI4TG6+VfQUtPq8VtOuwgpCspVm5Rin07DwB9ap1ga/UfAzKuF5IQAISkIAEYqBAeEFILuvabhyOHz1rakI+nzmNaeGw5/gsrNw0ChzI5tdNe9Cry8QYKKciS8C3BFYt/xXvlGmN2dOdDyzlW7lVbiQQtoACkGHbaEn0BbQFCcR4AdYy2Lp5Lx4+fGSaU7fv+oHTgVkyZ01vaklO/nYpurYbi+mTlnvMrtb7b6Bs+UKYNnEZPm3QF7OmrcKdO3dx9949/P33P8HyETII+fW3X2LlLyPxQZN3zJ1ZljfYCnojAQlIQAISkIDXBBhoDKsmJIMadd7tZEbL5sA0jx49woMHD3Hh/FVMHPsDPmnQx6MtMbyGpB1LQAKuEtB2JBCugAKQ4fJooQQkIIGICbB/x2nze+LA2fmmCTOf568YiCLF82Ly+CU48OdxsyEOLDN+eme8+dar5r310OKLmng6eRJs+vkPLJq73prtkWc2+eYFB/tw5A4H9ZqKhrV74D37Rcm4EfM5K9jEIOSieevNRQqbaB85dArtW43A0cOng6XTGwlIQAISkIAEXCvA392BIz/D0nXDwGbSbTvXx1uVipmm04/3FPoxvCDkuTOX0K7lCLySox6ypKyMbKmq4NXcH6BX5wnQTcXQlpojAQlIQAJRF1AAMup2WlMCEpCAESj9RgEMGdMGWbKlx5ZfdoO1CNjkmkHJkRPbmcFn+veYjNMnL5j0z2dOizGTO2L99m+w/OcR2LxnEipXL2WCj7xIMIk8+JApazrEjRsHCRMngPVv04ZdZjAZ6z2fGUz99LPqfIllP2wCm5bv2nlQfT4aET1IwEFALyUgAQm4QcAKPlatVQa582ZB+YpF0bxNTYz+rgN2H5uJfafmYPPuiViwcpA5L2nUtDLYdxyzwvOLsGpCcrkmCUhAAhKQgLsFFIB0t7C2LwEJeEXAUzvlxUDzz2vh0sVreLNYczSo0Q1vl26NFUu34MH9B0iWPCkKvJobPPFv2Xggfln/B+7dvY/YsWMhY6Y0yJUnE559NplJ37XdOE9lO9R+kj/zFMrYA6mhFjjMKPZaPtSpXw6FiuZBNfvFz8nj5xV8dPDRSwlIQAISkIC7BHi+wZqP7JuR5xAh92Oz2UxXKOyX+eUCOcAgZedejTB9YS8curDQBCi79mmMK5ev46lkSRByYJqQ29N7CUhAAhKQgKsFYrl6gw7b00sJSEACAS/wRoXCyJQlran5aDVVOnfmkhk18vr1m1g0d51pnkwIDkjDQVoqlv4MIwfPwoLZazFp3GJUq9AOzRv291pTp3NnLiNWLBsqVCpmalMwr86mUyfO4969+4gbJ7YGnHEGpHkSkIAEJCABNwl07tkQxV97CetXb8fY4fNw4K8TZoRrdvPC5tI8p/h9+wHTZ+OtW3fA/hytrDBgmSRpIrC/6VcK5UKiRAlMv9QKQlpCenaRgDYjAQlIIFwBBSDD5dFCCUhAAuELZM2ewZzIO6b68ONKaPVlHaxdtRVfNBsWtIg1ET5pVQ0H95/E4D7T8XnToejx1fhQTZ2DVvDQi5/X7MDNG7eRIuXTaNu5num30tmu8+XPbg9UxsJZe8DynD3IagVcnaXVPAlIQAIS8IaA9hmoAmPsQcdKZdugUd2eYLcu1cp/CQ5yV7t+OSRP8ZQ5p6hari2K5m2I3BlqIm+mOmj2YT+MGjoHK5Zuxl97j5kuYm7fvhtExNqSfYY0D2qmHbRALyQgAQlIQAJuEFAA0g2o2qQEJBCzBNh/IvtHZPOosIKPFMmRKyM44Au89I8XGv2GtcDSdcPM1G94SzMi9/xZa8HamawtkS3Hcxg6tg1q13szWC45aM7r5QvhyKHTGmwmmIyTN5olAQlIQAIScLHAiWPnwMnaLG8CNrUHGBmEZF+PbTvXtxaZZy5fvngTOLDcpw364q3XWpmBZl5IX8MEKVs1GQi2wpg+aTnY77NZSQ8SkIAEJCABNwooAOlGXG3aewLaswRcIcCAHQeL+azde0GbY5Cx+4BPwIFnOPOvfcdw48Yt5H05K/oObeG05iPTcbpw/iqfvDIxgDhveX9Uq10WOXNnMp3XM8g444c+qFqrNLp3/MbUjmAQkuXuPaQ5Vm4ahWHjvsCkWd0wdOzn4D9eqPBZkwQkIAEJSEAC3hVgkDG8IGRYuWMrhsXzN5hWGKwhGVY6zZeABCTgLwLKp38IKADpH8dJuZSABLwgwL6RylcsgibNq4BBSAYfR4z/EjXqvI58+bObHK3/aQc4GEv8+PFQqVpJbN2yN1iza5PI/sB1c9kDf7du3rG/8+x/joDZpXdj7P7jEF4r8DHeKtnSDIrDQXLY7LpN+7rIlCUdPvt4EDb9vMsMnsP+orLnfA6Va5QywdabN29jaL/vzXqezb32JgEJSEACEpBAWAJRDUKGtb1ozNeqEpCABCQggbSLqlQAABAASURBVHAFFIAMl0cLJSCBmCyw/IdfzGiRDB4yCDlv+QAUKf4iJo5dhBEDZxoanvjPmrYK16/dMO/LvFEQ/Ue0AtcxM+wPfN1rUFMz6jVHwbbP8uj/yjVLw2azYdyI+aZzevZB+VHt7lg0bz3YUf2SRRuxavmvpm9KDpLTvOGAoP6i9uw6jCkTluLd17/A7OmrPZpv7UwCEoisgNJLQAIxUYDnIk3DaY4dE01UZglIQAIS8D0BBSB975goRxKQgIcFqtYqA/aNyGfHXTPgNqDHZFy+dM0EFLPnyoglCzeaAWQc07FZ8pRvl5jRKOPGi4OadV/H6i2jMXZKR9OEeeGqQahU7TXs2PoXvvtmseOqHnn9Uv7sJtDIfh6tHX7x1ft4vXxhzPl+Nbq1G2fNRq48mbBx/e+w+ouqVKaNWc7mWkGJ9EICEpCABCQgAZ8SCBmE7NDtw2D5y5w1fbD3eiMBCUhAAhLwtEBABiA9jaj9SUAC/itQvmJRsHkyR5H8qsdHprmxY2mWLvoF+3YfwcOHjxArlg3vVn8NDN45puHrwX2mo3eXCbh44aqpbZgmbQpw22zCnDlLOqxYshnNG/ZnUo9PsWLHQvJnkgaVjfmv36giWAPSMfjYoHFFTJzRFaVef8XjedQOJSABCUhAAhKInoAVhNz+65/gwDTTF/bC+x+9BT7PXdYP9Rq+Fb0daG0J+KiAsiUBCfiHgAKQ/nGclEsJSMADAuzH8elkSYLtaciYNihQ+AX8MHc92Mw6QYJ4aNy8qtMg5LSJy1Gm0Kemr8RtW/aZwOXShRvtgccB9qk/eGEQbONuesNBZNjs29o8882+Hmu897rJt7PgI9MeOXQa7OuRDnyvSQISkIAEJBBBASXzEQGea3BguUMHToJ9QLMLGLaEmDJhGXie4iPZVDYkIAEJSCAGCigAGQMPuoosAQn8v8CKpZsxeugcsK/DhXPWYfWPv/3/Qvur5Ys3YUDPKWjTdIh5ZjAvvCAkT/zZP2TNih1QsXRrtGg0ANyHfVMe+c/RuVnLoV3XBkH727v7MB49AipUKoaGTSuHqvloJWStzcSJE1hv9ex3AsqwBCQgAQlIAKZP59UrfsO9u/fNzc/xoxZi+IAZopGABCQgAQl4VUABSK/ya+cBJ6AC+aXAt6MXgn0ddm031pyos/bgVz0aokjxvFg4ex0mj19iyjV90vInBiGr1CqND5q8Y9J7+oHBx75DmyP9c6nAZt/W/lmG0ycvIHbsWIgbJw4SJIhv+rSEwz+WuUrN0rhz5x4OHzzlsEQvJSABCUhAAhLwN4H8BXPi7t17UPDR346c8isBCfiVgDIbKYFYkUqtxBKQgAQCXICBuIEjP0PDT99Fz0GfmiCkY5GdBSHbd/3AJGEAsF3nBnilUC7z3pMP3HefIc0RL15cs9t0GZ4NCjJy8JlxX883Tcjj/jdIzszFfcD+KZmYgdZJM7uicNE8WLX8V+zaeZCzNUlAAhKQgAQk4IcCH35cCdlyPBdjgo9+eIiUZQlIQAIxUkAByBh52FVoCUggLIEeAz5BubeLmNqCPHmPSBCySYuq2LDzW4yc0A4JE8XH6h9/DWvzUZ4fsl9Hxw1ZwUf24Thz2irT5CpZ8qQoUiJvUDIGTgf2moLLl66ZQXJezJcVw8Z9gaOXf8CMH3qboOnShRsxrL+aaAWh6YUEJBBRAaWTgAR8SOC7bxbjvXc7qdm1Dx0TZUUCEpCABAAFIPVXIAEJSOA/gToNypsaj2tWbsWOrX/hwYOHpgbBk4KQbNqcIWMqxIkbG9O/+xGL52/4b4uuecqXPzumL+gJ1sxkDU3Hrf5/8PE0PmnQBwf+PI7bt++a2o/ZcmRwTGo6n2/yfi/8uGQz/v3nJh49eoQH9x/g5PHzGNRnmunnkn1YBltJbyQgAQlIQAIS8DuBo4dP+12elWEJSEACEghsAQUgXXl8tS0JSMCvBWZOWYHiLzXCx/V6o0GNbvZA4s94UhCyZeOB2LxxN37ffgB9u32HQb2mutSANR8rvFMUyZMnNTUzR4z/0gQXuRMGH9nn48OHDzHYHkBk8PDo4TO49ve/iB8/Lp7PlJbJzNTii9qYs6y/CTw2/aAv8maqgywpKyNb6qp47ZUmGDt8nkmnBwlIQAISkIAEJCABCUggAgJKIgEJREogVqRSK7EEJCCBGCLAYF7ntmOeGIT8ec0O1K3cCVXLtQ0arMZVRF16N8bKX0aiaesaSJ7iKdMsvMybBTDmuw4mCJn+uVRIkDA+YseJjYT2Z+6X/TeeP3fFNLPOlDUdZ5npl/W/I1Xq5Bj+TVtkz/mcmacHCUhAAhKQgL8LKP8SkIAEJCABCfiHgAKQ/nGclEsJSMANAhwhcsiYNpj5Qx80blbFBPUcdxPRIKTjOq54zWbWo+1BxhrvvY6Vy7ag0Xs98H6VzuBo3WdOXUSx114yQciFc9ZhUO9piBs3DspXKhq062NHzpjX6dKnROas6c1rDkSzYe1O5HjheQUhjYgeXCigTUlAAhKQgAQkIAEJSEACEghXQAHIcHm0UAL+IqB8Rlag1vtvYPz0zqhaqwxeLf4ivurxEeYs7QcGJR235SwIyb4Y568YiE27JqJsuYKOyV3yul3XBihaIi84aEzb5sOwZuU2bNqwC727TESJlxvbg45Tceni32ZfHFymV5cJOHX8vHnPhxPHzuHunXt4OlkSvPBiJs4yE4OX9+7dx5XL13Hm9CUzTw8SkIAEJCABCUhAAhKQgAQk4E8C/plXBSD987gp1xKQQDQEWCvwk1bVkSRpQhzcfxJX7QE5bu6FFzOj79AWTwxCcsCZrNkzYNTQOSY4yHVdNbFfx7ffLY4dW/ebQWOcbZf9NX7edCgYHOXyhbPXYfyohXxppkMHTuLmzdtIlCiBGUSHM7ndeg3fxvZf/zSD1VjrcpkmCUhAAhKQgAQkIIFICii5BCQgAQlESkAByEhxKbEEJBAIAuUqvopkyZJgSN/vUa5Yc5R8pYkZGZoDzuTM/Xy4QUg2b75+7QYG9JwC1j50tccbFQojUeIE+G3znihv+s89x8xANPHix0XGTGnA4GOfIc1x5NDjkbIVfIwyrVaUgAR8TEDZkYAEJCABCUhAAhLwDwEFIP3jOCmXEpBABAXYf2K9hm+F6s+Rq3PwleZtaiLDc6lx+OApfPP1fM42NQm/bDHc9LcYXhCySfMqSPpUYrcFH5mZXHky49HDR7hw7irfRmk6evh0UBPr3C9mRs+BTd0ZfIxSHrWSBCQgAQlIQAISkIAEJCABCcQcAQUgA+JYqxASkAAFGHwcN+UrNPz0XXAAFs6zJgYfew9uhs+/qoe33y2GI4cfD9RiLWetwPCCkGy2vf6nHfii2VC31Hy08vHU04nNoDLPPZ/amhWh51x5MmH2kr5o27m+SX/MXr5Hjx6B848fPatm10ZFDxKQgAQkIAEJSEACEvB3AeVfAv4poACkfx435VoCEgghYAUfC7z6AuZ+/5Pp29FKwmXd+n6MgkVyI1YsG55J+TQYkEyTLqWVxDw7C0KOm/oV1m4dCz7funUHG9f9btK684FNp196JUekdvHX3mO4e+8+Xi7weL3jx87izp172PTzLgUfIyWpxBKQgAQkIIEICCiJBCQgAQlIQAKRElAAMlJcSiwBCfiiAAOMrPlY7LV8YK2/27fvBstm7XpvIm36lJg9fTUO/HXCpOFo14NHt8aTgpDPpkqOBAnioU/XiWCQL9iG3fDGGt36lUI5UalayUjt4dSJC0iTNoVpfr5mxVZ8O3qhgo+RElRifxNQfiUgAQlIQAISkIAEJCAB/xBQANI/jpNyKQFfFfB6vqzgY9GS+UyNPwYLa9Z9w9RwtDI3cewPeP3Vpujw2ddo0bA/tm3ZZxYVLZEXYQUhp01YhosXruLcmUvo2GYU1q3ebtZx98PB/Sfw8OEjJEueFHUalDfBxMjskx4v5c9uaoAO7j3N9G8ZmfWVVgISkIAEJCABCUhAAhKQgAQk4EQgWrMUgIwWn1aWgAS8LcD+Hp9NlQxftRmJgjnrY+rEZXg+S1oMHPlZsCCklc+D+0+i0xejnxiErFyzNO7fe+DR4CPzuHblNly5fI0v8WqxF9FjwCfmdUQenk2VHNeu/otNG3ZFJLnSSEACEpCABCQgAQn4nYAyLAEJSMA/BRSA9M/jplxLQAL/CXw9aBbKl2iJWdNWmdp+3dqNw/ABM5AlW4YoByE54Mzi+T+jVZOBHqv5+F9xzP7W2IOQDx48ROzYsVC5eikMGtXaWhzmc/mKRZEvfzbs//N4mGm0QAISkIAEXCSgzUhAAhKQgAQkIAEJREpAAchIcSmxBCTgCwJsZszRncPKy7gR8zFq6OxIByEnz/kfFq8divHTO4F9Me7ctj+sXbh1/tjh83Dgv0Bi7DixUaVmaUxf2Avst9LZjjm/TYe6YNBywey1zpIE5DwVSgISkIAEJCABCUhAAhKQgAT8Q0ABSP84Tr6aS+VLAh4XYPCRA86wiXXIAWQcMxOVIGSOXBmRMuXT6NV5gkcGnHHMr+Pro4dP47OPBwXlgTUhi5XMh6nzetiDo51RvU5Z0zdkvvzZ0alnQzMvU9a0mDvjJ1OD0nFbei0BCUhAAhKQgAQkIAEJSMAFAtqEBKIloABktPi0sgQk4EkBK/iY9+VsmDV1pRkgJrz9RzQIOW7kAly5fN1sz5MDzoSXd/ZVySbgv6z/w9RsZFqW/40KhU2T7D3HZ2HR6sFo3KyKCUZOGrsYg3pNZTJNEpCABCQgAQkErIAKJgEJSEACEvBPAQUg/fO4KdcSiHECDL6x5mOx1/LBZrNFuPwRCUKWe7sIbt284/EBZ55UCAYh61Xrgk6fj8L+fcfx4P6DYKvcu3sfbCb+Sf0+6N9jcrBleiMBCbhRQJuWgAQkIAEJSEACEpCABCIloABkpLiUWAIS8IZAyOBj0qcSoXmbmnjzrVcjlB3HIGSX3o1DreOtAWdCZSSMGRxgp0LJlngpa100+7AfPm861Dznz/4+qpX/Ej+v2RHGmpotAQlIQAISkIAEJCABCUhAAhLwvkB0ApDez71yIAEJxAiBgV+3Qs7cz+PHxZtw6sQFU2b2/9hjwCeRCkKuXLYFLxfIifqN3jbbsB42rvvd1CS03vvq841/b2G53YADzfCZ7301r8qXBCQgAQlIQAISkEBACagwEpCABKIloABktPi0sgQk4AmBft0no3qFdmj2UX+wX0Q2R+Z+IxuEXLNyKx48eIAX8mTm6pokIAEJSEACfiag7EpAAhKQgAQkIAH/FFAA0j+Pm3ItgRglcOLYOXBiodnnYcc2I02fiHwfmSDk31f+we3bdxErtr76aKcpigJaTQISkIAEJCABCUhAAhKQgAQiJaCr8EhxKbGvCCgfMVsgqkHIdBmeRfx4cXHh3JWYDajSS0ACEpCABCQgAQlIQAIS8BMBZTPOrJNjAAAQAElEQVQwBBSADIzjqFJIIMYJRDYIyYFsqtQsjfsPHmDH1r9inJcKLAEJSEACEpCABKIhoFUlIAEJSEAC0RJQADJafFpZAhLwpoCzIGTPQU1RpVbpUNnigDWFi+bB2lXbsW719lDLNUMCEpCA7wsohxKQgAQkIAEJSEACEvBPAQUg/fO4KdcSkMB/AiGDkKnTPINeA5ti0KjWKP1GAdSu9yYWrx2KKjXL4LfNe9Hjq/H/rRnFJ60mAQlIQAISkIAEJCABCUhAAhKQQKQE/DIAGakSKrEEJBDwAiGDkGxuXb1OWUya1Q39hrfEC3ky4+c1O9C2xXDc+PdWwHuogBKQgAQkIAEJSEACEggUAZVDAhIIDAEFIAPjOKoUEojxAgxCtmw8AMsXb8LNG7eNx4P7D7B/33F07/gNPqrdHefOXDLz9SABCUhAAhKQQKQElFgCEpCABCQgAQlES0AByGjxaWUJSMCXBA7uP4lmH/ZDnoy1kDnFu8iWuioqlGyJqROW+VI2lRcJRFFAq0lAAhKQgAQkIAEJSEACEvBPAQUg/fO4KdfeEtB+JSABCUhAAhKQgAQkIAEJSEACEgh8AZXQpQIKQLqUUxuTgAQkIAEJSEACEpCABCQgAVcJaDsSkIAEJBAYAgpABsZxVCkkIAEJSEACEpCAuwS0XQlIQAISkIAEJCABCURLQAHIaPFpZQlIQAKeEtB+JCABCUhAAhKQgAQkIAEJSEAC/imgAGRkjpvSSkACEpCABCQgAQlIQAISkIAEJBD4AiqhBCTgUgEFIF3KqY1JQAISkIAEJCABCUhAAq4S0HYkIAEJSEACEggMAQUgA+M4qhQSkIAEJCABdwlouxKQgAQkIAEJSEACEpCABKIloABktPi0sgQ8JaD9SEACEpCABCQgAQlIQAISkIAEJBD4AoFZQgUgA/O4qlQSkIAEJCABCUhAAhKQgAQkEFUBrScBCUhAAi4VUADSpZzamAQkIAEJSEACEpCAqwS0HQlIQAISkIAEJCCBwBBQADIwjqNKIQEJSMBdAtquBCQgAQlIQAISkIAEJCABCUggWgIKQEaLz1Mraz8SkIAEJCABCUhAAhKQgAQkIAEJBL6ASiiBwBRQADIwj6tKJQEJSEACEpCABCQgAQlEVUDrSUACEpCABCTgUgEFIF3KqY1JQAISkIAEJOAqAW1HAhKQgAQkIAEJSEACEggMAQUgA+M4qhQScJeAtisBCUhAAhKQgAQkIAEJSEACEpBA4Au4tYQKQLqVVxuXgAQkIAEJSEACEpCABCQgAQlEVEDpJCABCQSmgAKQgXlcVSoJSEACEpCABCQggagKaD0JSEACEpCABCQgAZcKKADpUk5tTAISkIAEXCWg7UhAAhKQgAQkIAEJSEACEpBAYAgoABkYx9FdpdB2JSABCUhAAhKQgAQkIAEJSEACEgh8AZVQAm4VUADSrbzauAQkIAEJSEACEpCABCQggYgKKJ0EJCABCUggMAUUgAzM46pSSUACEpCABCQQVQGtJwEJSEACEpCABCQgAQm4VEABSJdyamMSkICrBLQdCUhAAhKQgAQkIAEJSEACEpCABAJDILwAZGCUUKWQgAQkIAEJSEACEpCABCQgAQlIIDwBLZOABCTgVgEFIN3Kq41LQAISkIAEJCABCUggogJKJwEJSEACEpCABAJTQAHIwDyuKpUEJCABCURVQOtJQAISkIAEJCABCUhAAhKQgEsFFIB0Kac25ioBbUcCEpCABCQgAQlIQAISkIAEJCCBwBdQCWOGgAKQMeM4q5QSkIAEJCABCUhAAhKQgATCEtB8CUhAAhKQgFsFFIB0K682LgEJSEACEpCABCIqoHQSkIAEJCABCUhAAhIITAEFIAPzuKpUEpBAVAW0ngQkIAEJSEACEpCABCQgAQlIQAIuFfDJAKRLS6iNSUACEpCABCQgAQlIQAISkIAEJOCTAsqUBCQQMwQUgIwZx1mllIAEJCABCUhAAhKQQFgCmi8BCUhAAhKQgATcKqAApFt5tXEJSEACEpBARAWUTgISkIAEJCABCUhAAhKQQGAKKAAZmMdVpYqqgNaTgAQkIAEJSEACEpCABCQgAQlIIPAFVEKPCigA6VFu7UwCEpCABCQgAQlIQAISkIAELAE9S0ACEpBAzBBQADJmHGeVUgISkIAEJCABCYQloPkSkIAEJCABCUhAAhJwq4ACkG7l1cYlIAEJRFRA6SQgAQlIQAISkIAEJCABCUhAAoEpoACk43HVawlIQAISkIAEJCABCUhAAhKQgAQCX0AllIAEPCqgAKRHubUzCUhAAhKQgAQkIAEJSMAS0LMEJCABCUhAAjFDQAHImHGcVUoJSEACEpBAWAKaLwEJSEACEpCABCQgAQlIwK0CCkC6lVcbl0BEBZROAhKQgAQk8GSBxEkS4ssuDfDTr2Ow/8w8HL38g5mOXFqEXUdn4vtFvbFl73foN7wl9E8CEpCABCQgAQlIwBcFYmaeFICMmcddpZaABCQgAQlIwM8E3nzrVSxZOxRNP6uORIniY/SwuSiat6GZxo9cgPv37qNoibxIneYZPysZ8HnH93Hg7HzsOT4LVWuV8bv8K8MSkIAfCijLEpCABCTgUQEFID3KrZ1JQAISkIAEJCCByAuUfqMAegz4BJmypMP+fcfRoEY3DB8wA+fOXDJT3/99hy7txuLypWtm4xkypjLPvv6g/ElAAhKQgAQkIAEJxAwBBSBjxnFWKSUgAQmEJaD5EpCAjwtkzpoe7bo0QJp0KU2AcVj/GTi4/2SoXC9duBFLF23EgwcPQy3TDAlIQAISkIAEJCABCXhTQAFIb+oH7VsvJCABCUhAAhKQgHOBWu+/gew5M5qFf+w4iBVLN5vXzh5WLN6MixeuOlukeRKQgAQkIAEJ+ISAMiGBmCmgAGTMPO4qtQQkIAEJSEACfiJQoszLiBM3Nm7fvovfNu8JN9ebNuzC4YOnQqXJXzAnJs7sit3HZoID1nDia87jMmsF9r/IfhitwW04sE3lGqXMYg5sY83nM9MxPRcWK5kPm/dMMgPicBkHyGn1ZR181f0j/Pbn5KB9rt06FlVqleYqZrK22bJtbcSNFwccZGfImDZB2+FyTtymNf244WuwP8zlP4/AoQsLsffkHFMua7n1PG1BT7MPPvC1NZ/PKzeN4mxNMVlAZZeABCQgAQlIwKMCCkB6lFs7k4AEJCABCUjAEtDzkwVKlH4ZqVI/HlTmxr+3cOhA6OBiyK3Uq9oFnKz5rEE5fnpnvFb2FWyyByjLF28BTnzNeVzGNEy/YPZaNK7bCwf+PM63iBXLZp8eny52+OxrM+AN13v06BEc/3Feg+pdsXnjbnCZzWZDiVIv4dlUyfF+lc74sFZ3HDl02vRh+XmH92EFPbnNzCnexaxpq8zmWMbPmw4F53Hick59uk7E9Ws3TJoUzz6NVu3q4KeVW3H71h0zIM+xo2ex7dc/zb4f3H+AxfM3oHuHb0x6PrRtPhyzpq7E3Tv3sG3LPrRvNYKzNUlAAhKQgAQkIAEJeEjg8Rmlh3am3UhAAj4noAxJQAISkIAPCzCAlzhxApPDe/fu49aN2+Z1RB+y53wOTVvXQIqUT+PXTXvA4B77j+TE1zu37TfLWnxROygouOWX3di5/YDTXXDQm+32QN/9ew9CLec2GdzjsthxYuPAXyfQpukQ01/lz2t2YP7MNbhz5y5Sp3kGJcvkD7V+eDPGj1qI8+eumCQ2mw0jB83GpvV/4OqVf8CA446tf2HUkNmmj0zuO03aZ8x+zQr2B+b7xLFzZhujhs4By22frf8SkIAEJCABCUggJgl4tawKQHqVXzuXgAQkIAEJSEAC7hOoVrssMjyXGjdv3saKJZvBGobW3vh684ZduHf3PtKmS4lybxexFkX7mUHBK5evB9vO2TOXweAkm1qnSZsi2LLIvOF22Q8ma12WzN8Y2VJXRbd247Bu9Xbs2nnIbCrHC8/DajpuZtgfSr9RwAQlmc7+Vv8lIAEJeElAu5WABCQQMwUUgIyZx12lloAEJCABCUggBgi8VCAH2H8kmy8fcjJy9l/7juHGjVsmTd782TwiYrPZECu2e05B163ehps3biPpU4lRqEhuWP9er1AYqdKkAJebeXqQgAQkIAEJSEACEvCogHvO/jxaBO1MAhKQgAT8UUB5loAEnixw/foNM/gMU8aNGwcJ/2uOjQj+S/lssnBT/n3ln6DtW31NhruCjy+cP2stjh4+A/ZdWbRkPmTOmt7kuMwbBXD92r/gcjNDDxKQgAQkIAEJSEACHhVQANKj3D63M2VIAhKQgAQkIAEfFtiycbfp15BZTJI0IXLmysiXbpnYP6NbNuzBjbJZ+Ya1O01T7/TPPYu3KhU1QciCr+bGL+v/AJd7MDvalQQkIAEJSMCXBJQXCXhVQAFIr/Jr5xKQgAQkIAEJSCBsAQbMtm7ei4cPHyF+/HhgP4Zhp368hH0f/vTrGFSvUxaXLv5tZsaKFQvOmj0neyYpEiSIZ9KcO3PZPPv7w8plW3D+3OUgLwYh2Qyd8/29bMp/IAioDBKQgAQkIIGYKaAAZMw87iq1BCQgAQlIIOYK+FnJ581cg9MnL5hc58qTGfUavmVeh/VQqWpJ/PvPTfy4ZDP+2H7A1AZ86unEyJMvS6hVcuXOhMSJE4K1H3du/Sto+YVzV8zgNEEz/OjFzm37sf23v/Do0SNwMJpK1V7D3l1HwPl+VAxlVQISkIAEJCABCQSUgAKQAXU4VRgJ+I+AcioBCUhAAhETYOBs3Nfzcf3aDSR9KhGat6mJN9961enKHbp9iLz5s2P29NWmufH8WWtw6uR5U8vxjQqvInGShEHr8TVrVMaNFwdHDp7G8sWbg5ZxYJoHDx/CFstm9hm0wP7iuedTI3ac2LDZbIgbN7Z9TvT/WwFPm83mkm1u+3Ufbt28g6eTJUHa9CmxZuVW6J8EJCABCUhAAhKQgHcEuFcFIKmgSQISkIAEJCABCfiwwPRJyzGw1xRcvHAVadKlxODRbTBoVGvkswcbmW02u561uC9q1H0dE8cuAtNz/sH9JzFm2FzTj2T+gjkxZEwbZM/5HPj6m2mdkDtvFpw+eQEDek7B0cOnuYqZftu0FxfPX0WiRAnw/ocVUKR4XrOvURPbo3ipl/DIHpxMkDA+Xiv7iskPV2JAM1OWdCY4yQBl7hczm31Zy1gDM168uHyLbDmeM3kwb+wPLNe9e/eRMFF8VKhULGib9kXmPwOuDCbyTfJnkuLDjysFC6ZyvuM0/7/BaDjvwJ/HsWjuer7UJAEJSCAmC6jsEpCABLwqoACkV/m1cwlIQAISkIAEJBAxgWkTl+Pd17/ArKkrcevWHVSpUQqLVg/GoQsL0a3vx2B/j03e74VxI+YH2yBrQ3L+z2t2oFjJfFjxy0jM+3EAGCBcsWQzWjYeiHWrtwdbh7Uuh/SbjmNHMgl+8gAAB/1JREFUziB7royY8UNvzF3W39SG5PYePHiIWLFsqFilBBasHIgmzatg9ZbRqFStpJnPZa9XKIwp83qYfS5YOQiNmlYGa1tyRwUK58JU+7KqtcrwrRmdmnm4e/ceyrxZEBt//xY7Dk5Hv2Et0G94SzBYmip1cpOWI3t369vE7I/lMTNDPLDvTA5Gw2duN8RiL77VriUgAQlIQAISkEDMFFAAMmYed5VaAhKQQMwVUMkl4McC585cQofWI/Fq7g+QLXVVZE7xLrKlqoJXsr+P5g37h9nPIQOKDev0QN5MdZAlZWUz5c8W/joLZ69DmUKfmrTcT4601dCgRjcM6jUVOdNVN/vm/KIvfoTxoxaCz3zvOHHepg27UK5Y86D01vIXn6+NBbPXgv8YKGT+c6WrYdJZZWJZO3z2tZlnrWc9W9vm+mFNp05cgGPT8rDSab4EJCABCUhAAhKQgHsFFIB0r6+2HoaAZktAAhKQgAQkIAF3CbCZednyhbBh3c5gTcvdtT9tVwISkIAEJCCBsAW0RAIUUACSCpokIAEJSEACEpCABPxWgM20D5ydjylzu5u+IRs3r4o7t+/i++9W+G2ZlHEJuFhAm5OABCQgAQl4VUABSK/ya+cSkIAEJCABCcQcAZXUXQIZMqYy/UtysJzeg5uhSPEXMWvaKtV+dBe4tisBCUhAAhKQgAQiKaAAZCTBlFwCEvBzAWVfAhKQgAQCTmDtym24euUfxIkbG0VK5MX4UQswfdLygCunCiQBCUhAAhKQgAT8VcArAUh/xVK+JSABCUhAAhKQgAR8T2DCmEVmIB4OsFMkz4eYNlHBR987SsqRBCQQUwVUbglIQAIUUACSCpokIAEJSEACEpCABCQQuAIqmQQkIAEJSEACEvCqgAKQXuXXziUgAQlIIOYIqKQSkIAEJCABCUhAAhKQgARipoACkDHzuMfcUqvkEpCABCQgAQlIQAISkIAEJCABCQS+gEroUwIKQPrU4VBmJCABCUhAAhKQgAQkIAEJBI6ASiIBCUhAAhKggAKQVNAkAQlIQAISkIAEAldAJZOABCQgAQlIQAISkIBXBRSA9Cq/di4BCcQcAZVUAhKQgAQkIAEJSEACEpCABCQQMwViVgAyZh5jlVoCEpCABCQgAQlIQAISkIAEJBCzBFRaCUjApwQUgPSpw6HMSEACEpCABCQgAQlIIHAEVBIJSEACEpCABCRAAQUgqaBJAhKQgAQkELgCKpkEJCABCUhAAhKQgAQkIAGvCigA6VV+7TzmCKikEpCABCQgAQlIQAISkIAEJCABCQS+gEroTEABSGcqmicBCUhAAhKQgAQkIAEJSEAC/iugnEtAAhKQgE8JKADpU4dDmZGABCQgAQlIQAKBI6CSSEACEpCABCQgAQlIgAIKQFJBkwQkIIHAFVDJJCABCUhAAhKQgAQkIAEJSEACXhVQANIj/NqJBCQgAQlIQAISkIAEJCABCUhAAoEvoBJKQALOBBSAdKaieRKQgAQkIAEJSEACEpCA/woo5xKQgAQkIAEJ+JSAApA+dTiUGQlIQAISkEDgCKgkEpCABCQgAQlIQAISkIAEKKAAJBU0SSBwBVQyCUhAAhKQgAQkIAEJSEACEpCABAJfwKdLqACkTx8eZU4CEpCABCQgAQlIQAISkIAE/EdAOZWABCQgAWcCCkA6U9E8CUhAAhKQgAQkIAH/FVDOJSABCUhAAhKQgAR8SkABSJ86HMqMBCQggcARUEkkIAEJSEACEpCABCQgAQlIQAIUUACSCoE7qWQSkIAEJCABCUhAAhKQgAQkIAEJBL6ASigBnxZQANKnD48yJwEJSEACEpCABCQgAQn4j4ByKgEJSEACEpCAMwEFIJ2paJ4EJCABCUhAAv4roJxLQAISkIAEJCABCUhAAj4loACkTx0OZUYCgSOgkkhAAhKQgAQkIAEJSEACEpCABCQQ+AIRKaECkBFRUhoJSEACEpCABCQgAQlIQAISkIDvCihnEpCABHxaQAFInz48ypwEJCABCUhAAhKQgP8IKKcSkIAEJCABCUhAAs4EFIB0pqJ5EpCABCTgvwLKuQQkIAEJSEACEpCABCQgAQn4lIACkD51OAInMyqJBCQgAQlIQAISkIAEJCABCUhAAoEvoBJKICICCkBGRElpJCABCUhAAhKQgAQkIAEJ+K6AciYBCUhAAhLwaQEFIH368ChzEpCABCQgAQn4j4ByKgEJSEACEpCABCQgAQk4E1AA0pmK5klAAv4roJxLQAISkIAEJCABCUhAAhKQgAQk4FMCbglA+lQJlRkJSEACEpCABCQgAQlIQAISkIAE3CKgjUpAAhKIiIACkBFRUhoJSEACEpCABCQgAQn4roByJgEJSEACEpCABHxaQAFInz48ypwEJCABCfiPgHIqAQlIQAISkIAEJCABCUhAAs4EFIB0pqJ5/iugnEtAAhKQgAQkIAEJSEACEpCABCQQ+AIqoV8JKADpV4dLmZWABCQgAQlIQAISkIAEJOA7AsqJBCQgAQlIICICCkBGRElpJCABCUhAAhKQgO8KKGcSkIAEJCABCUhAAhLwaQEFIH368ChzEpCA/wgopxKQgAQkIAEJSEACEpCABCQgAQk4EwisAKSzEmqeBCQgAQlIQAISkIAEJCABCUhAAoEloNJIQAJ+JaAApF8dLmVWAhKQgAQkIAEJSEACviOgnEhAAhKQgAQkIIGICPwfAAAA//9y2LheAAAABklEQVQDAKhO770oj9pcAAAAAElFTkSuQmCC"/>
          <p:cNvSpPr>
            <a:spLocks noChangeAspect="1" noChangeArrowheads="1"/>
          </p:cNvSpPr>
          <p:nvPr/>
        </p:nvSpPr>
        <p:spPr bwMode="auto">
          <a:xfrm>
            <a:off x="907573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4" name="AutoShape 6" descr="data:image/png;base64,iVBORw0KGgoAAAANSUhEUgAABSAAAAMcCAYAAABAfQv9AAAQAElEQVR4AezdCbxM9f/H8c/ca1eSJUQhtNhCf1toJSlatCjSrr0oJZQkpVVatSjttKpIKkoRwk8pJSUVLUopZHev+5/3ydzmzj1z79x7Z+6dc+bl4dyZOed7vsvz+z1nznzmnDNp9ar0yGLCgDHAGGAMMAYYA4wBxgBjgDHAGGAMMAYYA74eA3z2J/7BGGAMlNgYSDP+IYAAAggggAACCCCAQDEJUAwCCCCAAAIIIJB6AgQgU6/PaTECCCCAAAIIIIAAAggggAACCCCAAALFJkAAstioKShSgNcIIIAAAggggAACCCCAAAIIIOB/AVqIAAFIxgACCCCAAAIIIIAAAggg4H8BWogAAggggECJCRCALDF6CkYAAQQQQACB1BOgxQgggAACCCCAAAIIpJ4AAcjU63NajAACCCCAAAIIIIAAAggggAACCCCAQLEJlFgAsthaSEEIIIAAAggggAACCCCAAAIIIFBiAhSMAAIIEIBkDCCAAAIIIIAAAggg4H8BWogAAggggAACCJSYAAHIEqOnYAQQQACB1BOgxQgggAACCCCAAAIIIIBA6gkQgEy9PqfFCCCAAAIIIIAAAggggAACCCCAgP8FaGHSCBCATJquoCIIIIAAAggggAACCCCAgP8EaBECCCCAAAIEIBkDCCCAAAIIIICA/wVoIQIIIIAAAggggAACJSZAALLE6CkYAQRST4AWI4AAAggggAACCCCAAAIIIJB6AqkXgEy9PqbFCCCAAAIIIIAAAggggAACCKSeAC1GAIGkESAAmTRdQUUQQAABBBBAAAEEEPCfAC1CAAEEEEAAAQQIQDIGEEAAAQQQ8L8ALUQAAQQQQAABBBBAAAEESkyAAGSJ0VNw6gnQYgQQQAABBBBAAAEEEEAAAQQQ8L8ALYwUIAAZKcJrBBBAAAEEEEAAAQQQQAAB7wvQAgQQQACBpBEgAJk0XUFFEEAAAQQQQAAB/wnQIgQQQAABBBBAAAEECEAyBhBAAAH/C9BCBBBAAAEEEEAAAQQQQAABBEpMgABksdFTEAIIIIAAAggggAACCCCAAAII+F+AFiKAQKQAAchIEV4jgAACCCCAAAIIIICA9wVoAQIIIIAAAggkjQAByKTpCiqCAAIIIICA/wRoEQIIIIAAAggggAACCCBAAJIxgID/BWghAggggAACCCCAAAIIIIAAAgj4XyBpW0gAMmm7hoohgAACCCCAAAIIIIAAAgh4T4AaI4AAAghEChCAjBThNQIIIIAAAggggID3BWgBAggggAACCCCAQNIIEIBMmq6gIggggID/BGgRAggggAACCCCAAAIIIIAAAgQg/T8GaCECCCCAAAIIIIAAAggggAACCPhfgBYikLQCBCCTtmuoGAIIIIAAAggggAACCHhPgBojgAACCCCAQKQAAchIEV4jgAACCCCAgPcFaAECCCCAAAIIIIAAAggkjQAByKTpCiqCgP8EaBECCCCAAAIIIIAAAggggAACCPhfIL8WEoDMT4jlCCCAAAIIIIAAAggggAACCCS/ADVEAAEEklaAAGTSdg0VQwABBBBAAAEEEPCeADVGAAEEEEAAAQQQiBQgABkpwmsEEEAAAe8L0AIEEEAAAQQQQAABBBBAAIGkESAAmTRd4b+K0CIEEEAAAQQQQAABBBBAAAEEEPC/AC1EID8BApD5CbEcAQQQQAABBBBAAAEEEEh+AWqIAAIIIIBA0goQgEzarqFiCCCAAAIIIOA9AWqMAAIIIIAAAggggAACkQIEICNFeI0AAt4XoAUIIIAAAggggAACCCCAAAIIIJA0AgkLQCZNC6kIAggggAACCCCAAAIIIIAAAggkTICMEUAAgfwECEDmJ8RyBBBAAAEEEEAAAQSSX4AaIoAAAggggAACSStAADJpu4aKIYAAAgh4T4AaI4AAAggggAACCCCAAAIIRAoQgIwU4bX3BZKkBU0PbmA9enayqwb1slFjLrVxLwy11965wz5c9IjNXzreFq94zh57bnCS1NY71WjQqLYdf1IHO/vC4+zW0ZfYw+Ovc1ynzb7PcV34zdM278snnTTeaRU1TbRAhYrlrEu3Nnb6WZ1txF0X2d0PXWkvTb3N3vpwtDNeFix7yuYueYJxk+iOIP+4CWhfeMPI82zKzNGm8fvFjy/YkpUTTI/aBz776nDrcPjBcSuPjBBAAAEEEEAAgaQUoFKeESAA6ZmuoqJeElCAY+LkkU7gsd/lJzqByHYdm9r+B+1rVavtYQqGpJdKt7T0tLg3Sx84X5xyqxPg1IdRfRC97d5LnDLjXlgxZ3jFwNPslbdvtzvuv9yuG3aWnXjqYXbY0S0d1zr77uW0sVy5MpaWFghO8be1EvinsTJkxDn28eePO4GFxd8/b6+/d6d179mxBGqTfEXGMt7bHtrEJn9wj9376AAbdtv51rPXEXZsj/bWuGl9q1u/lu22e3krX76spQe3x7Q0f4ybwvSUXBSQ1RhTEOujTx+1gUN7FyYr1kmggPYJw2+/0Ca8OdLOOLuL1duvljN+A4GAU2ogEHDGdMvWBziBdgXdnQX8QQABBBIoQNYIIIAAAgjkJ+CbT1o620wfLHWG2Zwvxtmib59xzgRQACY06UPVgq+fstmfPWbPTRph513S3S687ATn7JdPlz9rCm7kB8ZyBJJZoNORLWzEnRdak+b7mQKcqquCKzoT8/7Hr3ECdJrHFF1AwaoZ8x/Ktf8I7UdieQzta3RWps581b6mRq2q0QvNY8kNI8+1Xn272B6Vd7NAIOAEyRoesI8NHXGuczafpfA/xnv8Ol9BqmtvPMsJyKanpzljrUrVStb3wuNMX2DEryRyKoqAznp8cuINdsqZR2bvz7/8fIV9/ulyZZtr2r1SBecLsFwLmIEAAggggAACCCCAQDELpBVzeXEv7tyLjre3Z91nE968xfkwrjPMKu1R0cqULZ2rLH2oKl+hrFWusru1OKSRXTOkt/W//gznTIFciZmBQBEEhg963C488zZ7fvw7tmH9piLkVLBVu5/c0faqWSXXSoFAwA5u1chOOKVTrmVemvHQ6Ffs7FNH2MvPz7C/1m5Iwqr/W6XQvkZnZerMV+1rps0aYzorVsHgf1Pl/1cBNp3hp/wiUyuwcPyJh0bOTqnXsY73+XO/sj4nDbfbhz9j3yxdaVlZWSnlFEtjNZY0piLTauxpDGosRi7jdfEK6MzHwTef43zBFAj8e7bjls3b7M1XZ9nrL39k/2zY7FqhMmVLuc5nJgIIIIAAAggggAACxSmQVpyFxbMsfSB6Y8bdds3Q3rZP3b2cszWc/IN/1v31j73xykdOAKhZ3d7WtvH5NujKB+3tN+dGDQaVKp3uXBobXJ3/CMRFQEGPO0c8a69O+MAydmTGJc/8MqlSrVKObSE8falS6VateuXwWZ58rrN9Rt4w3m4c+Kit+f3vuLdB/XbCUdc6+4y3Jn1s69dtjFrGju0Z9tgDr5v2M6FJgWcFSH/9+Y8cga7SZUqZztQeefdFpnuzNW/ZMGq+oQWV99zdubQy9DrycY/g8sh5qfS6IOP999VrbcLT79rAyx6w7775OZWYYmprXmNJl6drLMaUEYkSJnDZ1afY/7U9KMc+/s8/1tm82V/aaxM/sJnT/2eZmTtzlL9zZ5Z9uXhFjnm8QAABBBBAwFcCNAYBBDwj4MkA5KUDTrF7H+lvuhQpEPj3LACJ68B79szFdupxQ23YtY+ZAgmav3nTVps2eZ5df9VD1rPrYFMapdWy0BQIBCwR9+Mz/qW8wKf/+8Y2bCiesyAVfI8GnpGRafqwGm251+ZrO/7x+9UJqXZonzHk6rHOWXMFOYtV+x0FSLt26G/jHn7TlFd4JXVpvO7N9sgz1zu3gQhfFvlc42br1u2Rs7Nfr//7n+znxfFk3ISh5nYJ+oz5D5kuXS+OOoSXUZjxvvKH1bb0yx/Cs/HFc/mrH9z6R/2WXyP/iXL2nNbbsmWbrSvmsaZymf4T0BcWnY9tY/qy9L+5Zlu3bDeNac27bdjTwWOduab+0mt9QfLxh5/b4w+9qZdMhRDQtuO2TWlb0zZXiCx9uwoNQwABBBBAAAEE8hPwXADyqkG97ILLemTf+yjUwKysLFs4b6lde/kDpjNdQvMjH7VMaaZNnpvrTIHItLxGIB4CWzdvsx07MuKRVb55TH5ttuv41/ahe4Rpeb6ZeCjBzp05z/ZJRNVnTl9ka/9cX6isH7z7ZRs9aoLrpZG6VcRlV59qV157WtS8P5rxqX384WLXfZUCRlPfnBt13VRYoPGsfXpkW/Mb75FfQEWu79HXRar2lEmzXceprOZ89LnzxV2RCmDlIgkc3bW11XC5vcbatf/tm/Rlx5ABY63Ngec5Z2W3anS2XX7eXa7vCUWqDCsjgAACCCCAAAIIIFAIAU8FIHWT/DP6drGyZcvkaqouxXzC5WyjXAmDM3SQrjOUln31Y/AV/xGIl0DJ56OzAodf/4R99cX3lpmR6VRo4z9bbEowuND/ontznY3nJOBPngLaX+zcWfh7Bupy7Befm27btuU+k7FcuTJ25jldnfvXRquEzmp6Kbj++nUbnUu6FRD67pufbNTwp517YUZbLxXmM97j18sap/fc+rxzNp3GmIK4us/qc0+8bTdc82j8CiKnQgk0bl4/19mPhcqIlRBAAAEEEEAAAQTiJEA2BRXwTABSl1ufec4x5naTfAUHdKaQLn2MFUBBhWfGTc3z/m6x5kU6BJJJQGcrndHjRmvRoK9zFkz7phc4AQSN+WSqZyrVRV+OLF3i/oWH9mnnX9LDdImlm4n6TT+e0vHgi6x5vT7WYr+z7ORjrjfdn9ItfarNY7zHr8cnvfShdT9ioDPGNNYOb3WJcwZv/Eogp8II6Mdn3M5+LExerIMAAgj4ToAGIYAAAgh4RsAzAcheZ3ex+g32doXVvalmzVzsuiyvmdMmz7PF//vWOasor3QsQwABBIoioCDirPc/dT0LUvnWql0tz7MglYYJAQRSU6DZwQ1y3XYm2SSoDwIIIIAAAggggAAC+Ql4IgBZt34ta9+xmaWnu1f3t9VrTWdA5tdYt+XTpsxzve+VW1rmIYAAAoUV+GTOV7b2jw2uq6elBax1u4OingXpulLOmbxCAAGfClTbq7JVrFjep62jWQgggAACCCCAAAKpIuAe0Uuy1h96WDOrUatK1Fqt+uG3qMvyWzD1jTmm+6nll85t+SlnHmXjXhhqsz97zBaveM6WrJzgTF/8+IItWPaUvT1rjN0+5rJgYKGx2+p5zjv+pA523+NX24xPHnTyUp6h/BeveM7mfDHOXnzrVhtw/Rmmy9PzzCxioS7n6tW3sz323GD7cNEjtujbZ5x6K//F3z9vsxc/7rRL7YtY1fXlYUe1sJNPP9xuGHme3f3QlfbS1NvsrQ9H27wvn3TqPnfJE6b2aGVdZjp6bH/7+PPHTW3SpOdDRpyT5xkeDdBWzgAAEABJREFUugG/PKbNvs/JU+upvpr0XN5qy9inB5nSqiy3SW3v0q2Nc7bZiLsuyre+HQ4/2HFSHVWOypO/yrrn4asK1bdu9dI82dz14JVOn6gMlaVJbXt12u127kXHK5nrVNB2uWYSMVOOMtcYXPjN09ljRHXSa82P1UD1O6ff8fbsq8Od9ml95ROa1N75S8c724z6paBjOqLqSfnyy89X2I/f/xq1btX32tMOO6pl9vKmBzewHj072VWDetmoMZc62+Rr79zh+MlKZtqGs1eI8kSWMtX+SGMpNI5lr21fY1n5aJ9w6+hLnP3BFQNPc3JT+SpLaTW169DUmR/5R5eHPjHxhhxjROlVrtJGtkXj4PX37nT2nQu+fsrUluG3X6ikzn6gf3C/9s7H9zvzlc//vn3aab+2ESXSeCrIdqx1Cjqp7c9NGmGffPWks69SPVRPeeU37mWufd7ZFx5nMn14/HWmvtM2I0/lM27C0BxVyq9N2ma0fqs2B2avJ1/VS5P81Q/ZC8OeqN+UJnxSPdTGGrWqWrcT2luortrmX3l7lGlfqzRu5YZlneup2q73Jb0/6X1KbQ2Vq7GnMah2qBwZ5cogYobyU7oLLzshpu2gdbvGpv5RP4XKdsoNjrOXp46ynr2OiCghfi/Vh9qOtD2pfNmF2q5HbW86XtC4Ou+S7sHjmqquhbc9tInNmP9Q9vZ0x/2X2267uwcg3fpW6yoP18wLMFOWtwePYfLad4yN8p4b2ubd+s3Z5oPHGhq/4dXJbyzKb9K7d4av4vpcY0Z551Vv9ZH6Stun8o33Ps+tYvEaH6G8Q166P7raq20qfNtVu96dc7+F9hnaf0Y7xoi2bajO51/aw3QMon7TtqSxrG1LeevYTfUI1SmWR+Wp44EX3rjFdHyo407lqUn5a7/zxoy7nWNK9WW0PENjLPQeWdT3lchy1K5rhpxpqovqpLqpjprU/vBtWXX4dPmzpn6IzIfXCCDgZwHahgACBRVIK+gKJZG+SfP9rHz5sq5F79ieYatW/u66LNaZ55x2i3OvvOGDHo9pFR2MTZ/3oA2//QJr17GpVa6yu6WXSs9eNxAIOPXdp24N696zoz3y7CDTQZ8OZrITRXkSyvv2+y5zAmlaR20PBALZa6isSntUtCbN9rMLgh/KJk65tUD5T/3oXufA7tDDmlvVantYmbKl/8s7Pc0q77mb066b77gw+wOQDrgiJ32A1oHZw08NslvuvtjOOLuLHdujvTVuWt901qo+MKnu6cE809LSTB+4Hnnmejvm+La2R+XdLBAIOJOe9+rbxQbffE52PUJP9GFR9R3z2ADHo86+ezm2gUAglMTJQ+WoLZ2ObGFK+9RLw3IFZvWBbPIH99i9jw6wYbed73wQjVbfMmVKmT5YPTz+WpOT6hgI/Fum/FVW1+7tnL4dcWc/J2iSXaECPtHBuA7iFcxWIEB5q4xQNmrbAY3r2oDBZ5qslT60TI8FaZf6QevkNUWaawzqx1LC19FrzQ8ZaLxG1kvpNU9t0/Zy7Y19rGXrA5wxp/W1PDSpvUqrbUblv/jWbab1Qsv98rjyx99M96x1a0/p4JhTP2uZPsRMnDzSCbj0u/xEJxCpfc3+B+3r+MlKZmnp0XfhSqN+0RcCMpWtxlIg8O84Vjna9jXeNMZvvPV8pxzNq15jTy2Oy+TWFo2DhgfsY9p3lq9Q1kJtUcBDH0ovCH7grb1PdWe+KlG2bBlnn3TTqAvshFMOs1i347TgfkfrF2TSfuvpl2+y2+69xFoc0sgq7lbe2ccoD9VTXnmNewX1Jrw50hQ0um7YWXbiqYfZYUe3NPWdthn1i/JRfqEplm3Y2WaCfVc67L0mtH5hH9UPk9+/23n/CNVVXzwc2KSeaV+rusZaroIbDz91nfMFlN6X9P6k96nwtgYCAWf/LQeVo/Gp/bvGp1sbFBR65e3bHUsFpWUbbTtQXbUv1vut+kf9FCo7EAiWGxxnBzWtZxpDCjq5lVfYeSpbfu8Gg+bajrQ9qXzHLizTMsH3Wo15jatrhvS2Se/e4ezntH5YshJ/qi/etN/Qe7yOYfLad+g9d/TYq5wvCELBIvWbgkGjgl+cuPWbs82n59x3qW/zG4vy88I+L7ID1b/xHh/aZ7zwxghn2w0dz2ibCt925aVtQPuMK687Pfhl6hDnywaNTc0P1VPvC6FtY3TwC2LVV8vU969Ou8P5olvvTeq3QODf9w+tv3ed6qZ7s+s4KdT3Wi/apHxDDjoe0D5D90BODxsLgUDAOZ5SfjqmfP71W1y3kRzvK7veI7U/K+z7io5Zw+s96Ka+9sb0u4LHrT2cY0nVPRD4t+1Kp/aHb8sXXHqClQ6+h+9dp5oWMyGAAAIIIIBAFIGcR4BREpX07MgDg/D6ZGVlmYKQ4fMS9VwHIDo4u+ra063m3lWzP5Tq/m4Tn33POre70s7vdat9FnFfybJlywQDc+0sr4M05f3w+OssMm+174cVv9rNg59wgqRnnjDM3ps6P0ebdfCowNULr9/sBDyjtV8fupR/teqVs+uutMp/wEVjrG3j8+3Be16xdX/9o9lxnY7o3Mr6XX6SzZ31hc364DOL/KcD0MOOamH6MBNapg+T+jC3b72a2fVVX7/95lyTQ7T6BgIBO6TtgU5AU66h/GJ9TC+VZhcGD2jX/73Rzup5s+M+uP/DtuyrH3PdL1R9e3KvI2zMowOcg+ZYywilSwsGSO5+6Co7uFUju/f2CU4faAx9umBZrrJkdGinZnbZ1aeEVo/ro6wUSI40VyE/r1pjtw17yrG465bnTL+srfmaZKAzlBRM0OvQpA8QT068wfmAokBEaL5+WfeBu15ytpeTOl9n7771SY7xrHT64H7KmUc6Z//ptV+mDes2WejXyd3aVLtOdbfZBZ6nvrz/8WucM4/VP6EMtG2PHfOaY9+sbm/TuF40f1l2ndLS/vuApXX06+nazpRW0ydzvtTsXNPvv/1lF555mzM+lC40xfqljjKsUrWS3X7/ZbZ9+w57ZtzbtnVr7l8Nb9CojnU84mAlT8hUpkxp50udn39aY71PvMlpj4yibfsa93KWd0IqlE+m8g1Zy1/94LaK+i2ULvSofv1s4TduyQs8T2fA3z/uGjvsqJYWPt7UhxpD2s5V3h03P2val4QKCAQCpv27goJ6by2sY6n0dHvwyWvtoOCXX3ePfD57Pxr5Xqxy04MB3GN7tIvbvkX7OX151PeCbqaAhMrQpPfuLz77zvTeKvPLzr3L9EN5mZk7tdiZtF9UAOeFN26x1u3+u1JC6Tq3vcIZf1p36NWPmI4znJUi/rj1rdZVHhFJY3qpQNW9j/R3vkjUe05oJe07dHygfrzqwtH2x5p1oUUm07Ydmjhn+xa2D7MzK+QTlattUdtk+BhUvUtyn5eI8VEQokAgYGecc4wdc1xbG/fwG/luG0cf29oGDD4jGHjrblcOPM0+XbjMTu4yyHnPeHXCB7nuYxwIBJwvVxSwy6tectAxbuR2ov4JjSttKzoeDc9HXwhpGynsMVas7ys9e/13ZrS+fOp9btccZx1r+3vpuRmmfZm2SW3P77+7MNsj8r0zvA08RwABBBBAAIH/BNL+e5q8z/QNabTaZWRk2i8//RFtcVzn3zDyXNPBmQ62Qxnrw8Sbr82yUcOett9Xr7WFnyy1e2593lb/8mcoifMYCEQ/SAsdOHcKBuDC89aKK5b/YldfPMZem/iBXpou4xx42f02bcpcU9nOzF1/dFbJ4OFnO5cX75qV/aCglT50Rea/Yf0me+yB100HUjrAevzB102/hJqxIzN73dCTb79elX3wpQOwfr1HBT+kD7MbBz7qGpwLradvzXUG0IvPTbfrrnjQdD+r0LLwx4q7lbeGB9RxZumsIZ3FUjr4jbIzY9cf1X/9+o2OQ171DQQCdvAhjez0PkfvWtOcD399Thputw9/xr5ZujJXgC87YfDJlEkf25CrxzrlBF/a1DfmOMGa5ct+0sscUyAQsDbtm5iMcyyI4UWLYOBxw7qNdv4Zt5oObtUmjaFbhj5pP7mc2VuqdLodfnQr5wzTUPbz535lF591u91354v23bc/59mu0DpujxrfJ5zSyfkWP3y5xvWom562F5+d7szWNpceDNI6L3b9CQQC9n9tD3ICXrtm2TkXdbcmzffLDh6H5qenp9nKH39ztheN72svf8CWLP4utDj7UR8ij+3e3nSZVfZMjz9Z+cNvtmNHRtRWaBtQexVYuuaS+0zBdo2JqCtEWXDxlSc7/REI/BdQVPD+5Qnv2yP3vebYa1WN63NPvyVqwE9pijqpLQqORX5xEpmvvnz44btf7bzTR1rZcqVNwcDINBr/2p/EY7xH5q3XOzIy7JnHpzr7NO1rNU9GV1ww2r4OfgGh1+FTIBCw1u0bO192hOYr4Nb7xGH26P2TYv4yR8GizsGAk5w+nPFprn17KO94P6quFwQDx089+pb9+vOfhcpel39eN6yvVateOcf6Gm/Pj3/HFDzTdq5x/MJT75j2JdqnhCdODwYFuxzXJtcXOQ+NfsXOPnWEvfz8jKgBOOXT5OD9bFVw2zr9+KE59qMjBo8LBjxzHx+ULVvGunRrk2M/qnwKOimooqsbdCZXIPDftqZ8Fsxbav36jHLeW/V69szFpsDdwuB8BSc1T1MgELCG+9cJBu8uzvEFnJYV93TVoF52Tr/jcn2Z9s+GzfZgsC90fKB+3Bn84lf78fD6BQIBa3TgPtY7GOyKtd/C19dYVHBT+z23wHF4WrfnFyfRPi9Uv0SOD+0zdDyjL/Py2na1Xe4WPLbq1f0GG//IFGc70jGG23Gq6q1+Pem0w+203p3t1hufcvaF2n61zY4Y8oTNn7NUyXJMgUDAeZ9W8DfHgl0vdIw7+OZznC+GA4H/thN9QfH0uKkWGlc6DtXxqI5Ld63qPAQCAWvboWmO/Wy831f2a1TbKUtnXXbp1jbXPeenT1sQ9BhvslBCbc8KmI65/UVbHzyG0zwmBBBAAAEEilHAs0UlfQBSl5noG9CSFlZwSQExHZyF1+XPP9bZ+9MWhs8ynfXws0tQNBBwP0hT3greBAL/HZgpQ32Ae/+dhdkHPJoXmnQg6XbQuUfl3ZwzznTgG0qrg78jOh+S48yU0LK1f663mdMXhV46j5/M+dL+/jv3WZAND9gn+K14DydN6I8+jLz56iy79vIH7btvfg7NzvEY/KxiM4IHbzpQ1gJ9+NNj5JQWbH9omS75cgtA6Fvm+g32zrGqgm46ayrHzOALnRmqOgefZv/XQfSEp991PtQu+2pl9vzwJ5kZO12D2jrwnPDMe6YPY+Hp9VyBkWN7tDeNV72OdVoWDISOvHG886EgfB2VpQ9h4fNCz2vUrGKtWu8feuk8Kv2TYydbn5NuCgaD3dvlJIzyRx88u3Zvl+ugW4Hod976xHSwHVq1VesDnMsoQ69Dj/IO75tatavmCn37zW4AABAASURBVD4qbYUK5Wz/A/fV0+zpx2DwIPtF2JNq1fewRruC0mGzffs0PRjYrVixnNM+feC5/qqHbNxDb2SfZeEsiOFPu05NTWMyPGl6MMhTObh/CJ8Xej7mjon23JPTssupUKFsaFFcHvVhWV+cvD15rkW7BF1nvtxx8zPOtqD9gLZ1t8LLBL+UKOp4d8tX87J2Ztm6vzfqaY5J+42Xn3/fddvXe8JhwS+PFEANraT6PXzvq/Zo8MudLVu2hWbn+yine259IRgM/CPftPFKoECrzr6+7ooHClyu3mcUsHL7knBl8EsGjd3IempfMiP4vhZ5JnAgELDW7RpbvytOyrGK6jfyhvGmfa/eE3Ms3PViyeIVpuDIrpfZD+qHFcvd35eqVa8cDJrsl522ME8uHXCKE3SLXHfTxi025bXZzlgOX6b3y5eDwVSd9RU+X8/3rlM9+KXN8bmCf1pWHJMCyWf07ZLrOCEr+AauKxdU71A9dLyyxx4VQy+zH7Xd7lOvpvM61G+vBL/00PuIMzOGP9rvPfnIZPu7gFdiJNs+T01N9PjQfmncw2+arkrQlQUqM3LSMd74R/8NPIYv03Hqj9+vDp+V/bxUerrzJbe21eyZu54sW/qjuW2Hu+1ewfnSd1eyHA8KPuqLmkAg5zGuzoaeGDymCk+s41HVOXyenms/2/bQxjl+qE37y3i+r6gc3X5AX3Lpefi0Z5VK4S+zn+tLlQfufjn7vaFcufi+d2YXxJMkFaBaCCCAAAIFFUj6AGRBG+SWXveKWbLrB2IK8qgbSl8x8DTnLIluJxya68BcZW1Yt8k5s07Pw6fIMyBDy/RBTd/khl43b9nQORMjMlig5euC36ouWrBMT3NNK5b/EgxMun+wqle/lnOftNBKzQ5uYFWquR88rQ/WXx+KQmn1OG/2Eov8BlrzFRDQ2Vl6Hjmt/GG1rV27PnK283pr8AP43FlLnOf6o4NmPUZO+qD+/Xe/OLM//3S5bdiwyXke+Wfrlu2Rs6K+rhHlx4vU5m+XrYq6XrQF04IBFB00uy3Xj4gc3a2126Ko8zZv3prrQ2ooceQZrqH5pYKBpNr77BV6meNR7XI7UytHoogXGoPHRRvfwT5Y+MnXOdaoXGX3HK+jvVj6xQ/m9sEzc+dO27RpS7TVcszPq605Evr4hYIrbkGxvJqsQEDkcm2/x53YwfShWF9KRC5/IvhBdvGi5c7sWPvYSVyAP7/9utYiA0+h1fWBWPs1vdb+c/u2HXqaY1LwUoGt0MzCjPfQugV9zGvb3zP44fSIzq1yZakfOHPbl+ZKGDZD+9Jffi6+AGSoaPkX9H7Kvc/tanX2rRHKIsfjV198H3Xf9unCb2xjMEiXY4Xgi9LB4HLnY1s777nBlzn+fx98z4t29vDO4D4lR+KwF9ECMwpk64uusKQFeqqzvdp3aub6Jcua3/+26cEv3dwy1PzVq9e6LbLmLRoG37s7uS5L5EztD3r2OsJ0fBJZjs5SizwO0aXj+kIjMq3b62+WrnJuq+C2LNq8j2Z8GnsAclcmybbPK87xoTMHowVstW3sDLvsfxeX8/Db6r+cR7c/+jLGbf6PK1ab23ao9xe3PtAXM/qCRgHEyPzW/PZXrn2E9unhl/eHr1N9rz2d2zyEz9PzeL6vlCtfRlnmmtp2aGz6obQatarmWqbg/Efvf+p8uea2DeVagRkIIIAAAgiksEDSByB1gOT2QTTUZ4G0QI77tITmx/OxSzCopLO53PKMFnSLFjwKBAIWntfRXVvbXjWquGXtBAEVDHRdGJz555p1rpfbKpipswGCSZLyvy5N04ea8MrpLIvF//vWub+l5uubd10WqA9yWqZ527ZtN90b0e2sGi0v6BStj/LKRwfHChC4pdEB+EFN6rstSup5utF8rdrVXOv4W/CDsj4Mhi/8PfihZefOrPBZznMFjD8PBo6dF8E/jz34ur3z1jzbsvnfM8DUjwrGvDXpY+cyyWAS/kcKZGXZjozMyLlxe62zyXXG9fvzH3Z+NEIBpNAHKo1tnakc6q9YC01Eurmzvshxj7lQGQpMavyEXhfno3zy2vabtmhQnNUp8bJ0b+Y2hzYx7fciK6MzpBQUiJwfev3nH+tNX0yFXoc/6v7KR3U9JHxWQp4HAgHTFxyFzfywo1q6BuyU3+8ugRXND01uZ0Bqmc680hlYel6cU6++na3B/nVci/x77T+mL0HCF/4RDLCqj8Pn6bn2HV9/+YOeJs1UUvs8P42PonSmvpjRFzRueej43m3+zihfKOgLiupF+IG0oryvKLh6au+jbMrMe+yFN25x7hWsM8BD9X/7zbnBoPmG0EseEUAAAQQQQCCKQNIHIPWBb/v26PdM06Ui+kW/KO1zZuteMZefd5fph2J0hp0CIc4Clz9apvv83X/ni85lurqX0cGH7O969qNWb9ehqbmdVamzCbTcbdK3uKH5uu+MAoah1+GP/2zYHP4y13NdppKxIzPXfM2oGfyW9vBdZ+Qs+XxF9uUhWhY+Va1WKdfZJjqrQ2c4hKcLPV/vcml2aFmsj7pUWPeh+/OPfwOo+iCjQKsuAw3P45lxU+3oNpdb83p9nJvx/9/+59o5p93iXOKudF26tbF7Hr7KBg07y/TBTfOKY9Ll6TtdAnAqe6/gwXG0s0S1PBknBU3dggiqq9sH5VE3PW1vvT7bCZBre9GkQLECxgocaz1NCtgMGTDW2hx0ntN/6scOzfuZLpXUMgW+FAB7btII048oaR2/T6VKpbmeMRVq98aNW50ge+h1YR/d7h8anpc+lLfr2NSGjDjH3v34vuCHqtF2zZAzbeb0T53+0v1dw9MX93OdjafLbpcGgxn6okBjbNWPv9lD976Svf0Xd51UXl7bftWqlaxVmwOVLCWmAxrva3tGORs6IzPT9P4UDUJfJGmsuy0vV66M8wMobsuSaV69BrWibstu+83wukcLvChNg0a1c70na34ip8ZN65vc3crQ5eS6nDp8mY6LdOlp6D1c2+f6dRvt1YkfZN8rODx9cTxPtn2en8ZHUfpPX8xEO77QcbLb8bOOq6OVuXedatEW5Ts/lvcV3Qok2vGdCtCtZpq3bGgDrj/DXnv3Tntv7gOmq6x+/fkPO+KQS00/UqN0TAgggECCBcgeAc8KpHmh5r+vdr9cSXVX8K5qtT30NM9p1geLTT8Uc+LR1zln2emA2W0F/UjE1ZfcZ0+MnZz9AySV99zdLWlc5uWV99at/545Fq0gXcaqy1ndluvDRKVK/96jScGeOR99bm6Xw+rb5M7dcl42fEjwQ3TlyrvlylZnLc6auTjX/MLM0D0sj/y/y5zgYqtGZ9vFfe+w0OWX0fLTBzMd9L067XZbsOwpu/fRAab7FlYOfggOBALRVov7fF12H+0yUn1D76VLcHQWU9VgEDoa0m+rc1+ipfF0wzWPmoKJzYPBYU0KFCtgHC2f0HxdjnX7mMvs3Tn3mwJfCoC1OKSR6z0lQ+v46VGXzpcqlR61Sb/nsa+LupLLgrffnBPzjfHTg/Wpt18t5/6uL0+9zc6/tIdLjsU/S/usXsffYC32O8vZTxx/+DX21qSPi78iYSXmte2npacHv6gqbanyr2rwfbdMWff26vLNjf/kfZsFndEezUr79GjLkmG+9pu7714halU27zrrO1oCtT1akEOmNaPcOiRafkWdX3Pv6EGdaFd5jB41wULv4c2D7wMdD77IuRdhUetS2PWTaZ/nt/FR2D7Jz6Gw+RZlvfzeV/QeozPtYykjPT3NdPWIAqnPv36L84VehYr/3sM5lvVJgwACCCCAQCoKeCIA+e2yn6LeNywQCFi1vSoXqO904223YJwy+S0YANBZl3oemvIKKOkHW5rV7e2c4RXrY/g3pHnlHSo/2uOfa9ZbtHv7RK4zdsxrNnPGIsuMuBdQuXJlTGeh6Zf/dOB00ZUnW6+zOuf6JWQF3N596xPT2YuReSfytc6Su2bImfbunAecb5svuOwEO6BxXSdgpTrpzAydeadLvxJZj1jzrlixXK5fg4113ZJIpw+6+sCbyLJbt2vsBIvnfDHOHn7qOtMl33vXqW4KfCmYqXui6ReSE1mHZMlbQRt9aeJWH+2Tov0wklv6vOZNmzzPXnjq3Vz318prHS2rUrWSXXXt6Xbr6Ev0kqkAAl7b9gvQNNekzlgOBl1dF8YwU7djiCFZ3klKaGlR95t5BbJLoklFOQ4pifq6lZlM+zy/jQ8371jm5ecw6aUPC3TsrGPsRJ+dr7MkH3tgkkW7d2y0du+2e3nnByDHBL8Y17F0tHTMRwABBBBAINUF0rwA8L/5X9v69e4/SKL6161fM6G/HPlPHpdCp6UVjTCvvNW2vKZqe+1haemxla9AzzWX3GcP3P1SrgMrXTZ8w8jzbP7S8XbltadZ5NknOhB74J6X7caBj+ZVnbgvu/K60+2N6Xc5Z2btXada9i806+xVXZp5+fn32JknDLPl3/zkei/MuFdoV4aBtOhnW27duj3qj+fsWj2pHn5b/ZfldY/V/Cqb13IFj8c+PcjGvTDE+aElXdYfCPxrpzOA9IHxhKOvM41Ltx+kyCtvry7bN7ivCgT+NYhsw/r1G037usj5hX2t2xxcc+n9pm1F20ys+SgwfNQx/2ennHlUrKukTLq8tv1Nm7aaLklNFQxdYp2RWfj7lWp/4FWrou43K1Wu6HwBkyztL8pxSLK0QfVIln2e38aHbAsz5eeQHuPxa2HKLso6r7/8kV15wT32ycdfmr7ojjWvQCBg+sL1/EuS4yqCWOtNOgQQQAABBAoiUNS0sUWvilpKEdfXj2B8+fn3UXNRAK1LtzZRlxd1wbo87ntYfa/KRQp+5pV3Wj7BzYoVy1t6mnsX/vPPZtMvDEa2XZc+d+s0wMY9/Kbp3k6Ry/VaB1y6h9XiRcvtnltfMKXXelpWXNNVg3rZOf2Oy/UDQwqkzJ/zlZ13+kjTpTT51UftyC9NQZdXq1451xmioTy2btlua/9YH3qZ9I8621djJVpFdQZDtGV5zdcZALfec7F1POJgU0ArPK2Cj88+Mc0GXfmg/b46+u0VtI4CHAp06LnXJ90btM4+e7k2IzSuw++h6ZqwgDO1jegy5gvOuM25fFn3qdL2nV82Opvj4FaN8kuWcsvz2vZ1L1u/BHJi6Vhtl9G+vAgEAlaqlPt7UyjvsmXLhJ7meNS2sPqXvPcLOVYogRf57TfT0/Nve1qUL7I0hnTf5uJsVl7HIVWr5n+Lm+Ksa35lJcM+z2/jIz/zaMvzc9Dly9HWLen5OhOyX59Rdsqxg537murKqWj7u/C6li5Tyg4+hPfOcBOeJ0SATBFAAAHPCuR9lJxEzdKPXugm525VUrDj0MOauy2Ky7xvlq40fbh0y2yPyrtZ6/aN3RbFNC+vvHWJW16Z5HUWhT7AzZ/7Va7VdX+3KTNH24WXnWA6e1I3k9dlLeFTiwZ9rVPUALMnAAAQAElEQVTLi61vz+Gm+/rp7MlcGSVwhgI1x3Zvb24fUPXh7I1XPor50tL87sVVmGbkFZRbtfK37HuHFibvklhn1Q+/RS12r5pVYgqw161fy55/fYQNHXmuk/70Pkc7B+GBQO6z/b5f/qs9EQyARy00bEEs95ILS57UT9t1aGJVq1dyreOvP/9pLzz1juuygs7UDfE//+EFC7+MeuEnS23I1WOta4f+1rXjALv39gn21RffR92vBQIBq1W7akGL9n16v237Remwjz/83PWXypVnqVLppvud6rnbpH28fszBbZnOIk+2X1J2q+c3S1dFPfO+Rj73cNStDtzy1Lzvvvkp5vc3pY/HpOBKtC8mdJzR9tAmMRWjW2yMeexqq1GrePcdJbPPy5vET+Mj75bmvTQvh1p7Vy32H1zKq7ZXDDzNPl3+rI2bMDQ7me5Nftuwp6zHkQOd4+JbbxxvC+YttS1bot+jvfpee2avzxMEEEAAAQQQyCngmQCkLtf86P1PLTPiHoZqTiAQMP2i69Fdc/6YipbFY5r1wWfBD1p/u2alH3pp9X8HuC6LnFmhYjl78sUbbezTg7IP0JW3fkE4Mq1e6xdGQ79krdeRU916Nc3tLAoFS+fP+TIyud127yV21XW9bK8aezq/3ql1965dzfRhMFfiEpxRv8HeVjXKD6P8sWadTX1jTonVToG2ferWcC1fZ/bN/zi3u2viJJq5aMEyi3YPzdp1qtsJp3TKt7Y9enZ0frn28KNaWsP961j9hrWd+3S6rfj1Vz8W+wdst3oU5zxt+8cc3y5qUH38o1Pi9uvOugxYwQRdRn36WZ1zNVNnneq+qWf0uNFuuv7xPH+tONfKUWaULl3KylUoa8X6r5gLi/e2n5aWVmwtKFcu/n2jL6YU2HZ7T9ZZQHXr14zaPi2Ldgn2zyvX2NxZS6KumywL5s3+wqLdx1L7zbrBL2Wi1VXL3ZbpC7ZP5nzltiih8xYEv6xct26jaxk6AzKWL3h1y4aWwWOhNsEvZP+v7YGueUXOzO9M0cj00V4n4z7PT+Mjmnss83UsqnHtlrZa9crWvlNTt0W55ulHCF975w4bcWc/50vOXAniMOOXn9ZYRkamtfy//U1X4URmqX3eS8/NsAvOuNUuP/duU+A+Mg2vEUAAAQQQQCBvgeL7BJR3PWJaetuwp21h8JtHXaIVuYLOKDjnouMTcmCiSzHmz13qGvzUD0p07tbadHAUWafI1zeMPNf0C9ONDtjH6tX/98OZ8p42ZZ7rmUh5BTebt2xo+uXayDL0+ttlq0wBDT0PTa3aHGg6iyH8gF9nGPY840ibOHmkLVk5IXtavOI5536Quiekpmmz77NnXx1u5/TL6RvKO96PdYM2CmjEO99Y8ytTprQTRHNL3/GIg6P+6NF33/xsE555z221pJ43+bXZ9sXi71zrWD4YVDruxA55blcai91P7ugEtfWDMhrTe9ep5pqf32ampQWsbDn3S0nD26ptf/+D9g2f5TzX2V4Tn3nXXn5+hvM6Hn901qjy0Q9LXHTFidbpyBZ66Tq9NeljZ58auXDnziz7YcWvkbOjvtbZbFWq7B51uVcW5LXtdwnu5/equadrU5Yu+dF129+0aatlZux0Xaf6XpXz3K7cVtptt/JWc++qbovynLdH5YoFLivPDHctfOnZ6VHHyYFN6kU9u6lV6wNc66PtYeqbc0yXbu4qImkf9KWobpmgbSWyknkFVo4/qUPwC8gqkas4Z1N+Gvwy6LWJH+RalugZase82UvMrS2xHOPoC5bTeh/l3DJF+YR/Sagv5nbsyHBtQmEuwdXtIXQsE55hMu7z/DQ+wq0L+lxjQT8W6HbcHsvxhcrT+Bp88znW6MB9rEnz/ax6gs4wzAjuq7OyspwvCs/o28XcvsBTfTTpy5cPZ3wa3L/nvg/uTyt/VxImBBBAwJcCNAqBogqkFTWD4lxf3z7eeO1jNn/OV87BemTZLQ5pZI88PSjPYGCNWlVNgYD0Uunm9q9ChXJus+2Om59xPqjr4CQygc6IG3LLucEPFe4fDHXwdMvdF1u3Hofaxn82O/dfDL88etxDb5gOZiLzzuvAv1ffzq7l6eymh+991WQVXk/dl3D79ozwWVGfy0Z1Dk119t3LWgY/MA68obfzozA9ex0RdV23BYFgkEYfGtyWuc1T4GPbth1ui5wPOJEfPirvuZupDLcVKgQDaG7z85on967d25kCa+HpFGRW2xVsCZ+v59HctUxnhkULqOqDqpyVLtYpv6BXtDaXLVvaGfuR5WisPPP41Kj3Y5SDLud1q6e2J50poA+S+gGVsWNec7LXWUyR49lZEPzjFpxUsCy4KNd/9WteYyfaWWRaT+MiV4aFmNG+UzOLdraWthXdK9HNRkVpfmjbDw/+a5l+3OmeW5+3B+95RS+jTnmNn9p1qkcN8ihD9c/w2y8wjVu9dpsqVCyfa/Yfa/6296ctzDVf26ZbkEJB2KKeSR1t3OaqRMSMaOtFG+9a3W0Mar62fbcvlLTtdzvhUOeDqdKFT9r2tQ/XdhQ+X8/1wVu3ZdDzyKla9cqmPCPnn3dJd2vavEHkbOd1xWAA8pL+Pa3PecfmCuDpPUX3ZXQSRvypWm0PO7LLIRFzc7+Mdqakxv9+jWrnWkGXJ04MfunidnsU3e/0tD65f8hIAfHDj25p2o+FZ6gzKd+b+ok9OXZy+OyYnqt+MSWMSBQIvjdFzCrQS91KYnnwC7/IfV20wEqFiuXspNMON7f93fJlP9mYOyYWqHwl3mOP3XKNBc0v6KS26PJvt/V0jHPTqAtcj63UpmG3nW8KOKsNj9z373tAKJ+P87hUX182Rr6faz3dyqPOvtX1NNekKziuvbGPKZCba2FwRjLt82S6vBjGh/ogcnsKUjj/9R6p2+04LyL+RL4nhS+Otm3o/Tjasmj71btuec6WB8d3eP6h5zq+0PhRG0Lzwh/Vn/c8fJXpVkerf/nT7r/rpQJ9QRHt/SG8DLfn2kb7D+plF115sttiZ57yDqSlOc9Df3S2pwKTodcJeiRbBBBAAAEEPCuQ853TA83Qh73+F91r+tCz8Z8tOWocCARMZ/o9/fJNNvKei50z/pRABzbdTmhvt4+5zF59e5TzQSwt7IOHPjwoGDDpxZmmX43VOpGTPlwqCLlo/rJcwc9AIOCU9fLU20wHUqEDah049bv8ROcMw5NOO8z+Wrve7hjxbK6znZT31ZfcZ9PfXpDr21Qd+D/45HXZHzj1IX/02P5OMDP84FFt0OUgI4Y8aTqbIbL+OqPknbc+sW3btkcuivl1IBAwBZquvfGsHN8Mq079rz8j6odmBezOvai7XTOktx12VIt8y5s5fVHUA0x9+Lh84GnWul1jJwCrDyonBT/QRfuxmXYdmtq5hTgzVgfSCrrpsjJV+Oiure2O+y93voHX6/BJY0dBXzf3Lt3a2Dn9jrPKe+4evkr28/r71bK7H7oq11lq+nCly4CyE4Y9UdDr5NMPzzHGtVhBksuvOdUUMNPryEnrnXrmUc69AdVnFvZPdb8veGCv7StstvNU46zzsa3tudduNgW+tT3VCAbyNbaffnmY0xc6c0fbh8ayVlow76uolyeqXcNvv9DpP/XjuBeGmu4FtcXlnkoaOycF26qghfINTar/9cPPdi77Ds0Lf9R6F11xkg0c2tv1Q3N42mjPVcbZFx5n197Qx6pVj/5DDPoA9Ujwiw/1WSgvjXPtC6Z+dG8w4HBYjh8t0i0S9Oua+pVNXc4VWsftMb/xoy8HRo+9Krtf3PJQX90UDB7oTOfe53Z13JVO+6nRwX1J+445L4FTH742caYpoKV04dPsDxbb339tCJ/lPNf+9Jjj2jof1jQ+nJlhf1QHBUGPOb5tDouwJMF9Q0u784ErrEfPTtl1DF8e+bwo4z0yr/DX2ueOfmSAaZvXfPVrtG1fH4h1Zr62H6V1mz6c/qm5jW19wNW9eM84u4uzmsb4ExNvsO4ndbTl3/zkzHP7oz4ffPPZNnPhWMcqPM0ns7+0jB2Z4bOc5ypL+8FQm5yZYX801rVNHtA491m6SqbtSYFPt+1JZ+/qfS1y36Fgrtqm4IHy17hQ4HSoy5d1el96/aUP7YZrHlVxOSat1y34/n1an6NNgb0cC3e9aLT/Pnb/uGtc96PRLgfWZeKn9z7aFMxS/XZlFePDv8kUgL3+qofM7bhAX4g+Fdw/avwotfr3gScGmgIpgUBAs5xJ7906a1w/yqX8nJm7/qjtJ556mJ15zjFR235gk7r2/KQRziWj2u/sWrXADyr7jpufte++/dn1GEfHVmOfvt6039f2rLrp/UBXR+gseX05ofWVT3jh2p/oh2HcxqXez+UfGpeyeil4HKX+XB3lh4gCgYAT7NQ2OWP+Q86xV3h5eq76lfQ+T/WQRSLHh8rQflzvNTpm0evISe9dV157evb+LLRc1novDr0Of9S2of2Q7hmufg4tU1kdDz/Y9YsYpVF+9z1+da7tUA4aG25jS8cXqosur9YxYmhb1P5d+5vnJ91sHYJlanzdOPCxHMe36ud4v6+oHaFJX2xcMfBUe/P9u+3iq07OPpZQHWWuKz/03hdKr/f26W/Pt9dK4CzmUB14RAABBBBAINkFPBeAFKgOaG8f/oxd3Pd20z0UIz/cVa6ye/BD/+GmD3NLVk5wLie+68ErrXvPjqZlykMH/TprY+6sL2zIgLF2eKtLbPj14yzyQ5TShiYdRF1+/t323JPTzC3gpcvAdclGqNwZnzzofCiovU/14EHT58H63mG65DGUX/ij2jTwsvvtlqFP2k8r12R/AAgEArZP3b1scPADpy6HVhAh8kO87kOlD2+9ut8QLGdxeLY5nj8QDDA9M+7tqIGhHInzeKEPs+df0sM5Q1A3f1ed9EFa34xHW00Hxzqz5+GnBlm0Dw2hdWWhgJ5+sTc0L/QYCARMB7njX7rRps97wA5u1ch0YPvWG3Ncg6vq74HBAJLs3phxdyibPB81NnSWV/0Ge9vNd1xoGkM6qNYZHoFAzg+OS7/8wa697AF7/eWPcuSpA3W1895HB5iCbOEHqeEJFRTUh8b7H7/GrggGVrVMN0DXhyuVr9du0x6VdzMFXh955npnPfWD2qcggZa5raN56iN9oH0yGOhQoEfzQpPG5sV97zBdRq2AQGi+HgOBgHP25I23nu9sT6GxrcDqi8++Z9outH0orSZdfvbSc9NNl1TqdfhUtmwZO7X3UaY8Hnl2kOn+XQMuvs8+X7Q8e9xb2L/GTevb2GCAT/2gdspn4uSRdtb5xzpnxIYlzfFUfX/uxd3tseeHuH5ItSj/Qn2ncX3dsLOcdgcC//V75Gr6AKUP5+oz1VGTxrn2BdWqV3YuTdc6+sJkVjCAJ+N+fUblec/HUB3yGz+BQMAOaFzX1C8KwKicjIxMx1HjOPShX+NMH5qGjDjHcVcdnwiOgfB9idJrNIshzwAAEABJREFU33Nn8EuSRyLOYlK+mhRoey344cqtX+V95bWnOeND+WtSX2mcTQ5+gFPf5TWm9UH3uBMPtVFjLrVps8Y441pluk3Kq6jjXfmqzV9/+aONHjXB1Ha9DgQCzgfN+4IfpNUG9Wvktp8ZNFYQ+drLHzB9YaK8ok36caFpb851vc2Ggok3jDzPVM6DweBU1s4sUyAqcvuLlnfk/McefN0WBIP/akf4skAg4ARtQm1SefqxBe1z1Eca69omFWgMXy/8ud7fom1P2nf0Oflm03YfXndt6127tzPlP3/peNP7mNocyldnPcp/6NWP2IghT4RmZz9qO5j8wT2m92/t9wOBQPay8Cely5Qy3fNUwU6NNy3T+FDf7Vuvpl66Thqz5/Q73p4Mbguh9VwT5jFT+73zeo20++58Mfgl44bslIFAwPmCRHWQ99jgPkzt0f5CidRH2veNe+gN63PSTaZ8ND80Ka3ari/CmrVokL0fCS0PPQYCAeeLMQUGtd/RthFaVtBHXYmhurweDAZrfxW5/t51qjnHNNp3qz+136nXoJa9G/xy85Kz73Su5IhcR691Zvzc2UtM/a3XoSkQyDkuR9zVz75f/ovzfhKZNrSO22Oy7fPC66h+TcT4UBka49qPKxCmbU3zIqdAIGAaP3c/dGX2PlXraVzmtW2or68efKbpiz7lqXGlsg5zOXtZyzWpDkcHv6wdGxzrSq95oUljS2Nk6utzcl2hEwgETPsFHSNqX6HtRXXU/kZBQP0Ipcal8gjlp+013u8rO3futJ3BfbC2TQUTVVYgELD9GtZ27FQn1U111Pu73rOURpO+iH7o3leczxF6zYQAAggggAAC7gKFDkC6Z1e8c3XWwOXn3W09jrzW7r19gukDoS5BU0BSBxCh2uhAVj+yoeCi0ox7+E3rfeJN1vHgi5yg4NRg8CqUNr/HzZu22t0jn7euHfvbPbe+YIuDQRMFI7dHXDKsD+i6D8yk4IF8r+NvsMvPuyvXBwy3spT+uMMGOEHR999d6ARElVd4WpWlMlW22t2z62DnoEd1C0/n9vztYFt1OcxHUe5d47aO27waNavk+kbdLV1h5ynQcfapt9jk12Y5P5KhPlRe6lf1pS5tHDHkSZOtDkoVXL131ETn7I1wL6237u+NTj+98sL7yiLfSfkrCKMP0xpPCjaEVgrlp3Gks3VC5YeWe/1RH5auueQ+x/Xpx95yxuymjVtyfHCUh34MSGP1rJNvstuDXwa4jT1dWjzgojH22cJvTHmo7+QTMlSg89Kz73LGurZNndn86oQPTHmrDKXVpPGu5doe3ps6X7OSftIY1BcDuqRRH84H93/Y2je9wNkPaLwmsgG//PSHcyP9lT/85gQ2nhg72bS9aJ8hy/Cy9VpjXF/EaHvSvkf9Gp4m8nm0flU69ZvKUXkTg4Hp++98SbOTbgoEAqbt/PWXPrRzT7/FNNbV9hHBfYosZKI+DK+4Xmscqj/79bnd+uUTRA5fV19uaZKLyg1tC3pUoEf7k4HBLzKUp7bBnZk7TZbarlTmt1+vct7fpkyabfcHA10aT71PHGZ6HV6O0ivArWCYzohX/4YvD7VB5T04+mV7Jbi9hS8vynPVU8FT7RN1GfVXS743XY6o7T2Ur9qr92e9N7416WPTWcCnHz/UvLJdh9rh9jj+kSnWrdMA06/khsaQm7/Glpbrl3WPP/wa0/bkll9JzdMY0lg9qcsg0/uq+lH7Mo3HUJ3Up3pfDe3D1e/q/9DyyEflqWOg++6YGPU9OpTXkOAXwkqvbUB+ev7zqjWmbWDW+5/Zm6/Oco7BVGafk4Y7Z2p7YZ/nl/ER2bcFea0xMuTqsXbC0deZ3pfcxpazj9i8zTn2eOrRKU5aHWtpHBSkrMKk/XPNOtu0aYvzRcLVl97nHOPr+EXbrPad4Xlqe9B7nY7D9VlA2776ODwNzxHwowBtQgABBIoq4OkAZKjxOqh56tG3nA+ERxxyqbU58DxrXq+PNavb25la7HeWtTnoPOvc7konjQ6q9UEwtH5hHnUw9My4qda353Dr1PJiO2T/c5yyQmW2PuBcO+6wq234oMedA6mClqGgqII3qrPyCuWrR5WlMlW22q3255d/73O72tuzxthr795pOqPi8M6tTPcF0gF928bn56i7yjjzhGHOQf43S1c6Z1NF5q/L63RPMLVP6QsydW57hfOhITLPyNdqlw481afqQ5WhflVfqn46Eyt8nQlPv2snBz80hXtpvU4tLnL6SWcihafP67mCAvqA45TdoG+2Tyg/BQoiP/yH56fLV9VO1TmWqVWjs+2h0a84WfTrPSq7vPzWDa1X0H5Qn+dVfwVBdFbYSZ2vs3ZNLjC1O1SXFkGPo1pfFtPY1qV3Z586wslDfac8lJf6RIHO8GCctimdAay8VYbSatJ413ag7UH5FcRH66sf1B8Obgx/lFbraN3CThqDHZr3s5OPud50lpy25xiKzk5SmDrIRRmoX9W/PY4caDpDVwErbS/aZ8gyvE16rTF+cd87LHJ7Ul7RJvVDZL8qX/WbylF5o4Y97QQ+Q/XR8lin0LiOVn5Rx/uFZ97mvCco0KJxFypHBrKQifowvL56rXGo/gwft6F183uUg1y0/wptC3pUYFr7EwXYQ3moDrJUP6rMU44d7Lx36UxBfXDXeNI2Gkof+agPwup/9a9bG1Re6L1D4yY8TX7PtW1ofEaWGXqteikAekb3G+3QZhfm2HeovXp/1nujAhH6oim0ntujylF5+dUptFxeclZe2neF5uf3GL6e1i3spLGk2yqo/zSG3Pw1X8uVTumjlVXQtofaqG0jWp4Fma/3X31Zq37UvkzjMVRGtH14fvk//fjUqO/Rke8HPbte7xxXqW8U3NE2oDPtbxz4qD37xNumLwhVR5WpPlc6jflk2OepTm6T+lv9rv7XOCjk+MjOuiBjPHyfWpD1QuNJj6H+j+VR6bMrGvFE/ab3Jbex5ewjgsfrquO9t090voSPWN15GerzWOoSShNu4GQS8Se0zalv9CW9jvH1PqfX2v+H8tGjtge91+k4XOnUtxHZ8RIBBBBAAAEEXAR8EYB0aRezwgSuGtTLrhl6pu1Tt4aFLv/SYp2Fcu/tE3JdDqNlCtDqIF8HX8u+WqlZuaZy5cvkmscMBBBAwN8CtA4BBBBAAAEEEEAAAQQQQKCgAgQgCyrmsfS679vxJ3ZwvWn40iU/5Ht2pr7V/XbZKtdW6/IT1wWJnkn+CCCAAAIIIIAAAggggAACCCDgfwFa6BsBApC+6Ur3htStX9N0E2+3pZs3b3ObnWue24+a6IcGdHl2rsTMQAABBBBAAAEEEEAAAV8J0BgEEEAAAQSKKkAAsqiCSb5+6KbabtWsFwxOus0Pn6df+dOvE4bP0/PVv6y16dMW6qnvpkAgYKVKsWn4rmNpEAIIIOBtAWqPAAIIIIAAAggggIBnBYiyeLbrYqu4bqr9y6o1rombHLyfXTOkt+uy0MxL+/e0uvVqhl46j/pl0+eenGYrf1jtvPbqnypVK7lWvWy5MnZI24NclzEz1QVoPwIIIIAAAggggAACCCCAAAIIFFTAewHIgraQ9PbE2MmuvyRYtmwZO/vCbjbhzZF24qmHmc52FFeNWlWt97ldbeLkkdb3gm5WukwpzXamP/9YZ/ff9aK9/PwM57XX/qiNXbq1sVtHX2Jt2jd2rX5aWsCOO+FQe/rlm+zCy06wtoc2cU3HTAQQQAABBBBAAAEEEEAAgQQKkDUCCPhGgACkb7oyekNmz1xs11x6v33y8Ze2Y3tGjoTppdKtWYsGTkBu/tLxtmTlBJvxyYM2ZMQ5ph+w0XKtsGXLNps2eZ6d0WOYvfScN4OPCiRO/uAeu/fRATkCrmpf5KSg6yFtD7T+159hT0y8wUbcdVFkEl4jgAACCCCAAAIpIUAjEUAAAQQQQACBogoQgCyqoEfW/+Kz76xfn1F22nFD7Mmxk23J4hW29s/1psBiVlZWjlboteZruYKW99z6gh1xyKU26MoHXc+kzLEyLxBAAAEEEiFAnggggAACCCCAAAIIIICAZwUIQHq26wpX8RXLf7H77nzRep84zAkqtjnwPGter481q9s7e9JrzVfQUUHLZ8ZNtc2bthauwCRaS/fD7Nz2iux2hrc5v+fDBz1uZknUGKqCAAIIIIAAAggggAACCCCAAAIJEiDbeAsQgIy3KPkhgAACCCCAAAIIIIAAAggUXYAcEEAAAQR8I0AA0jddSUMQQAABBBBAAIH4C5AjAggggAACCCCAAAJFFSAAWVRB1kcAAQQSL0AJCCCAAAIIIIAAAggggAACCHhWgABkzF1HQgQQQAABBBBAAAEEEEAAAQQQ8L8ALUQAgXgLEICMtyj5IYAAAggggAACCCCAQNEFyAEBBBBAAAEEfCNAANI3XUlDEEAAAQQQiL8AOSKAAAIIIIAAAggggAACRRUgAFlUQdZHIPEClIAAAggggAACCCCAAAIIIIAAAv4X8G0LCUD6tmtpGAIIIIAAAggggAACCCCAQMEFWAMBBBBAIN4CBCDjLUp+CCCAAAIIIIAAAkUXIAcEEEAAAQQQQAAB3wgQgPRNV9IQBBBAIP4C5IgAAggggAACCCCAAAIIIIBAUQUIQBZVMPHrUwICCCCAAAIIIIAAAggggAACCPhfgBYi4FsBApC+7VoahgACCCCAAAIIIIAAAgUXYA0EEEAAAQQQiLcAAch4i5IfAggggAACCBRdgBwQQAABBBBAAAEEEEDANwIEIH3TlTQEgfgLkCMCCCCAAAIIIIAAAggggAACCPhfINEtJACZaGHyRwABBBBAAAEEEEAAAQQQQCB/AVIggAACvhUgAOnbrqVhCCCAAAIIIIAAAgUXYA0EEEAAAQQQQACBeAsQgIy3KPkhgAACCBRdgBwQQAABBBBAAAEEEEAAAQR8I0AA0jddGf+GkCMCCCCAAAIIIIAAAggggAACCPhfgBYikGgBApCJFiZ/BBBAAAEEEEAAAQQQQCB/AVIggAACCCDgWwECkL7tWhqGAAIIIIAAAgUXYA0EEEAAAQQQQAABBBCItwAByHiLkh8CCBRdgBwQQAABBBBAAAEEEEAAAQQQQMA3AlEDkL5pIQ1BAAEEEEAAAQQQQAABBBBAAIGoAixAAAEEEi1AADLRwuSPAAIIIIAAAggggED+AqRAAAEEEEAAAQR8K0AA0rddS8MQQAABBAouwBoIIIAAAggggAACCCCAAALxFiAAGW9R8iu6ADkggAACCCCAAAIIIIAAAggggID/BWhhyggQgEyZrqahCCCAAAIIIIAAAggggEBuAeYggAACCCCQaAECkIkWJn8EEEAAAQQQQCB/AVIggAACCCCAAAIIIOBbAQKQvu1aGoYAAgUXYA0EEEAAAQQQQAABBBBAAAEEEIi3QPIFIOPdQvJDAAEEEEAAAQQQQAABBBBAAIHkE0PZ4R8AABAASURBVKBGCCCQMgIEIFOmq2koAggggAACCCCAAAK5BZiDAAIIIIAAAggkWoAAZKKFyR8BBBBAAIH8BUiBAAIIIIAAAggggAACCPhWgACkb7s29oa1btfY3nz/bluycoK9PWuM1a1fK9fKl/TvaYu+fcZJo3TRphnzH7K2hzbJtb43ZlBLBBBAAAEEEEAAAQQQQAABBBDwvwAtLG4BApDFLZ5E5SlQOPKei23MYwNsv4a1nZpt355hK39Y7TwP/1OlWiUrVbpU+CyeI4AAAggggAACCCCAAAKFF2BNBBBAAIGUESAAmTJd/V9DR9x1kXMm4xMTb7CTTjvc9qi8238LozyrUKGcpaUFoixlNgIIIIAAAgh4VYB6I4AAAggggAACCCCQaAECkIkWTsL8hw963JrV7e1Mk176MKYa1qhVxX5fvdbOOe0WZ73Q+pGPndteYfPnfhVTniRCAIFsAZ4ggAACCCCAAAIIIIAAAggg4FsBApDZXcuTvASq77Wnbdy41T5dsCyvZCxDAAEEEEAAAQQQQAABBBBAIMkFqB4CCBS3AAHI4hb3YHlND25g5cuXtT/W/J3Q2rdqfaAxYcAYYAwwBhgDjAHGAGMgRcYAx34c+zIGGAOMAcYAYyCuYyChQZsiZk4AsoiAqbB61ep7WLnyZWzblu1276MD7OPPH7cvfnzBuY/k4hXP2QcLx9qIO/tZjVpVU4GDNiKAAAK+EqAxCCCAAAIIIIAAAggggECiBQhAJlrYB/lXqbK7cwbk4Z1bWZdubZwfrQkE/v1BmvRS6VZ9r8rW84wjbfyLN1inI1sUusWfLlxmKTrRbvqeMcAYYAwwBhgDjAHGAGOAMcAYYAwwBhgD/h8DCe3jQgdkimFFApDFgOz1IqpVr2w7dmTYovnLbHD/h50foTm/163Oj81kZu7Mbt6+9Wpa/0G9rG79WtnzeIIAAggggAACCCCAAAIIJJcAtUEAAQQQKG4BApDFLe7B8sY9/KZ1aN7Pzj39Fpv6xhynBQs/WWpXXTja/jf/a+d16E+9BrWsS7fWoZc8IoAAAggggAAC7gLMRQABBBBAAAEEEEgZAQKQKdPV8W/o5k1bbc5Hn9vWrduzMy9btoztU69m9mueIIBAcgtQOwQQQAABBBBAAAEEEEAAAQQSLUAAMtHC+edfIimaHtzAzruku7Xr0DRH+XX2rW6333eZHXZUbPdy/HPNetsZdhl2jsx4gQACCCCAAAIIIIAAAggggAACIQEeEUhZAQKQKdj1I+66yCZOHmnXDOlte9eplkNAZzB2P7mjPfzUIBs3Yag1b9nQJr17p33x4wu2YNlTNvz2C3Ok32338hZI+/cHabQgMyPTNqzfpKdMCCCAAAIIIIAAAggkoQBVQgABBBBAAIHiFiAAWdziSVDe8EGPOz8k06xu7zwf+/UeZd17drQG+9exQCBg5cuXtU5HtbC2hzbJbkXD4DIFLUMz1q3baAvmfhV6ySMCCCCAAALuAsxFAAEEEEAAAQQQQACBlBEgAJkyXV24hm7ZtC3HJdaZGTtt06atTmYNGtW2dh2bWtquMyC3bdtuk1760GbPXOws50/yC1BDBBBAAAEEEEAAAQQQQAABBBDwv0BJt5AAZEn3QJKX/9iDr9vc2Ussc9d9Hlf9+Jt9+fkKO/6kDjb6kQG2T90aTgu2bt1ur02caQ/c9ZLzmj8IIIAAAggggAACCCCAAAI5BHiBAAIIpKwAAciU7frYGr5501a7/Ly77I6bn7Gvv/zRDm7VyLkf5B33X2716te0v9ZusHff+sQuO+cuu334M7FlSioEEEAAAQQQQKDEBCgYAQQQQAABBBBAoLgFCEAWt7hHy3vx2el2+vFDrc1B51nzen1M949s0aCvHXHIpXbt5Q/Ywk+WerRlVBsBBEpEgEIRQAABBBBAAAEEEEAAAQRSRoAAZMp0de6GMgcBBBBAAAEEEEAAAQQQQAABBPwvQAsRKGkBApAl3QOUjwACCCCAAAIIIIAAAqkgQBsRQAABBBBIWQECkCnb9TQcAQQQQACBVBSgzQgggAACCCCAAAIIIFDcAgQgi1uc8hBAwAwDBBBAAAEEEEAAAQQQQAABBBDwv8CuFhKA3AXBAwIIIIAAAggggAACCCCAAAJ+FKBNCCCAQEkLEIAs6R6gfAQQQAABBBBAAIFUEKCNCCCAAAIIIIBAygoQgEzZrqfhCCCAQCoK0GYEEEAAAQQQQAABBBBAAIHiFiAAWdzilGeGAQIIIIAAAggggAACCCCAAAII+F+AFiKwS4AA5C4IHhBAAAEEEEAAAQQQQAABPwrQJgQQQAABBEpagABkSfcA5SOAAAIIIIBAKgjQRgQQQAABBBBAAAEEUlaAAGTKdj0NRyAVBWgzAggggAACCCCAAAIIIIAAAggUt0DxByCLu4WUhwACCCCAAAIIIIAAAggggAACxS9AiQgggMAuAQKQuyB4QAABBBBAAAEEEEDAjwK0CQEEEEAAAQQQKGkBApAl3QOUjwACCCCQCgK0EQEEEEAAAQQQQAABBBBIWQECkCnb9anYcNqMAAIIIIAAAggggAACCCCAAAL+F6CFySZAADLZeoT6IIAAAggggAACCCCAAAJ+EKANCCCAAAII7BIgALkLggcEEEAAAQQQQMCPArQJAQQQQAABBBBAAIGSFiAAWdI9QPkIIJAKArQRAQQQQAABBBBAAAEEEEAAgZQVSKEAZMr2MQ1HAAEEEEAAAQQQQAABBBBAIIUEaCoCCCSbAAHIZOsR6oMAAggggAACCCCAgB8EaAMCCCCAAAIIILBLgADkLggeEEAAAQQQ8KMAbUIAAQQQQAABBBBAAAEESlqAAGRJ9wDlp4IAbUQAAQQQQAABBBBAAAEEEEAAAf8L0MIoAgQgo8AwGwEEEEAAAQQQQAABBBBAwIsC1BkBBBBAINkECEAmW49QHwQQQAABBBBAwA8CtAEBBBBAAAEEEEAAgV0CBCB3QfCAAAII+FGANiGAAAIIIIAAAggggAACCCBQ0gIEIBPfA5SAAAIIIIAAAggggAACCCCAAAL+F6CFCCAQRYAAZBQYZiOAAAIIIIAAAggggIAXBagzAggggAACCCSbAAHIZOsR6oMAAggggIAfBGgDAggggAACCCCAAAIIILBLgADkLggeEPCjAG1CAAEEEEAAAQQQQAABBBBAAAH/CyR7CwlAJnsPUT8EEEAAAQQQQAABBBBAAAEvCFBHBBBAAIEoAgQgo8AwGwEEEEAAAQQQQMCLAtQZAQQQQAABBBBAINkECEAmW49QHwQQQMAPArQBAQQQQAABBBBAAAEEEEAAgV0CBCB3QfjxgTYhgAACCCCAAAIIIIAAAggggID/BWghAskuQAAy2XuI+iGAAAIIIIAAAggggIAXBKgjAggggAACCEQRIAAZBYbZCCCAAAIIIOBFAeqMAAIIIIAAAggggAACySZAADLZeoT6IOAHAdqAAAIIIIAAAggggAACCCCAAAL+F4ixhQQgY4QiGQIIIIAAAggggAACCCCAAALJKECdEEAAgWQXIACZ7D1E/RBAAAEEEEAAAQS8IEAdEUAAAQQQQAABBKIIEICMAsNsBBBAAAEvClBnBBBAAAEEEEAAAQQQQACBZBMgAJlsPeKH+tAGBBBAAAEEEEAAAQQQQAABBBDwvwAtRCBGAQKQMUKRDAEEEEAAAQQQQAABBBBIRgHqhAACCCCAQLILEIBM9h6ifggggAACCCDgBQHqiAACCCCAAAIIIIAAAlEECEBGgWE2Agh4UYA6I4AAAggggAACCCCAAAIIIIBAsgnEPwCZbC2kPggggAACCCCAAAIIIIAAAgggEH8BckQAAQRiFCAAGSMUyRBAAAEEEEAAAQQQSEYB6oQAAggggAACCCS7AAHIZO8h6ldggRqZ6+3EjYts4N/TbPBfUxIyDfj7HacMlVXgCrICAgj4UYA2IYAAAggggAACCCCAAAIIRBEgABkFhtleFDBTQLDvhjl20PZfrXRWRsIaUS5rh1OGylKZCSuIjBFAAAEEEEAAAQQQQAABBBBAIEKAl14TIADptR6jvnkKtNvynZXKyswzTTwXqiyVGc88yQsBBBBAAAEEEEAAAU8IUEkEEEAAAQRiFCAAGSMUybwh0HDHmmKvqM62LPZCKRABBBBAAIFdAjwggAACCCCAAAIIIJDsAgQgk72HqF+BBBJ52XWBKkLiVBOgvQgggAACCCCAAAIIIIAAAgggEEXARwHIKC1kNgIIIIAAAggggAACCCCAAAII+EiApiCAgNcECEB6rceoLwIIIIAAAggggAACySBAHRBAAAEEEEAAgRgFCEDGCEUyBBBAAAEEklGAOiGAAAIIIIAAAggggAACyS5AADLZe4j6eUGAOiKAAAIIIIAAAggggAACCCCAgP8FaGEhBQhAFhKO1RBAAAEEEEAAAQQQQAABBEpCgDIRQAABBLwmQADSaz1GfRFAAAEEEEAAgWQQoA4IIIAAAggggAACCMQoQAAyRiiSIYAAAskoQJ0QQAABBBBAAAEEEEAAAQQQSHYBApBF7yFyQAABBBBAAAEEEEAAAQQQQAAB/wvQQgQQKKQAAchCwrEaAggggAACCCCAAAIIlIQAZSKAAAIIIICA1wQIQHqtx6gvAggggAACySBAHRBAAAEEEEAAAQQQQACBGAUIQMYIRTIEklGAOiGAAAIIIIAAAggggAACCCCAgP8FvN5CApBe70HqjwACCCCAAAIIIIAAAgggUBwClIEAAgggUEgBApCFhGM1BBBAAAEEEEAAgZIQoEwEEEAAAQQQQAABrwkQgPRaj1FfBBBAIBkEqAMCCCCAAAIIIIAAAggggAACMQoQgIwRKhmTUScEEEAAAQQQQAABBBBAAAEEEPC/AC1EwOsCBCC93oPUHwEEEEAAAQQQQAABBIpDgDIQQAABBBBAoJACBCALCcdqCCCAAAIIIFASApSJAAIIIIAAAggggAACXhMgAOm1HqO+CCSDAHVAAAEEEEAAAQQQQAABBBBAAAH/C8SphQQg4wRJNggggAACCCCAAAIIIIAAAggkQoA8EUAAAa8LEID0eg9SfwQQQAABBBBAAIHiEKAMBBBAAAEEEEAAgUIKEIAsJByrIYAAAgiUhABlIoAAAggggAACCCCAAAIIeE2AAKTXeiwZ6ksdEEAAAQQQQAABBBBAAAEEEEDA/wK0EIE4CRCAjBMk2SCAAAIIIIAAAggggAACiRAgTwQQQAABBLwuQADS6z1I/RFAAAEEEECgOAQoAwEEEEAAAQQQQAABBAopQACykHCshgACJSFAmQgggAACCCCAAAIIIIAAAggg4DWBggcgvdZC6osAAggggAACCCCAAAIIIIAAAgUXYA0EEEAgTgIEIOMESTYIIIAAAggggAACCCRCgDwRQAABBBBAAAGvCxCA9HoPUn8EEEAAgeIQoAxz1nr9AAAQAElEQVQEEEAAAQQQQAABBBBAAIFCChCALCQcq5WEAGUigAACCCCAAAIIIIAAAggggID/BWih3wQIQPqtR2kPAggggAACCCCAAAIIIBAPAfJAAAEEEEAgTgIEIOMESTYIIIAAAggggEAiBMgTAQQQQAABBBBAAAGvCxCA9HoPUn8EECgOAcpAAAEEEEAAAQQQQAABBBBAAIFCCngoAFnIFrIaAggggAACCCCAAAIIIIAAAgh4SICqIoCA3wQIQPqtR2kPAggggAACCCCAAALxECAPBBBAAAEEEEAgTgIEIOMESTYIIIAAAggkQoA8EUAAAQQQQAABBBBAAAGvCxCA9HoPUv/iEKAMBBBAAAEEEEAAAQQQQAABBBDwvwAtTJAAAcgEwZItAggggAACCCCAAAIIIIBAYQRYBwEEEEDAbwIEIP3Wo7QHAQQQQAABBBCIhwB5IIAAAggggAACCCAQJwECkHGCJBsEEEAgEQLkiQACCCCAAAIIIIAAAggggIDXBQhA5t+DpEAAAQQQQAABBBBAAAEEEEAAAf8L0EIEEEiQAAHIBMGSLQIIIIAAAggggAACCBRGgHUQQAABBBBAwG8CBCD91qO0BwEEEEAAgXgIkAcCCCCAAAIIIIAAAgggECcBApBxgiQbBBIhQJ4IIIAAAggggAACCCCAAAIIIOB/Ab+3kACk33uY9iGAAAIIIIAAAggggAACCMQiQBoEEEAAgQQJEIBMECzZIoAAAggggAACCBRGgHUQQAABBBBAAAEE/CZAANJvPUp7EEAAgXgIkAcCCCCAAAIIIIAAAggggAACcRIgABknyERkQ54IIIAAAggggAACCCCAAAIIIOB/AVqIgN8FCED6vYdpHwIIIIAAAggggAACCMQiQBoEEEAAAQQQSJAAAcgEwZItAggggAACCBRGgHUQQAABBBBAAAEEEEDAbwIEIP3Wo7QHgXgIkAcCCCCAAAIIIIAAAggggAACCPhfoJhaSACymKApBgEEEEAAAQQQQAABBBBAAAE3AeYhgAACfhcgAOn3HqZ9CCCAAAIIIIAAArEIkAYBBBBAAAEEEEAgQQIEIBMES7YIIIAAAoURYB0EEEAAAQQQQAABBBBAAAG/CRCA9FuPxqM95IEAAggggAACCCCAAAIIIIAAAv4XoIUIFJMAAchigqYYBBBAAAEEEEAAAQQQQMBNgHkIIIAAAgj4XYAApN97mPYhgAACCCCAQCwCpEEAAQQQQAABBBBAAIEECRCATBAs2SKAQGEEWAcBBBBAAAEEEEAAAQQQQAABBPwmkDsA6bcW0h4EEEAAAQQQQAABBBBAAAEEEMgtwBwEEECgmAQIQBYTNMUggAACCCCAAAIIIOAmwDwEEEAAAQQQQMDvAgQg/d7DtA8BBBBAIBYB0iCAAAIIIIAAAggggAACCCRIgABkgmDJtjACrIMAAggggAACCCCAAAIIIIAAAv4XoIWpJkAAMtV6nPYigAACCCCAAAIIIIAAAhJgQgABBBBAoJgECEAWEzTFIIAAAggggAACbgLMQwABBBBAAAEEEEDA7wIEIP3ew7QPAQRiESANAggggAACCCCAAAIIIIAAAggkSCCJApAJaiHZIoAAAggggAACCCCAAAIIIIBAEglQFQQQSDUBApCp1uO0FwEEEEAAAQQQQAABCTAhgAACCCCAAALFJEAAspigKQYBBBBAAAE3AeYhgAACCCCAAAIIIIAAAn4XIADp9x6mfbEIkAYBBBBAAAEEEEAAAQQQQAABBPwvQAtLSIAAZAnBUywCCCCAAAIIIIAAAgggkJoCtBoBBBBAINUECECmWo/TXgQQQAABBBBAQAJMCCCAAAIIIIAAAggUkwAByGKCphgEEEDATYB5CCCAAAIIIIAAAggggAACCPhdgACkmd/7mPYhgAACCCCAAAIIIIAAAggggIAZBgggUEICBCBLCJ5iEUAAAQQQQAABBBBITQFajQACCCCAAAKpJkAAMtV6nPYigAACCCAgASYEEEAAAQQQQAABBBBAoJgECEAWE3QyFjN05Ln2v2+ftsUrnrOBN/SJWsUataraiDv72btz7rdF3z5jS1ZOcKaF3zxtU2aOtv7Xn2EVKpaLuj4LoguwBAEEEEAAAQQQQAABBBBAAAEE/C+Q6i0kAJliI0DBxN7ndrUXp9xqp/fpbGXLlrGdO7Ns29btrhK9+nYOph1pPc840mrVrmZfffG99TnpJrvk7Dtt9S9/Wr39atkFl/awV94eZUd2OcQ1D2YigAACCCCAAAIIIIAAAkkgQBUQQAABBEpIgABkCcEXd7FtD21iM+Y/ZDM+edCGjDjHmjTfz9LT8+7+08/qbP0HnWHVqld2qvvzqj9sxJAn7IvPvrM5H31ujz3wum1Yv8kCgYDtW6+m3TDyXOt0ZAsnLX8QQAABBBBAAAF3AeYigAACCCCAAAIIpJpA3hGoVNPwcXvnz/3KOre9wprV7W0Xnnmb/f7bX3m2VpdU9+x1hO1eqUJ2uq++WGErlv+S/XrqG3Ps55/WZL/eq2YV6xUMWmbP4AkCCCSvADVDAAEEEEAAAQQQQAABBBBAoJgECEAWE7RbMck874RTOtl+DWtnVzEzI9N+W507aLnmt7+z0wQCATuwaT3T2ZbZM3mCAAIIIIAAAggggAACCCCAQIoL0HwEUl2AAGSqj4Ao7a+9z15Wpkyp7KXR7hP519oN2Wn0pFKlirZ3nWp6WuCpVesDrahTgQuN0wpFrTfrF73vMcSQMcAYYAwwBhgDjIF8xkCRjzXJnzHGGGAMMAYYA8k8BuIU4khINgQgE8Lq/Uwr7VHR0kulF7ghpYLrKHhZ4BVZAQEEEEAgRQRoJgIIIIAAAggggAACCKSaAAHIVOvxGNurH5fRZdcxJs9OlpGZaWv/XJ/9uiBPPl24zIo6FaS8eKYtar2Lff04WFPnoo9XDDFkDDAGGAOMAcYAY4AxwBhgDDAGGAOMgXiNAdc4R5LMJACZJB2RbNX45ac1tn17Rna10tICVrZcmezXoSdVqlYKPXUeFbj8PuyHapyZ/EEAAQQQQAABBBBAAAEEUliApiOAAAKpLpCW6gC0311g8muz7cfvV2cv1OXY9farlf069GSvmnuGnlpWVpYt+/JHmz/3q+x5PEEAAQQQQAABBJJEgGoggAACCCCAAAIIlJAAAcgSgk/2Yjdv2mqvTvzA/tmwObuq+x+4jzVv2TD79fEndbA6++yV/XrNb3/ZS8/PyH7NEwQQQCC3AHMQQAABBBBAAAEEEEAAAQRSTYAAZAr1eIWK5axLtzbWq29nq1p1j+yWly5Tyo7t0c76XtDNGjSqnT3/5WAw8f67XrQ//1jnzKtVu5pde0MfJwjZ4fCD7eKrTjb9WI3OfFz1429227CnbfbMxU5a/iCAAAIIIIAAAggggAACCCCAQAkLUDwCSSJAADJJOiLR1Wh7aBOb/ME9du+jA6zLcW2tVOn0HEXWrV/LBt3U1ya8OdJ69OyUveyl52bYGT2G2aQXZ9rqX/60Js33sxfeuMUeffZ6U0BSl2k/+cgUO+24oTZz+qLs9XiCAAIIIIAAAggggAAC/wrwFwEEEEAAgVQXIACZIiNA92Xs3PYKa1a3d55T28bn25RJs3Oo/L56rQ2/fpx17dDfDtn/nOz1Wx9wrvU4cqDdf+eLpku2c6zECwQQQAABBJJLgNoggAACCCCAAAIIIIBACQkQgCwheIpFIDUFaDUCCCCAAAIIIIAAAggggAACCPhfIGcLCUDm9OAVAggggAACCCCAAAIIIIAAAv4QoBUIIIBAkggQgEySjqAaCCCAAAIIIIAAAv4UoFUIIIAAAggggECqCxCATPURQPsRQACB1BCglQgggAACCCCAAAIIIIAAAiUkQACyhOBTs1hajQACCCCAAAIIIIAAAggggAAC/heghQjkFCAAmdODVwgggAACCCCAAAIIIICAPwRoBQIIIIAAAkkiQAAySTqCaiCAAAIIIICAPwVoFQIIIIAAAggggAACqS5AADLVRwDtRyA1BGglAggggAACCCCAAAIIIIAAAgiUkEAxBiBLqIUUiwACCCCAAAIIIIAAAggggAACxShAUQgggEBOAQKQOT14hQACCCCAAAIIIICAPwRoBQIIIIAAAgggkCQCBCCTpCOoBgIIIICAPwVoFQIIIIAAAggggAACCCCQ6gIEIFN9BKRG+2klAggggAACCCCAAAIIIIAAAgj4X4AWJqkAAcgk7RiqhQACCCCAAAIIIIAAAgh4U4BaI4AAAgggkFOAAGROD14hgAACCCCAAAL+EKAVCCCAAAIIIIAAAggkiQAByCTpCKqBAAL+FKBVCCCAAAIIIIAAAggggAACCKS6QCoEIFO9j2k/AggggAACCCCAAAIIIIAAAqkgQBsRQCBJBQhAJmnHUC0EEEAAAQQQQAABBLwpQK0RQAABBBBAAIGcAgQgc3rwCgEEEEAAAX8I0AoEEEAAAQQQQAABBBBAIEkECEAmSUdQDX8K0CoEEEAAAQQQQAABBBBAAAEEEPC/AC3MW4AAZN4+LEUAAQQQQAABBBBAAAEEEPCGALVEAAEEEEhSAQKQSdoxVAsBBBBAAAEEEPCmALVGAAEEEEAAAQQQQCCnAAHInB68QgABBPwhQCsQQAABBBBAAAEEEEAAAQQQSBIBApAJ7AiyRgABBBBAAAEEEEAAAQQQQAAB/wvQQgQQyFuAAGTePixFAAEEEEAAAQQQQAABbwhQSwQQQAABBBBIUgECkEnaMVQLAQQQQAABbwpQawQQQAABBBBAAAEEEEAgpwAByJwevELAHwK0AgEEEEAAAQQQQAABBBBAAAEE/C/gkRYSgPRIR1FNBBBAAAEEEEAAAQQQQACB5BSgVggggAACeQsQgMzbh6UIIIAAAggggAAC3hCglggggAACCCCAAAJJKkAAMkk7hmohgAAC3hSg1ggggAACCCCAAAIIIIAAAgjkFPBFALJCxXJ2eOdWVqNWVdPz64adZa+8Pcpee+cOu+vBK615y4Y5W+33V7QPAQQQQAABBBBAAAEEEEAAAQT8L0ALEfCIgGcDkMef1MHmffmkLVk5weYvHW+3jb7EWrXe30aP7W99L+hmBzapZ/sftK91O6G9Db/9QmvQqLZHuoRqIoAAAggggAACCCCAgJcEqCsCCCCAAAII5C3g2QDk1Dfm2KcLv7GsrCz73ydf2zmnjrA9Ku9mh7Q50AKBQI5WNzpwH7voypNzzOMFAggggAACCPhKgMYggAACCCCAAAIIIIBAkgp4NgDZ9OAG1nD/OrZ40XK7/Py7bcXyX6zD4Qdb+Qpls6kzM3fali3bnNfNWjSwuvVrOc/5gwACiRIgXwQQQAABBBBAAAEEEEAAAQQQ8L9AwVro2QDk3nWqWXqpNJs5/X+2edNWJ7gYfpl1xo5Me378NGtz4Hn2+ksf2u67V7ADsyTHJQAAEABJREFUGu9bMB1SI4AAAggggAACCCCAAAIIIJCsAtQLAQQQ8IiAZwOQZcuWcYj/XLPeeWzfqalVq17Zea4/a37/y96bOl9P7X/zl9m27TsstI4zkz8IIIAAAggggAACCMRBgCwQQAABBBBAAAEE8hbwbABy586dVr58WTv0sGZWoWI569ytTY7Lr1et/N2++Ow7p/WlSqXlui+ks4A/CCCAAAJ+EaAdCCCAAAIIIIAAAggggAACSSqQlqT1yrdaK3/4zTb+s8X0a9hzvxhnbQ9tkr2OLr9e+sUP2a/bdWzmPP/zj3XOI38SJUC+CCCAAAIIIIAAAggggAACCCDgfwFaiEDBBDwbgPzy8xW2fNkqp7XppdKdx9Cf33/7y95/d6Hz8uiura1dx6a2Yf0m+/zT5c48/iCAAAIIIIAAAggggAACnhegAQgggAACCHhEwLMBSPm+9PwMW/3Ln3qaPW3dut2mvvGxc/l1z15H2NCR51qVqpXs++W/ZKfhCQIIIIAAAgggEC8B8kEAAQQQQAABBBBAAIG8BTwdgJw9c7Fdd8WDNm3yPPv261U2d9YXdsuQJ+3Be15xLs2+blhfq1ptD9uyeZu1bH2AHX50y7w1WIoAAl4VoN4IIIAAAggggAACCCCAAAIIIJCkAnEMQJZMCzdt3GIfvf+pDb9+nF3c9w6bMmm2U5Gpb8yx9k0vsBb7nWVtDjrPjmp9mROodBbyBwEEEEAAAQQQQAABBBBAAAEECinAaggggEDBBDwdgBx++4X20tTb7I77L7fnJ91s9zx8VcFaT2oEEEAAAQQQQAABBLwqQL0RQAABBBBAAAGPCHg2ANnpyBZ25DGHWNmyZRxq/RCNfmzmmOPbOq/5gwACCCCAQHEIUAYCCCCAAAIIIIAAAggggEDeAp4NQFbec3crX75s3q1jaaoI0E4EEEAAAQQQQAABBBBAAAEEEPC/AC30qIBnA5A/rPjV/lq7wTIzdzr0W7Zss+lvL7D3ps53Xof/ad6yoV0//GzTY/h8niOAAAIIIIAAAggggAACCBRUgPQIIIAAAggUTMCzAcgvP19hb746y15+foY1q9vb2hx4no0Y8oRr6w9pe6Add+KhVrd+LdflzEQAAQQQQAABBDwnQIURQAABBBBAAAEEEPCIgGcDkBUqlrMV3/5s1WvsaY8/P8ROPv1w69Gzk+uk+0WWLVvaI11CNRFAwEsC1BUBBBBAAAEEEEAAAQQQQAABBPIW8GwA8uiure3W0ZdY52NbW/tOzeyWuy+2UWMudZ1at2tsgUAgbwmWIoAAAggggAACCCCAAAIIIIBAMgtQNwQQ8KiAZwOQHvWm2ggggAACCCCAAAIIeFyA6iOAAAIIIIAAAgUTIABZMC9SIxB3gRqZ6+3EjYts4N/TbPBfUxIyDfj7HacMlRX3BpAhAgiUjAClIoAAAggggAACCCCAAAIeEfB8ADIrK8u2bNlmmzdtjTplZmR6pDuoptcEilpfBQT7bphjB23/1UpnZRQ1u6jrl8va4ZShslRm1IQsQAABBBBAAAEEEEAAAQQQQACBXALMKJqApwOQmZk7beobc6zNgedZ28bnR52eGDvZtm/bUTQp1kYgAQLttnxnpbKKL0CuslRmAppClggggAACCCCAAAIIJFqA/BFAAAEEPCrg2QBkRkaG/f3XBps7a0m+9F98ttyWLV1p69f9k29aEiBQnAINd6wpzuKcsnS2pfOEPwgggAACCBRKgJUQQAABBBBAAAEEECiYgGcDkNMmz7PjD7/GpkyaHbXFLf9vf6tRq6rN+mCx9eszynmMmpgFCJSAQCIvuy6B5lBkcQpQFgIIIIAAAggggAACCCCAAAIeEfBsADLkW6FiObtu2Fn27pz7bdG3z9j8peOtR89OpuDjbfdeZo8+e721btfYEvGPPBFAAAEEEEAAAQQQQAABBBBAwP8CtBABBIom4OkAZINGte3JiTdY3wu62d51qluZsqWzNT7737d2Xq+RtvqXP+3aYX1MabMX8gQBBBBAAAEEEEAAAQS8JkB9EUAAAQQQQMCjAp4OQJ5zUXc7qGl9CwQCrvy/r15r117+gK3/e6P1PreraxpmIoAAAggggEBBBEiLAAIIIIAAAggggAACCBRMwLMByLr1a9n/tT3Q0tPzbsLmTVtt5vRF1qT5fqZ1CsZDagSSVIBqIYAAAggggAACCCCAAAIIIICA/wV80sK8o3dJ3MgDGu9rlfaoaAowzp652J4f/449fO+rtikYcIys9sZ/ttieVSqZ1olcxmsEEEAAAQQQQAABBBBAAAEE8hJgGQIIIIBA0QQ8G4AsW7aMZWRk2kOjX7HLzr3L7hzxrP3y0x+2c+fOXCL7H7Sv7bZ7edM6uRYyAwEEEEAAAQQQQMALAtQRAQQQQAABBBBAwKMCng1AyjstEAgGFf/74RnNi5z04zMdjzjY0tLSXIOTkel5jQACCCCQlwDLEEAAAQQQQAABBBBAAAEEECiYQFrBkidP6l9+/sO2b99hF1x2ot06+hI77KgWOSrX9tAmNuy28238S8Os4f51bNPGzbb617U50nj2BRVHAAEEEEAAAQQQQAABBBBAAAH/C9BCBHwi4NkA5KcLltk3X//kXFp94qmH2cNPDbJRYy61GjWrOI9PTLzBTj+rs1WpWsnpKl2erXWcF/xBAAEEEEAAAQQQQAABBGIUIBkCCCCAAAIIFE3AswFINXvGtPm2Yf0mPc1z2rJlm7339oI807AQAQQQQAABBJJagMohgAACCCCAAAIIIICARwU8HYB8/eWP7MVn37OtW7dH5c/MyLT3ps63F556J2oaFiCAQKwCpEMAAQQQQAABBBBAAAEEEEAAAf8LxLeFng5AiuLBe16x22962r775ifLzNypWc6UlZVlv/78hz1wz8t248BHnXn8QQABBBBAAAEEEEAAAQQQQMAzAlQUAQQQ8ImA5wOQ6odJL31oJx9zvXXt0N8GXfmgDe7/sJ3cZZDzevwjU5SECQEEEEAAAQQQQACBQgmwEgIIIIAAAggggEDRBHwRgAwR/L56rU2bPM+mvjHHViz/JTTbevTsZFM/ute6ndA+ex5PEEAAAQQ8JUBlEUAAAQQQQAABBBBAAAEEPCrgqwCkWx9UqFjOjjzmEKtabQ8rVaqUWxLmxSxAQgQQQAABBBBAAAEEEEAAAQQQ8L8ALUQgvgKeDkDWqFXV7h93jS34+ilbsnKC6zR/6Xjr0q2NBQKB+MqRGwIIIIAAAggggAACCCCQSAHyRgABBBBAwCcCng5ADrv1PDuyyyFWvkJZn3QHzUAAAQQQQACBZBOgPggggAACCCCAAAIIIFA0Ac8GIA/v3MqatWzImY1F63/WRsArAtQTAQQQQAABBBBAAAEEEEAAAQQ8KlCAAGRytbBSpYpWrlwZp1KZGZm2edPWqJOWOwn5gwACCCCAAAIIIIAAAggggAAC+QiwGAEEEIivgGcDkNu2bbft23bYzOmLrGvHAda28flRp4dGv2Lbtm6Prxy5IYAAAggggAACCCCQSAHyRgABBBBAAAEEfCLg2QDkN0tX2U+r1tj0txfY76vX5tkdU16fYyNvGG8L5i3NMx0LEUAAAQQQiBTgNQIIIIAAAggggAACCCCAQNEEPBuAXPnDavvg3YVWq3a1fAVq1NzTWrU50PSYb2ISJKMAdUIAAQQQQAABBBBAAAEEEEAAAf8L0EKfCng2AKn+eGLsZCtdOt1OOfMovXSdatSqamdfeJydeOphVrd+Ldc0zEQAAQQQQAABBBBAAAEEEAgJ8IgAAggggEB8BTwdgGzQqLa1OGR/G3brebZk5QTXacYnD1rX7u0sPd3TTY1vr5MbAggggAACCCS/ADVEAAEEEEAAAQQQQMAnAp6Oyl09+Exr26GJpZdK90l30AwEEEg2AeqDAAIIIIAAAggggAACCCCAAAJFE/BCANK1hW0PbWIHNq1ngUDAdTkzEUAAAQQQQAABBBBAAAEEEEDAUwJUFgEEfCrg2QDkXjWr2O67V3C6JTMj0zZv2hp10nInIX8QQAABBBBAAAEEEEAgHwEWI4AAAggggAAC8RXwbABy27bttn3bDps5fZF17TjA2jY+P+r00OhXbNvW7fGVIzcEEEAAAQQSKUDeCCCAAAIIIIAAAggggIBPBDwbgPxm6Sr7adUam/72Avt99do8u2PK63Ns5A3jbcG8pXmmYyECkQK8RgABBBBAAAEEEEAAAQQQQAAB/wvQwsQKeDYAufKH1fbBuwutVu1q+QrVqLmntWpzoOkx38QkQAABBBBAAAEEEEAAAQQQKAkBykQAAQQQ8KmAZwOQ6o8nxk620qXT7ZQzj9JL16lGrap29oXH2YmnHmZ169dyTcNMBBBAAAEEEEAAgZAAjwgggAACCCCAAAIIxFfAswHIHj072fyl4+2S/j3t5jsutCUrJ7hOMz550Lp2b2fp6Z5tanx7nNwQQMAbAtQSAQQQQAABBBBAAAEEEEAAAZ8IEJXLoyNZhAACCCCAAAIIIIAAAggggAAC/heghQggkFgBApCJ9SV3BBBAAAEEEEAAAQQQiE2AVAgggAACCCDgUwHPByCzsrJsy5ZttnnTVtdpy+Ztlpm506fdR7MQQAABBBCItwD5IYAAAggggAACCCCAAALxFfB0AFLBxxnvLLQjDrnU2jY+33Vqc9B59szjU23Hjoz4ypEbAokUIG8EEEAAAQQQQAABBBBAAAEEEPC/QIq00LMByIyMDFv753qb+d4i58zHvPpr0YKv7esvf7T16/7JKxnLEEAAAQQQQAABBBBAAAEEUlCAJiOAAAIIJFbAswHIaZPn2fGHX2NTJs3OV2jWB4utX59Rpsd8E5MAAQQQQAABBBBAoCQEKBMBBBBAAAEEEEDApwKeDUCG90eNWlVtxJ397O1ZY2z+0vHONGXmaOt//RlWoWK58KQ8RwABBBDIU4CFCCCAAAIIIIAAAggggAACCMRXwPMByO49O9oLr99sPc840vapW8MJOCroWG+/WnbBpT3spbdus05HtoivWqJzI38EEEAAAQQQQAABBBBAAAEEEPC/AC1EIEUEPB2AbN6yoV1xzWmmMyDd+isQCJgCkQOuP8MaNKrtloR5CCCAAAIIIIAAAgggkOICNB8BBBBAAAEEEivg6QDkiaceZrVqV8tXqMH+dazX2V3yTUcCBBBAAAEEECgxAQpGAAEEEEAAAQQQQAABnwp4NgCpy6xbtTnQ0tICtvGfLc6vXL8zZZ7zozT6YZqpb8yxr5Z8b1u2bLP09DRr3a6xc3m2T/uRZiEQJwGyQQABBBBAAAEEEEAAAQQQQAAB/wsUbws9G4Bs3b6xValayebP/cpO6jLITj9+qF13xYM29OpHnGlw/4ftjO432pk9brRPFyyzSntUtINbNSpeXUpDAAEEEEAAAQQQQAABBBBAIJoA8xFAAIEUEW5nGPUAABAASURBVPBsALJSpYqWkZFpU1//2H5fvTZqd61Y/ou989YnzpmS1apXjpqOBQgggAACCCCAAAKpKUCrEUAAAQQQQAABBBIr4NkApFh0+XW58mX1lAkBBBBAwNsC1B4BBBBAAAEEEEAAAQQQQMCnAp4NQG7YsMnS0tKs2wmH5vkL1/ql7BNPO8xJq3V82o9xahbZIIAAAggggAACCCCAAAIIIICA/wVoIQLFK+DZAOTCeUvtr7UbrOX/7W8Tp9xqr793p933+NU2asylznT3Q1faa+/cYU9MvMGaNNvPSat1ipeX0hBAAAEEEEAAAQQQQACBKALMRgABBBBAIEUEPBuA3Lxpq/PjMjt3Zln58mWt4QH72NFdW1uPnp2c6dge7W3/g/Z1lmVm7rSFnyw1rZMi/UozEUAAAQQQQCBGAZIhgAACCCCAAAIIIIBAYgU8G4AUy4Sn37XvvvlJT/OcVnz7s7307PQ807AQAQRKVIDCEUAAAQQQQAABBBBAAAEEEEDApwJhAUjvtXDF8l/svjtftB+/X21ZWVm5GqB5WqY0SpsrATMQQAABBBBAAAEEEEAAAQQQSDkBGowAAggUr4CnA5Cimj1zsfXqfoM9+cgUU5Bx4z9bTJOea56WKY3SMiGAAAIIIIAAAgggkDQCVAQBBBBAAAEEEEgRAc8GIGvUqmpdurUxPerejvff+aKd1Pk6a9/0AmfSc83TMqXRj9WkSJ/STAQQQACBAgiQFAEEEEAAAQQQQAABBBBAILECng1Atmnf2K6/+WzTY35ESnPtjWdZhYrl8kvK8pIRoFQEEEAAAQQQQAABBBBAAAEEEPC/AC1MUQHPBiAL2l+7V6pgB7dqVNDVSI8AAggggAACCCCAAAII+EyA5iCAAAIIIFC8Ar4PQOry68OPbmnVqld2puLlpTQEEEAAAQQQQCCKALMRQAABBBBAAAEEEEgRAc8EILud0N4+WDjW5i8d70zDRp3vBBT1GJoX+bhg2VM2fd4D1rV7O0tP90xTU2To0UwEkkOAWiCAAAIIIIAAAggggAACCCCAQGIFkiEqF1MLS5UqZRUrlnPu46h7OZYvX9YJKupRr90mLQsEAk7+W7dutw0bNjnP+YMAAggggAACCCCAAAIIIIAAAsUuQIEIIJCiAp4JQBa1f35c8at9NOPTombD+ggggAACCCCAAAIIeFyA6iOAAAIIIIAAAsUr4PsA5LZt2+3TBcts9KgJxStLaQgggAACCOQlwDIEEEAAAQQQQAABBBBAIEUEPBOAnDJptrVtfL41q9vbmYZe/Yj9/ttfpsfQPLfH/9v/XDvntFvsi8++S5EupZkFESAtAggggAACCCCAAAIIIIAAAgj4X4AWlqyAZwKQJctE6QgggAACCCCAAAIIIIAAAkUUYHUEEEAAgRQV8GwAcsG8pXbnzc+aHlO072g2AggggAACCCBQCAFWQQABBBBAAAEEEECgeAU8G4AUU6nS6damfWM7+fTDbeANfax5y4bWoFFte+y5wTbvyydt/tLxNundO617z45KzoQAAggkjwA1QQABBBBAAAEEEEAAAQQQQCBFBNK82s6mzfezQTf1tVFjLrURd11kRx1ziO1ZtZLddu+lduhhzW233ctbhYrlrNGB+9iAQb2s05EtcjWVGQgggAACCCCAAAIIIIAAAggg4H8BWogAAiUr4NkA5PvvLrRVP/xmO7Zn2BuvzLLTjhtqjfavYw0PqJNLtEatqnbG2cfkms8MBBBAAAEEEEAAAQQQKDYBCkIAAQQQQACBFBXwbACyVZsDbe861W3urC/spuses82btlrbjk2tbNky2V2peT+s+NW2bdtuDYPByaYHN8hexhMEEEAAAQRSU4BWI4AAAggggAACCCCAAALFK+DZAGStvataWnqazQkGIEWm4OK+dWvqqTMp6DjuoTfshKOutRfGv2sVKpS1uvX/W+4k4g8CJSVAuQgggAACCCCAAAIIIIAAAggg4H8BWugIeDYAmZb2b9W3btnmNKRdhyZWtXol57n+rPntb5s+baGe2nff/mzbtu+w0DrOTP4ggAACCCCAAAIIIIAAAgikhACNRAABBBAoWYF/o3glW4dCla4zHMuWLW3de3ayrt3b2fEndchx+fWK5b/Yyh9WO3nrB2nS0z3bVKcN/EEAAQQQQAABBDwuQPURQAABBBBAAAEEUlTAs1G5b5ausg3rN1mb9o3tnoevsoYH7JPdhQpOfr7o2+zXHY9oYZmZO23Nb39lz+MJAgggkJoCtBoBBBBAAAEEEEAAAQQQQACB4hXwbABSZzd+uvAb27kzK5fYqh9+z778uu8F3axV6wNs7Z/rbf7cr3KlLZEZFIoAAggggAACCCCAAAIIIIAAAv4XoIUIIOAIeDYAqdo/9egUW7rke8vK+i8I+dfaDfbck2/bH2v+tiEjzrErBp5mugT7nw2brUGj2lqNCQEEEEAAAQQQQAABBFJIgKYigAACCCCAQMkKeDoAqfs8XnDmbTb6tgk2ZdJse/zB1+38XiPt9Zc/ssOPbmldjmtr27ftsO+++cnKly9rtfepXrLalI4AAggggEDqCtByBBBAAAEEEEAAAQQQSFEBTwcg1WebN221Z8ZNtaFXP2IP3vOKKSip+dMmz7OjWl9mnVpebJecc5c9/dhb9s3XP2kREwIpLEDTEUAAAQQQQAABBBBAAAEEEEDA/wLJ1ULPByBj4TzqmENs6MhznR+siSU9aXILXNK/py369hlbsnJCntOM+Q9Z20Ob5M6AOQgggAACCCCAAAIIIIBAqgnQXgQQQAABR8CzAUjdz3HoLefaqDGX5jvph2gqVCjnNJg/hROoUq2SlSpdqnArsxYCCCCAAAIIIFCCAhSNAAIIIIAAAgggULICng1ANm62n5146mHWo2enfKd96tYoWWUflK4AblpawActoQkIIFBCAhSLAAIIIIAAAggggAACCCCQogKeDUCmaH8VsdmFX71GrSr2++q1ds5pt1izur2jTp3bXmHz535V+IJYEwEEEEAAAQQQQAABBBBAAAEEiijA6ggklwAByOTqj6StTfW99rSNG7fapwuWJayOrVofaEWdEla5fDIubL3zyTZhiwtbX9Yr+hjFEEPGAGOAMcAYYAyk0BiIw/Et44XxwhhgDDAGGAOxjoGEBRHikLHnA5CbN2217775yb79epXr9NPKNaZp2Vc/2prf/ooDWepl0fTgBla+fFn7Y83fqdd4WowAAggg4HkBGoAAAggggAACCCCAAAIlK+DpAOT2bTvsuSen2cnHXG+nHDvYdTq122B7/92F9vhDb3JpcCHHWtXqe1i58mVs25btdu+jA+zjzx+3L358wfSL2ItXPGcfLBxrI+7sZzVqVS1kCf+u9unCZVbU6d+civ9vYetd/DX9t8TC1jd8vV8+mW/7zHzBjnxvjB3z7t35TYVafth79zllqKzwsovyXHl5sd5FaTPrFn3fgiGGjAHGAGOAMcAYYAwwBhgDjAHGQLKPgX8/8Zf4X9cKeDYAuX7dP7Zs6Ur74rPlrg0LzdQZkr/+/IedcsYRoVk8FlCgSpXdnTMgD+/cyrp0a2N7VN7NAoF/f5AmvVS6Vd+rsvU840gb/+IN1unIFgXMneReFKiRud76bphjB23/1UpnZSSsCeWydjhlqCyVWdSClIfy8lq9i9pu1kcAAQQQQAABBBBINQHaiwACCCSXgGcDkLM+WGz9+owyPeZHWioYJNv/oH2t7aFN8kvKcheBatUr244dGbZo/jIb3P9h5wdozu91q3NGaWbmzuw19q1X0/oP6mV169fKnscTfwq02/KdlcrKLLbGqSyVWdQClYfyKmo+sa6vslRmrOlJhwACCCDgMwGagwACCCCAAAIIIOAIeDYAqct9u53Q3nr07BR1Ovn0w23EXRfZhZefaNX32tP2qlnFaTR/CiYw7uE3rUPzfnbu6bfY1DfmOCsv/GSpXXXhaPvf/K+d16E/9RrUsi7dWode8uhTgYY71hR7y3TWYlEL9Wq9i9ruVF+f9iOAAAIIIIAAAggggAACCJSsgGcDkG3aN7ab7+hno8ZcGnW65e6LrWevI6xK1Uq2c2dWcPrvbL2SZfdH6bq8fc5Hn9vWrduzG1S2bBnbp17N7Ne7nvDgM4FEXnadSCqv1juRJuSNAAIIIIAAAggggAACCMRRgKwQcBXwbADStTV5zPzzj3X25eff55GCRYUR+HPNetsZdhl2YfJgHQQQQAABBBBAAAEEEIinAHkhgAACCCCQXAIpEYDUmXpvvznXVv6wOrn0PVCb5i0b2qR377QvfnzBFix7yobffmGOWu+2e3kLpP37gzRakJmRaRvWb9JTJgQQQAABBFJbgNYjgAACCCCAAAIIIICAI+D5AOS2bdttxfJf7NuvV+Waln31o7016WO74vx77JH7XnMazJ+CCXTv2dEa7F/H+dXr8uXLWqejWuT4MZ+GwWW67DqU67p1G23B3K9CL3lEoMQFqAACCCCAAAIIIIAAAggggAACCJSsQHEEIBPWwoyMTHt1wgd2Uufr7JRjB+eaTjtuqA25eqzpB1MSVgmfZ7xl07Ycl1hnZuy0TZu2Oq1u0Ki2tevY1NJ2nQGpYPCklz602TMXO8v5gwACCCCAAAIIIIAAAgggkFICNBYBBBBwFfBsAHL9un9s6ZIfbO6sL1wbxsz4CDz24Os2d/YSy9x1n8dVP/5mX36+wo4/qYONfmSA7VO3hlPQ1q3b7bWJM+2Bu15yXvMHAQQQQAABBBBAoKQEKBcBBBBAAAEEEEguAU8EIGvUqmrdTmhvZ194nN06+hIbNeZSO7ZHe/t51Rpb9/fGXKK6b+Hbs8bYUy8NMz3PlYAZMQvo/pmXn3eX3XHzM/b1lz/awa0aOfeDvOP+y61e/Zr219oN9u5bn9hl59xltw9/JuZ8SYgAAgj4XoAGIoAAAggggAACCCCAAAIIOAKeCED+X9sD7aZRF9p1w86yE089zHr07GTdT+5ohx7WzCrvuZvTkPA/X3z2nT3x8Ju2T9297O6HrrROR7YIX8zzQgi8+Ox0O/34odbmoPOseb0+1qxub2vRoK8dccildu3lDyTtZe6FaCqrIIAAAggggAACCCCAAAIIIICAxwSobnILeCIAOfWNOfbZ/75xJLOysuynlWts1E1PW9cO/W3WB+73G9S9CK+59H7btHGr9R/Uy+rWr+Wszx8EEEAAAQQQQAABBBBAAIGECJApAggggAACrgKeCEA2PbiBNWhUx7kP4Yx3Ftqp3QabzshzbVHYTJ0JOeaOiVZxt/LWs9cRYUt4igACCCCAAAII+FWAdiGAAAIIIIAAAgggkFwCnghAVq2+h5UrX8aWffWj3TjwUdN9CWNl1C8y64dq2hzaONZVSIcAAggUXYAcEEAAAQQQQAABBBBAAAEEEEDAEfBEALJSpYqWFgjYxx9+XqDZ31VQAAAQAElEQVTgo9PC4J8vP1/hnAXZvlOz4Cv+I4AAAggggAACCCCAAAIIIICAnwRoCwIIJLeAJwKQIty2fYet/OE3PS3wlJGx0ypULGfVqlcu8LqsgAACCCCAAAIIIIAAAjEJkAgBBBBAAAEEEHAVSHOdm4Qz09PTbLfdyxeqZnXr17SyZUoXal1WQgABBBBAwFsC1BYBBBBAAAEEEEAAAQQQSC4BTwQg//xjne3cmWWHtDmwwHo687HNoU0skBawbdu2F3h9VkCgUAKshAACCCCAAAIIIIAAAggggAAC/heghTEJeCIA+fmny23D+k12RJdWds2Q3jE1TIkUfBx22/nWvGVD27Rxq/3685+azYQAAggggAACCCCAAAIIIOAjAZqCAAIIIJDcAp4IQG7etNW+/XqVlSlT2s7ud5y9PHWU9erb2bmvoxtvjVpVrd/lJ9pr79xhx5/UwXT59qqVv5l+jMYtPfMQQAABBBBAAAEEiixABggggAACCCCAAAIIuAp4IgCpmn84Y5FzFqSCiQc1rWc33nq+zV3yhC34+imbv3R89rRg2VM2fd4DdtWgXlZn370sEAjY1q3b7ZOPv1Q2TAgggIDPBWgeAggggAACCCCAAAIIIIAAAskl4JkA5LTJ8+yj9z+1zMyd2YIKRpavUNY5E1KXW2sqX76sE3QMJcrKyrLF//vWJj7zXmhW4h8pAQEEEEAAAQQQQAABBBBAAAEE/C9ACxFAICaBtJhSJUmi24Y9bfPnfGkKKsZapZ9W/m7PPvG26TLuWNchHQIIIIAAAggggAACCHhHgJoigAACCCCAQHILeCoAqSDi1ZfcZ6+/9KFt27Y9T1kFKZcsXmFDBoy12TMX55mWhQgggAACCCBQZAEyQAABBBBAAAEEEEAAAQRcBTwVgFQLFIQcfv04u/Tsu+zdtz6xtX+ut8yMTC1yzozc+M8WW7xouY0Y8qT1PnGYffHZd84y/iCQGgK0EgEEEEAAAQQQQAABBBBAAAEE/C/grRZ6LgAZ4l34yVK79vIH7IhDLrUWDfpas7q9rXm9Pta+6QXWt+dwe23iB6GkPCKAAAIIIIAAAggggAACCCAQfwFyRAABBBCIScCzAciYWkciBBBAAAEEEEAAAd8L0EAEEEAAAQQQQACB5BYgAJnc/UPtEEAAAUegRuZ6O3HjIhv49zQb/NeUhEwD/n7HKUNlOYUW7A+pEUAAAQQQQAABBBBAAAEEEHAVIADpyuLVmdQbAQT8KKCAYN8Nc+yg7b9a6ayMhDWxXNYOpwyVpTITVhAZI4AAAggggAACCCCAQBEFWB0BbwkQgPRWf1FbBBBIQYF2W76zUln//thWcTRfZanM4iiLMhBAAAEEEPC0AJVHAAEEEEAAgZgECEDGxEQiBBBAoOQEGu5YU+yF62zLYi+UAhEopACrIYAAAggggAACCCCAQHILEIBM7v6hdgh4RYB6JlAgkZddJ7DaZI0AAggggAACCCCAAAIIIOA/gUK1KCUCkEd3bW3jJgy1w45qUSgkVkIAAQQQQAABBBBAAAEEEEAgeQSoCQIIIOAtgZQIQHbu1tqaNNvP9qi8u7d6h9oigAACCCCAAAIIJK8ANUMAAQQQQAABBBCISSDpA5DHn9TB5n35pC1ZOaHQU/eTO1p6etI3NaYOIxECCCCAQE4BXiGAAAIIIIAAAggggAACCCS3QNJH5dLS0iwtLZDcitQOAQQQQAABBBBAAAEEEEAAAQQQ8L8ALUSgUAJJH4AsVKtYCQEEEEAAAQQQQAABBBDwrQANQwABBBBAwFsCBCC91V/UFgEEEEAAAQSSRYB6IIAAAggggAACCCCAQEwCnglALl603PqcdJM1q9u7wNMLT71jGRmZMYGQCAEEvCVAbRFAAAEEEEAAAQQQQAABBBBAILkF4hGATHgLt27dbh+8t9C++Oy7QpX1+afL7a+1G4JByIxCrc9KCCCAAAIIIIAAAggggAACCCBgECCAAAKFEkj6AOSCeUvt1hvG29tvzitUA7XSpo1bTEHIaZMLn4fyYUIAAQQQQAABBBBAoOQFqAECCCCAAAIIIOAtgaQPQP6+eq1Nn7bA9FhY2qrV9rAmzfezVm0OLGwWrIcAAggggEBOAV4hgAACCCCAAAIIIIAAAgjEJJD0Acj8WtG8ZUMbcWc/e2nqbfbaO3e4TlcN6mV7165mtetUzy87lntMgOoigAACCCCAAAIIIIAAAggggID/BWihtwU8HYDs0bOTPfDEQOt5xpHWuGl92/+gfV2natUre7uXqD0CCCCAAAIIIIAAAgggUPIC1AABBBBAAIFCCXg6AHnqmUeaLq+OpeX6IZsNGzbFkpQ0CCCAAAIIIIBAEgtQNQQQQAABBBBAAAEEvCXg2QCk7udYe5/qMWlnZWXZ4kXf2kczPo0pPYkQQACBfAVIgAACCCCAAAIIIIAAAggggAACMQl4NgBZa++qVnG3Cvbrz3/aqxM+sHtvn2C//brWJj7znj0//h2bMmm2M019Y45Nfm22DRkwNiYQEiGAAAIIIIAAAggggAACCCCAQHIJUBsEEPC2gGcDkGlpabZ16zZ7+vG3bMSQJ+ypR98KBiP/sAOb1LMH73nZhl79iDMN7v+wLV/2k11+zane7ilqjwACCCCAAAIIIIBAyQpQOgIIIIAAAgggUCgBzwYg1dqdO7Ns65ZteupMXyxeEQxA1rVL+/d0Xof+bN++w9p3bGZND24QmsUjAggggAACHhWg2ggggAACCCCAAAIIIICAtwQ8G4D88491jnT/68+wRd8+Yy+8cYstXfK9bd+2w/peeJy9MeNuu+P+y+2+x6+2ywacYrVqV7O69Ws66/AHgSILkAECCCCAAAIIIIAAAggggAACCPhfgBbGRcCzAch5s5fY+r83WtVqe1iZsqVtv4a1rVSpUqZ7Qqanp1mDRrXt+JM62NFdW1vlKrtbWlogOHm2ucY/BBBAAAEEEEAAAQQQQCBVBWg3AggggIC3BTwdkfvsf9+YLsNWFyjAqEcFJjN2ZOppjumffzbbmt/+yjGPFwgggAACCCCAAAIxC5AQAQQQQAABBBBAAIFCCXg6ADnh6Xftu29+chr+08rf7YvPvrPJr82y77/7xZkX+pOVlWWL//etzZ/7VWgWjwgggIBHBag2AggggAACCCCAAAIIIIAAAt4S8HQAcsXyX+yy8+62ay65zy4//x5b+cNq0zz9Kvas9z+zdX/940xTJs22mwY9Hr+eIScEEEAAAQQQQAABBBBAAAEEEPC/AC1EAIG4CHg2ANm8ZUO7fvjZVqPmnjZ92gL7ffXabBCdCXn5+Xdbp5YXO9NLz82wk08/Ins5TxBAAAEEEEAAAQQQQMA7AtQUAQQQQAABBLwt4NkAZN36tazLcW1Mj/l1gdJ0P7lDTGnzy4vlCCCAAAL5C9TIXG8nblxkA/+eZoP/mpKQacDf7zhlqKz8a0SKOAiQBQIIIIAAAggggAACCCBQKAHPBiAL0tpSpdJsj8q7W70GtQqyGmkRSEIBqoRA8gsoINh3wxw7aPuvVjorI2EVLpe1wylDZanMhBVExggggAACCCCAAAIIIIBAsQv4q0BfByBr1KpqPXsdYaf16WxVqu5ulSpV9Ffv0RoEEEAgCQXabfnOSmVlFlvNVJbKLLYCKQgBBBBAAAEEUkeAliKAAAIIxEXAMwHIHj072fyl423JygnONGrMpVajZhXTY2he5OOMTx60EXddZM1aNLBAIBAXMDJBAAEEEMhboOGONXknSMBSnW2ZgGzJEgEEkkSAaiCAAAIIIIAAAgh4W8AzAciiMv/zz2Zb89tfRc2G9RFAAIFUFYi53Ym87DrmSpAQAQQQQAABBBBAAAEEEEAgaQRSIgCZlZVly7780ebP/Spp4AtXEdZCAAEEEEAAAQQQQAABBBBAAAH/C9BCBPwl4JkAZEZGhm3atNU275q2bNlmmZk7TY+heW6Pv/78h7064QMbdNVD/uo5WoMAAggggAACCCCAAAKJFSB3BBBAAAEEEIiLgGcCkNMmz7OjWl9mbRuf70wjh463P/9YZ3oMzXN77Nqhv90y9EkncBkXMTJBAAEEEEAAgWIVoDAEEEAAAQQQQAABBBDwtoBnApDeZqb2CHhegAYggAACCCCAAAIIIIAAAggggID/BRLSQs8GIKdMmm2d215hegzJND24gfXo2cmZ9Dw0n0cEEEAAAQQQQAABBBBAAAEEvCNATRFAAAF/CXg2ABneDedf2sNm/m+sTXjzFhs15lJn0vOpH91rPXsdEZ6U5wgggAACCCCAAAIIxCZAKgQQQAABBBBAAIG4CHg+AHnr6EvsqmtPt2rVK1sgEMhGCQQCtm+9mjZ05Ll21aBe2fN5ggACCCDgLQFqiwACCCCAAAIIIIAAAggg4G0BTwcgTznzKDvqmP+z9FLpUXuhbNkydnqfo63bCe2jpmFBvgIkQAABBBBAAAEEEEAAAQQQQAAB/wvQQgQSIuDpAKSCj7tXqpAvzB6Vd7PuJ3fKNx0JEEAAAQQQQAABBBBAAIGSF6AGCCCAAAII+EvAswFI/chMw/3r2LZt2+39dxfa0Ksfsc7trrRmdXs7U9vG59uNAx+1+XO/sh3bM0xptY6/uo/WIIAAAggggEDCBMgYAQQQQAABBBBAAAEE4iLg2QBk3fo1rUKFsvbis9NtwEVjnF/D/n312myUzZu22puvzrILz7zNXn5hhpUrX8b2rlMtezlPEEDAGwLUEgEEEEAAAQQQQAABBBBAAAEEvC0QSwAyKVuYlpZm27bvsG+Wrsq3fl998YPt2JFhuh9kvolJgAACCCCAAAIIIIAAAggggEBqCtBqBBBAICECng1ASqNcuTLOpdV6nteky6+VNq80LEMAAQQQQAABBBBAIDkEqAUCCCCAAAIIIOAvAc8GIH/5+Q/bumWbndr7KLv2xj5Wo1bVXD2jeUNHnmtnnN3FSat1ciViBgIIIIAAAm4CzEMAAQQQQAABBBBAAAEEEIiLgGcDkJ8uWGa//PSHVdqjop3T73ibPu8BW7DsKZu/dLwz6bnmnXn2MVahYjknrdaJixqZFJsABSGAAAIIIIAAAggggAACCCCAgP8FaKG/BTwbgFS3zJq52LZu3a6nFggErHz5sk6wUQFHPQ8EAs6yLVu22XtvL3Ce8wcBBBBAAAEEEEAAAQQQQMBVgJkIIIAAAggkRCAtIbkWU6ZPjp1s7039xDIzd0YtUcumvz3fXnjqnahpWIAAAggggAACCCSPADVBAAEEEEAAAQQQQMBfAp4OQKorbhv2tL303HTb+M8WvcwxaZ6WKU2OBbxAAAEE8hNgOQIIIIAAAggggAACCCCAAAIIxEUgqQOQsbRw86atdvvwZ+ykLoOcxzdfnWWawucpTSx5kQYBBBBAAAEEEEAAAQQQQAABBIpfgBIRQMDfAp4IQB52VAt74Y1b7LV3LimFdwAAEABJREFU7sie9FrzQ93z++q1NuHpd+3GgY86k55rXmg5jwgggAACCCCAAAIIIJCnAAsRQAABBBBAAIGECHgiALlH5d2t4f51bP+D9nWmBsHnZcqUsm1bdyQEhUwRQAABBBAoOQFKRgABBBBAAAEEEEAAAQT8JeCJAGSIPCsry5Z++YNdft7ddtpxQ23+3K9Ci3hEIL4C5IYAAggggAACCCCAAAIIIIAAAv4XoIXFIuCZAKSCj7M/WGznnT7S5nz0ebHgUAgCCCCAAAIIIIAAAggggEDiBSgBAQQQQMDfAp4JQG7Zss0+DgYeC/ODMmeec4zN/N9Y69Gzk797k9YhgAACCCCAAAKFF2BNBBBAAAEEEEAAAQQSIuCZAGRm5k7b+M+WQiHo/pFly5Yp1LqshAACCBSvAKUhgAACCCCAAAIIIIAAAggg4C8BzwQgy5UrY/2uODH7V7DDfxE7r+evv3en9Tilk6WnF6Cp/upjWoMAAgggEKNAjcz1duLGRTbw72k2+K8pCZkG/P2OU4bKirFa+SZTXtTbvb8S4Z1vh5AAAQQQQAABBLwjQE0RQKBYBDwTlStdupTVb7C37X/QvgWaGh6wj5UvX7ZYMCkEAQQQQMC7Agri9d0wxw7a/quVzspIWEPKZe1wylBZKrOoBSkP5UW93SXj7e1eCnMRQKCoAqyPAAIIIIAAAv4W8EwA0t/dQOsQQAABBEpaoN2W76xUVmaxVUNlqcyiFqg8lFdR8zGzmLJQWSozpsR5JFIeyiuPJHFdpLJUZlwzJTMEEEAAAQQQQAABBBCISYAAZExMJEKguAQoBwEESkqg4Y41xV60zlosaqHUO3bBeHjHXhopEUAAAQQQQAABBBDISyC1lnkmALljR4b9sOJX+/brVQWaVv6w2nZsT9yldKk1XGgtAggg4F+BRF52nUg16p1IXfJGAAEEEPC9AA1EAAEEECgWAc8EILdu3W7jHnrTTjl2cIGm7kcMtJdfmGEZGcV3WV2x9ByFIIAAAggggAACPhGgGQgggAACCCCAAAL+FvBMADIQCFipUoWr7soffrPt23f4uydpHQIIIFA0AdZGAAEEEEAAAQQQQAABBBBAICEChYvoJaQqeWeqX7Juc2iTvBNFWfrBe4ts1LCnbcG8pVFSJMts6oEAAggggAACCCCAAAIIIIAAAv4XoIUIpJaAZwKQ6elp1q1Hexv3wlBr3rJhgXrp99Vrbfq0BabHAq1IYgQQQAABBBBAAAEEEPCvAC1DAAEEEEAAgWIR8EwAUhrppdKtXcemThBy9Nj+1qBRbc1mQgABBBBAAAEPC1B1BBBAAAEEEEAAAQQQ8LeAJwKQ69f9Y999+3P2r1//vGqN1dy7qtXep7q/e4fWIVB8ApSEAAIIIIAAAggggAACCCCAAAL+FyiRFnoiADnrg8XW56Sb7JRjB2dPeq35JaJGoQgggAACCCCAAAIIIIAAAggUWoAVEUAAgdQS8EQAMrW6hNYigAACCCCAAAIIFIsAhSCAAAIIIIAAAggUiwAByGJhphAEEEAAgWgCzEcAAQQQQAABBBBAAAEEEPC3AAFIf/dvrK0jHQIIIIAAAggggAACCCCAAAII+F+AFiJQIgIEIEuEnUIRQAABBBBAAAEEEEAgdQVoOQIIIIAAAqklQAAytfqb1iKAAAIIIIBASIBHBBBAAAEEEEAAAQQQKBYBApDFwkwhCCAQTYD5CCCAAAIIIIAAAggggAACCCDgbwEFIP3dQlqHAAIIIIAAAggggAACCCCAAAISYEIAAQRKRIAAZImwUygCCCCAAAIIIIBA6grQcgQQQAABBBBAILUECECmVn/TWgQQQACBkACPCCCAAAIIIIAAAggggAACxSJAALJYmCkkmgDzEUAAAQQQQAABBBBAAAEEEEDA/wK0MLUFCECmdv/TegQQQAABBBBAAAEEEEgdAVqKAAIIIIBAiQgQgCwRdgpFAAEEEEAAgdQVoOUIIIAAAggggAACCKSWAAHI1OpvWosAAiEBHhFAAAEEEEAAAQQQQAABBBBAoFgESjQAWSwtpBAEEEAAAQQQQAABBBBAAAEEEChRAQpHAIHUFiAAmdr9T+sRQAABBBBAAAEEUkeAliKAAAIIIIAAAiUiQACyRNgpFAEEEEAgdQVoOQIIIIAAAggggAACCCCQWgIEIFOrv2ltSIBHBBBAAAEECilQI3O9nbhxkQ38e5oN/mtKQqYBf7/jlKGyClnN7NWUh5fqG6o49Y4+tuI5PvCO7hzavuPpzbiO7h1PZ8Z1dOdEjOv/Z+8s4KWovjh+lg5BULpLpAVBpJQQQbpDSkq6QbobpLsbpDsElO5QRMCikZRWTOI/3wuz/3n7dl+xO28fXD7ctxN35p45c+fec34nbkTlt/4ePfcT/T2avVokovaT/z+B/2xpANJ/3oWmRHNAc0BzQHNAc0BzwM85gBBa9/5eyfzvFYn65KHPqI3x5D/VBm3RZlgb4lruEVHoNZ9T021ywv2vm/7hvmIIj2p+B80ob/Fb89kePputaH6bnHD/661+bd49ovE7otEbUfms6TY5EPSvt7/HoFsLv7MagAw/3uuWNQc0BzQHNAdeKA7oh3kZOJDvr9MS5ckj2x6VtmgzrA1yLfcI6/WhvY62aDO017nW5x7cy/W4r/Zpizaf9/7cg3s9731Cej1t0WZI63uqxz24l6fz3j5OW7T5vPflHtzree8T0utpizZDWt+1HtdyD9fjvtqnLdp83vtzD+71vPcJ6fW0RZshre+pHvfgXp7Oe/s4bdHm896Xe3Cv571PSK+nLdoMaX1P9bgH9/J03tvHaYs2w3pfruUeYb0+tNfRFm2G9jrX+tyDe7ke99U+bdHm896fe3Cv571PSK+nLdoMaX1P9bgH9/J03tvHaYs2vX1ff7mfBiD95U1oOrzDAX0XzQHNAc0BzQHNAR9yIMN/N3x4d/e3xnvR/Zngj0Y0es0n0nSbnAj+93n6h3l3zW+TE8H/Pg+/NZ+D569Z43n4bN5D89vkRPC/LyO/df8Ivl+YNfy6f5hEuvl9mel2ww6/OKQBSL94DZoIzQHNAc0BzQHNAc2BiMABX4Zd++L5Ixq9Jg803SYn7PnV/NZ8DooDwfWPoK4Nz3Oabnu5H9H4HdHoNd+mptvkhD2/EZXf9nAn9K1oADL0PNNXaA5oDmgOaA5oDmgOaA74Ewc0LZoDmgOaA5oDmgOaA5oDmgOaA37NAQ1A+vXr0cRpDmgORBwOaEo1BzQHNAc0BzQHNAc0BzQHNAc0BzQHNAc0BzQH3HHgxQIg3T2hPqY5oDmgOaA5oDmgOaA5oDmgOaA5oDmgOaA5oDnwYnFAP43mgOZAhOKABiAj1OvSxGoOaA5oDmgOaA5oDmgOaA5oDvgPBzQlmgOaA5oDmgOaA5oDmgMh4YAGIEPCJV1Hc0BzQHNAc0BzwH85oCnTHNAc0BzQHNAc0BzQHNAc0BzQHNAc8GsOaADSr1+PJi7icEBTqjmgOaA5oDmgOaA5oDmgOaA5oDmgOaA5oDmgOfDic0A/YVg4oAHIsHBNX6M5oDmgOaA5oDmgOaA5oDmgOaA5oDmgORB+HNAtaw5oDmgOaA5EKA5oADJCvS5NrOaA5oDmgOaA5oDmgOaA/3BAU6I5oDmgOaA5oDmgOaA5oDmgORASDmgAMiRc0nU0BzQHNAf8lwOaMs0BzQHNAc0BzQHNAc0BzQHNAc0BzQHNAc0Bv+aABiC98nr0TTQHNAc0BzQHNAc0BzQHNAc0BzQHNAc0BzQHNAdefA7oJ9Qc0BwICwc0ABkWrulrNAc0BzQHNAc0BzQHNAc0BzQHNAfCjwO6Zc0BzQHNAc0BzQHNgQjFAQ1ARqjXpYnVHNAc0BzQHNAc8B8OaEo0BzQHNAc0BzQHNAc0BzQHNAc0BzQHQsIBDUCGhEu6juaA/3JAU6Y5oDmgOaA5oDmgOaA5oDmgOaA5oDmgOaA5oDnw4nMgQj+hBiAj9OvTxGsOaA5oDmgOaA5oDmgOaA5oDmgOaA5oDtjHAd2S5oDmgOaA5kBYOKAByLBwTV+jOaA5oDmgOaA5oDmgOaA5EH4c0C1rDmgOaA5oDmgOaA5oDmgORCgOaAAyQr0uTazmgOaA5oD/cEBTojmgOaA5oDmgOaA5oDmgOaA5oDmgOaA5oDkQEg5oADIkXPLfOpoyzQHNAc0BzQHNAc0BzQHNAc0BzQHNAc0BzQHNgRefA/oJNQciNAc0ABmhX58mXnNAc0BzQHNAc0BzQHNAc0BzQHPAPg7oljQHNAc0BzQHNAc0B8LCAQ1AhoVrL9k1iZO+Lv2GfSqb946Voz/Ple8vLFLl8E9zZN32kdK2S02JFTvGS8YV/biaA5oDmgOaA+HGAd2w5oDmgOaA5oDmgOaA5oDmgOaA5kCE4oAGICPU67Kf2Bp1i8vidQOkcs2ikjR5Ajl5/KzUrthbmtUbJlcv35Q06ZJKo+blZNnGwVL0w9z2E6hbDDcO6IY1BzQHNAc0BzQHNAc0BzQHNAc0BzQHNAc0BzQHXnwOeOMJNQDpDS6+oPeoXqe4tO1cUxIkjKee8NeLv0m/bjPk+LenZe/O72TquFVy/94DcTgckipNEukxoL68VzSnqqv/aA5oDmgOaA5oDmgOaA5oDmgOaA5oDmgOeI0D+kaaA5oDmgMRmgMagIzQr893xBNSXblGEYkTN5azkZPHz8iZXy479zes3iu/Xrrh3E+U5DWpYYCWzgN6Q3NAc0BzQHNAc0BzQHPgheKAfhjNAc0BzQHNAc0BzQHNAc2BsHBAA5Bh4dpLcE35Ku9JugzJnU/66OEjuXb1tnPf3Lhx7Y65qTwhM2VLI+8WyOo8pjc0BzQHNAe8zgF9Q80BzQHNAc0BzQHNAc0BzQHNAc0BzQHNgQjFAQ1ARqjXZR+xyVMmkmjRojgbfPz4ifzz97/OfXPj9q375qb6jRs3tiRLkUBth/bPwVNz5XlLpWu3JTxKWOkOD1ppM6z0mtdxj/AoZvth/Q0PmmkzrPSa13GP8Chm+6H9DQ9aaTO0dLrW5x7hUVzpCO1+eNBMm6Gl07U+9wiP4kpHaPfDg2baDC2dZn2uDY9ith/W3/CgmTbDSq95HfcIj2K2H9bf8KCZNsNKr3kd9wiPYrYf2t/woJU2Q0una33uER7FlY7Q7ocHzbQZWjpd63OP8CiudIR2Pzxops3Q0mnW59rwKGb7Yf0ND5ppM6z0mtdxj/AoZvth/Q0PmmkzrPRyXWhxGDvrawDSTm5HoLbivhpbIkeJHGqKoxjXAF6G+kJ9geaA5oDmgOaA5oDmgOaA5oDmgOaAJw7o45oDmgOaA5oDmgMRmgMagIzQr893xLO4DGHXoW3h4aNHcuvmvdBepuq/m+UT0UXzQPcB3Qd0H9B9wH/7gH43+t3oPqD7gO4Dug/oPqD7gO4Dug/4bx9Q4Iqf/tEApJ++mPAm68w+vDsAABAASURBVPKlG/Lvvw+dZESK5JDoMaI5982N116Pa26qX4DLs5aFatRB/UdzwJsc0PfSHNAc0BzQHNAc0BzQHNAc0BzQHNAc0BzQHNAciFAciBQWavU1Lz4H1q7YLefPXnU+KOHYadIlde6bG4mSxDc35cmTJ/LjifNycN9J5zG9oTmgOaA5oDmgOaA5oDmgOaA5oDmgOaA5EHE5oCnXHNAc0BzwBgc0AOkNLr6A9/jzwd+y/Itt8vv9P51PlzFTSsmRK4Nzv0zFgpIiZSLn/o1rt2XJgq+c+3pDc0BzQHNAc0BzQHNAc0BzwCsc0DfRHNAc0BzQHNAc0BzQHIjQHNAAZIR+fb4lfqkBJo4dvlhu/nZXNZQ0eQLp1KO2AiELFn5LmrapJCxWg+fjxfPXZFCvObJ7+zFVV//RHNAc0Bx48Tign0hzQHNAc0BzQHNAc0BzQHNAc0BzQHNAcyAsHNAAZFi49hJds2T+V1KzXC9ZuXi7XL18U7LmSCcLV/eXKfO6CIAkYdozJ6+TaqW7y/atR33PGd2C5oDmgOaA5oDmgOaA5oDmgOaA5oDmgOaA5oDmwIvPAf2ELxQHNAD5Qr1O3zzM9au3pE+X6VKyYFvJnfETyZ66lirvvFlfyhXtKGOHLRZCtn3Tur6r5oDmgOaA5oDmgOaA5oDmgOaA5kB4cUC3qzmgOaA5oDmgOeANDmgA0htc1PfQHNAc0BzQHNAc0BzQHPAdB/SdNQc0BzQHNAc0BzQHNAc0BzQHIjQHNAAZoV+fJl5zQHPAPg7oljQHNAc0BzQHNAc0BzQHNAc0BzQHNAc0BzQHNAfCwoGIBUCG5Qn1NZoDmgOaA5oDmgOaA5oDmgOaA5oDmgOaA5oDmgMRiwOaWs0BzYEXigMagHyhXqd+GM0BzQHNAc0BzQHNAc0BzQHNAe9xQN9Jc0BzQHNAc0BzQHNAc8AbHNAApDe4qO+hOaA5oDmgOaA54DsO6DtrDmgOaA5oDmgOaA5oDmgOaA5oDmgORGgOaAAyQr8+Tbx9HNAtPQ8HYr8SUzJlTfM8t9DXag5oDniJA0mSJZA33kzppbvp22gOaA5oDmgOaA5oDmgOaA5oDrxoHNDP4wsOaADSF1zV99Qc0BwIwIH+w5vKknVDpG3njwMc1zuaA5oD9nIAY8CICW3li7WDpXrt4vY2rlvTHNAceCE4UKR4btn97QyZ+UVvYUx5IR7KTx/ipee1n74XfyKrdoNScvjHeTJ0TCt/IkvTojmgOaA54JYDGoB0yxZ9UHNAc8BbHOjUs66UqVhI4r4aWz5tWVGDkN5irL6P5kAYOIAxIF+h7PJ6glelc+9PNAgZBh6+bJfo59UcsHIA7+kuxtiRIlUiKfzB2zJu+mcahLQyyIvbmtdeZOYLeisA6lYdqkmChPGkco1iGoR8Qd+zfizNgReJAxqAfJHepn4WzQE/4wBW2TqGZfbRo8fy6OEjpaRoEDLUL8lrF3zyaVmpWL2I1+6nbxSxOIAx4KNyBeSfv/8VvkkNQobv+9PfY/jyX7ceeg4AiH0+oa1K4cCcHjlypBcGhPS371HzOvT982W7AvCxz5BPJWGi+GpOjxotigYhX7ZOoJ9XcyACckADkCF6abqS5oDmQFg4kC5DcpkzbZ1kTVld+nSdJnfv/K5ByLAw0gvXdOxeWzr1qCNvZkrthbvpW0Q0DhAmmTjJazKkz2zJmqq6TB6zTP42gEgNQobPm9TfY/jwPSK12n94M8Fo4E80N2ldWWLGiiENPx4gdSr3ltM/X5IXAYT0x+9R89p/en6uPG9KoSI5/YegZ5Q0blFRbly7I9XKdJVOrcbI9Wu3RYOQz5jjlR99E80BzQFfcEADkL7gqr6n33IAa+HmvRNk4qwugkDht4S+IIQN6DFDxgz7Qj3NwtmbZMSgBRqEVNyw9w/KVeOWlSRSpEhy7sxlext/yVpjgZfu/RvKqMntpc1nNRXg7g8sePDHX/JZq7GyYNYmRc7IwQtlxsRVGoRU3LD3j/4e7eW3P7WGV9var0fJ6MkdghwbRk5qJ1U+LiZ/Gt+tP9HPGFKyYCvZte0bObD3e+ncepz8dOqC70BIGx7eX79HzWsbXn4Im2jRvpqMn/GZ1G9SLoRX2FOtTuVeUqNcN/n2yE+yeukO6dVpsly7clODkPawX7eiOaA5EEYOaAAyjIzTl0VMDvz7z38qF2HpCgXVoigrN38uJcvkj5gPY1AN2NGhW20FdmAJxcvJOByu//MVzC4LVw9UhW0rMREZhASwXrBygPx8daWcu7VW/dJ/XJ/R+rz+sF2sRB4pW+k9Obz/pDx48JfkyPWGP5AVJA3vF3tbZi/pI5t2jVP5xeB9kBf4yUkWdVm/fbQ0al5BKlUvKu26fCxT53UPEmgIT9JDAkKGJ31Bte2PY19Q9JrnIuL3yLzC/DLKANWZb+C9+Tz++gvNn/WqJ+uM73HVlhEq/3B40wpNfYY0kWxvpZdyVd6XgSOaux0bAB8rVC0iv12/I5vW7Q9vsoNsH+CjW/sJERaEjEjfo+Z1kF3RJyeRPZDzin6YR+LFj6OiSPx5McWtmw5K785TIywICcC7eO1gZaDxd9na7HD0EeZG6GaeZJw3z/nzL7rv0LGtBU/7iMJreAuP4XdEkUXoA83aVpFDP8yVszfXqHLkp/nSvV8DTr20RQOQL+2rfzkffN/u43Jo30l58uSJshAycUye21W27p8oDBAMbn7GGY/kfFjqXVm8dpC07lRDgR3d+zeQZRuGhrtnZ4v2VaXAezlUadSiQiD6IyIIiecsEx4h5Xh93Ll1X6JEjax4PWFWZ79eyGPbliNS9J1mUq9qH9my4YDkLZBN0qZPHui9+MsB8oaOndZR4HmmrGmkXOX3ZNLsLuLvuSuhk3DJbVsOS4fmo4R0Aw6HQ7LnzCAouf7CX1c6IiII6a9jnytv3e1HtO+ROXKRYVBifgFUZ75ZsWmY8A7cPZ8/HGMenzynqzQ3hP5sOdJLztwZhUVTiHzgXHjRaC4A5XA4lMdgucqBQchh49ooo+jff/0jVy7fjBAe61ev3JIfTpxT3tQRLRw7on2Pmtdi2z/k2BET20n06FGlZYNhUqJAS1m1dIdkzJTKreHANsKCaejmb3fl1InzESonJOPyzC96S8+BjeTdgtmUvDd7aR81bgfzuOF6unrt4jJ9YU+lg0E386Q/6GFBMQVeM8/g0VujzodSt1FpiQi8joiyCO9h6JhW0rJ9NTl/5or8ePK8PPzvkVoEsmHzCkKf531Qz015oQ9pAPKFfr364dxxAIDg/r0H8ueDvxUQ6XA4JEPGlNK5Vz3ZeXSa9B3aRPzdwwNwpvfgT+XGtdsyfeJq5X3As2bOllaGjG4lDNTsh0dBQGaBi6DajkggJJNDyw7V5eZv9+RDQwAFyCtdpJ1sNsA8kvBjFc/9bpagHjdczrlLqP/Vl4ckRoxoUqqcf3r9wuuP65WUaIbAv3v7t2qyhsd8jz0HNPJroLduw9LG93hH+nWbLmuW75Q509bLjet3hPEGJTdcOkEIG41IIKQ/j31BsTsifo+ECw8a2UKiRYsqU8etlKOHfhS+x2QpEgpgmr+CkJ80LiPv5M9qgHdXZMdXR5UxIHKUyFKybH7lUc04E9S78sU56EmeIpGQp61yyc/UnA1Y5wpCrlu5S+pW6S3btx6Rx48f+4IUr94TBXz11hGS773scvHcVfn9/p8KXPX31bEj4veoee2drsu4tnzTcEHWD+qODZuVN8CCh9Ku6UhD3tsvv/x0SXp9NllaNhwmpDQJ6trwOod35qzFvQ2dJoWcPX1Z/jIMGREhJ2QrQ8Z+r0hOuXXznjFuX5b//n2oZNUGzcpJ1z71w4udQbaLIb9pmyrySpyYqm/gmMAF/qCHQYenwtyNUfyL+Ztl09q9asxGL/BnXvPNRkRZBI/eDz7KK8jY1ct2k9KF26ox5NqVm2qezJw1jbwVAaLSPPWl5zmuAcjn4Z6+NkJyAHDgxPEzxiR3RXp0nCTHv/1FKVUOh0NZJRBMv9o/USbN6Sp2u6UjYBJ+BeASFHMbt6woFy9ckwY1+8vg3rOkSqnOhsJyVAD+3sySWgaPaqlWqQzqHr4617/7dBn3+WKZN2ODDO8/12MzEQWELG5MHmnSJVX5rkyhk8nj4N4Tct9QttYs3yFd2ozz+JzhcYKcVu271jKE0JQBmkcZR4gGxAlwwk924HXCxPFlwsilymOz1PttZMakNfLPP/+qb7Nz709sBSEBKmYY1u1jZxYJv+y7YxXgQsrUieXu3d+disnY4V/Iu1k+kfbNRjmPubvWX44hIEWEnJD+PPZ5epcR9XtEuXI4HNLm089lmDGWVzXmmeVffK2UQ+YoFBmfjiWeGBrM8XyFsssvP16U8h90kAY1+klDY54M7zyFpMCoWb67kKfNNZTWCkLu2XFM5XN7YBhIg3nMcD/Nu2/dqabs3XlM8mdrICULtZZPqvVxgqv+CkJGxO/RH3kNH5kXGQs8dUbq+JMswhxOGoS333lTatYrIf2GN3VLeg4DFHgzSxr5/rszgsxkVuJZu/WtL18fnCwnLiyRL3ePF3+JziB6pFb9j2ThnC+lcO4mymOz7acjIkQ4dqGiOQ1en5YKxTtKsbzNpXPbcWpBnejRo0n9pmX9EoQsUeZdiRfvFRk1ZJHi9Xtvfypfrt/v1MPC2xnE7LPW35qGgT9v/myCfNqn81Rp0WCYDOw5QwG/Jq+J5LFe4w/b/iaLwKMdR6YF++2/VzSX3Lv7hyxb9JWTjTu3fStnz1yRq5dvSvcOE4XITOfJl2hDA5Av0cvWj/p/Dmw2JolESeILAy4THqs5bt6wX1kLqYWQUqpcAZm3vJ+Q/4VcGRw3C5Yvc9tbvwiYCGqEuQUFQpK/MpMhGLH6pAmI8Xv04Cn568+/1eSXKWsa5emB1chb9IX0PtACANmny1Sn4IZV1l34W0QAIdO/kUJixYoR4PGxarHAyPath6VjizHOc4SPNG1T2bkfHhsI/I1bVlIpBpIkfT0QEL3jqyOSLEVCqVC1cLDk2V0BXl+/dkuB12bbQ/vNkTlT14cLCFmidD4BzHg13itC6DoAqUmX9TdFykQSJ25sSZosQbDh7ZPndhNPSo/1nuGxHZ4gJGPEkZ/my5Z9E4Wx0N3z+/vY545mf/weMXTtOz5LKGy7oxsF/N0C2eTC+atCKLBZZ/+e7+XevT8ET0iU8SGjW3p8X+Y1dv/Gfz2u8nxkLqJtV8DPH4AxV5qsICQ0R4RSt1EZefTokWEwWuYk1/W5/IHXTuKMDX/8Hg2ygv3vb7wG7KrXuKwUK/mOeJJX/Y3XyPWfT2ir5nSHw6Hk/xp1PnQ7H0ePEU2iRIkkBd/PodJNIEtz7Ze7x0mT1pWFdDzcD4N/3yFNbDWMuuss0EL0yKUL12XEwPnOKls3HfTrnJDMP3UblZaoUaKoyBGM+xBUOW0QAAAQAElEQVSPoQbZ7/q12+o9+RMISV9o2b6apEiZWM788qtMG78SkpWhmYWjtmw8YIyLj4W+YRcICU149R47s0g5oCiC3Pz5wPhe8aw/efys8+yGNXvlyq+/CWskoBM3blFBANicFcJ5w99kEcY+Ip5Sp02igPGgDBA4JljZh8zEeJk2XTIFPu746qg6TTQJYfE8qzrwEvyJ9BI8Y0R+RE27jziwcsl2uXHtjpQuX0C1QF6/ZvWGSO2KPeX82SuCcuWaJ3LPsRlqFTwG+S/WDlJCibrYC38ImSbMgMHJ4XBI/kLZPQp1yZInVPlnatcvJYB6NI/w8ZEBmK5dsUt2fv2NmJ6QY6d1UgAU5+s0LKWuo76dBWDh05YVPYa/BQVCwg9ot5Ned21FjRpFecNCiyfwkevIDYTFi+3wKKbATzhFLAM0rVKzmKz5epSweI4JotP379z5XYqVeCc8SAzUpnXBmTIVC8nd2//3IjQrI4h6AiEBpXgvZl1v/p747rQg0HPPPw1wH0sm267ltxt3BI+llKkSS9VaH7ieDrAfJUpkAWgNcNCmHYRUcs4gpH7z8wKV6J1vzNp8UCAkdX3Fa9796wlelQwZUwjAr5UmczuijX3++j2WN4wPSZMnEAoLVJn8tf4CpvOueRdzlvRxzh3lqxSW49+eFqsnJIupmKAxHhb0M+u9fL0NneaCMxt2jJH48ePIrxevB2g2KGCM+bdQkZwB6tux40qTKwhZ8P235PSN1fL9+cWy7dBkNY6TeoV8s/AYQwZ5vOyg1bWNd/JnlSzZ0si//z6Uc2cuBzjt+lxWEBK66SMBLrBpx1+/x+Ae3994zbfeqkM1taCjw+FwK6/6I697Dmgo7+TLImOGfSEDe850en3VcANC4rF85vRllY5p2oIegmGs6scfCMZIdINrV28JKW0Ic477amzhXHDv0ZfnMY6mSpNE/v77n0DNBAVCEuXlC2M0YyrjE4Z6xudARBkHMNb3HNhYuvVrIORUP/3TJePo//8HBUL6Uhb5PwWBtxi/CAXu0L2O0h/PnrkSoBJGr6BAyFA4rwS4b3A7zB05cmZQ/bPoh7mFMcPdNYkSxxf6ydT53VWuYeqQsiRW7BgyfMA85zfRqHkF4RvmPOAYhe3wKP4ki1jHPniROMlrwYKQyFnVahVXY4k78JH7wP/3i+YMN90AGuwuGoC0m+O6PZ9zgMkOD8CgGmKSIMdcujdSOD3BmFj6DPlUYhrATafWY2VIn9mClyHChsPhkOQpEwnKGvWmjF0hTOpBtRHSc9yPCS1mrOgqnyMWNa71BEICiPz15z8qf0SKVImoKvUal5EYMaMrpZBwuX27vlPH4cOCVQNl065xgsXO7lwTWIoaNiuvlFfyXVkVEUXgsz+uIGTzdlXkqwOTDLrHStvPaj6rFT4/P546b4BLf0n2nOlVfk0EKlfPR5OyG9fvmJvh8pvGsKptWL1HCdekFiCPTkyjXxQs/JZMnttV9hggegvDcrtv53fy1ttvhGuuUBhE/7AuOINXAYtGYBXnvLW4gpAo4gdPzRUWl/BVvyb0qkHN/sI31aTOIOVVZaXJ3EbhZsXaqNGiSOXqRfzOIww6EZxQpN4vmkspjniJVahWWKYY/YIxiDpmcQUh4TXf40YD3EGQMut58/f7Y78owwkJulnAx929I9LYB/3++j0eO/qz8ihmbrv12z1IDVSuXrkp5Ep2OBySMPFrSjAG+EqXIZmsXbFTurabIGtX7hKMdcyNo6d0kO2Hp0jnnnUl97tZAt3PVweY7yfP6epccCZL9nQGsJpQSpUvqOYda7t8p9YVm1HUtu6bKHOX9VNzu7WuXduuNKFIAug6HA5FAvPmK3FiKc9qxvEGTcup6AYAkYpVi8iBvSdUPbv/JDMA7NivxJL4r8VxO965Phe8Rg5BHilrGJp4b3bRTFvM28VK5JXN6/eHcH4M//nR5I8/8RrwAl4CvPTsNFmOHPxBkekqr6bxQ1lksiG3V/mos0wYuURmTl4jA3vNdIb5ugMhJ4xYKj//eFEYJ3lIfi+cuyboBqQc+LT2QGlWb7CK9In3WlyqhFtJnTapsFgOYI07kAt9pXfnqc5wbABTxutJxtj5frFcXqeb/Jr1GpWR1h1rCPkdXRtA9mvRrprEiRtLkFEBabIZAJprPVcQEn1i6/6Jsm7bKGnX5WPX6j7dZxwhfD+PAWJHiuSQ1wyDKbITYKi1YfRLVxASwA9+85spaxprda9sf3P4RwM8vKvu9ccff8nNG0+31QHLH+Z1+jFzSqo0idUc+WHpfHJgz/fqmxg9dJEgf8WIEU0+bVVJkPtYiIn8yZbb2LoJzf4ii1Sv86F8a8hP+bM3VHmxSQ8VFAh54dxVFUH3cb0SMm5aR3H1fDQZSe5TnBjM/ZfhN9LL8JD6GV8uDgCwLF0/1Gm98fT0Sxd+pQZaLDtMIoRXMJEAdDDpsbjLh/lbqhDbc88s/AyCDNBzpq3zdNtQHye8DVpqlOuu8jk2/2SIAB5xI1ehjmOEipO/Y9vmw4YgNEdNIISL37h+WxD6mfya1x8qhMo5HA7B4kUo7rpVe2zPNVGoSE4B6EVQBVhFmQoJCEkYQBpDoPraeMbBfWbz2LYU3n/3/g2FFa8RshE48Ci9dOG6IdxFExTwwwdOqj7hShB1M2VJI4DDrufs2m/d+HPp1HKMEiRILVCmSFsV1sLCAA7HUxC9RbuqUqdhaQNUiO/R08wOeuHXx/VKSrToUVUfMcF+gDFPuR75Nk1PSK7/79//hFB/b+VQwRMAjwDr8xMStG7lbuc3CZCHUGZah6nLN0c/BzyjD2FQYFzhnLXgFfBm5tQqbMd63NfbKCSdetQVxhryFKGEHTlwSjVLyAdjH2OgOvDsjxWEhNeATAvnbBJvjn3PmlI/pDJoUsdQ6D4ZrCzxoo4G/BORxj4o99fvkRC9hjX6S8sGw6TnZ5MhNVBhDho+YK6wgNKY4YtU/69QpbDyeMPzhwsYa9at2i2PHz8RFuNKmTqJmncWz9vMaVsK3ht4e5w7c0WNI3yLKId4oo+b/pmaH62EMEeaIKTD8XR+3LLxgHRtO95azafbjAMYA6CPbStNzJGAkHnezSzIIcydSxZsFb5XxiLC5CAOWQSPlYWzN7Fre8Hg8uDBX/La6696BG/N58KQ43A4hHC02zfvSb9u04T3ZBfRkw2QBbAic7Y0Br1xI8T8aOWNP/H64vlrwiJKRAvR9xjjkDWh1yqvcpzxAaDPX2QRaKdAK4XvC5nCDPOtYYALeO1xjkJkFM/KONmh+WipU6mXFMnTRDkKcJ5C3/7txh1lrGE/vAoy6n//PRSiMCoZRlB3dGx9Fo59wzCUR44SWQAtT31/VoVou6vvjWORo0RSXnmu9ypX6T35/thpYREUxoJYsWJIS8M4Xr9JOdeqahw03xNGXuSZXdu+kUG9ZgWq68sD9A+AUvQ1E5hm/MarDbnP2jbPZAUhEyaKL4B65Oz/8eR5a1WvbBPKywKZGMtbGPqfqbO63nzkoAWyZtlOWTBzo+rHOK8kT5lQMEpSl2965OAFamGa6NGjKcPjDUO35Djnw6P4kywCbynMxfRJM0e9JxASYPjvv/+VjIbcn+HNVDKo9yy3jgw5DPAdUBhAMzx4HB5tagAyPLiu2/QJB1CSm7WtIkWL5zYsDtGV9YawZk+NMUBj9SHH24RZXZR7NAMKQon1mlVLtyvFHYHf2+Aj7TBRodQzoLGPQMPExaDLvlWoY58yd/p6aVRrgCgBqUZRNUlcu3KLU6pwTzxbvv7ykFLKAPGY+NTJEP55nmqAM+u2j5bh/edJq0bDhckLYJWJFwUrKBAS0BGvmtXLdyow7XnoCM21eN2tN2gm9KBS9aLKujp1Xnd1CxRA3j87RYvnEXJ10N/Yp7CN10qqNElk786n3qcct6MAmvUa1FgAxlzboy+xgmP+7A3UIhLsE54fK3YM4xuJ4TFMw/U+vtgnZOj1hK/K5wPmqwVnAPvnz9qoPLMIxfUEQq5Y/LVhxb8tly/dEJRzBC9v0IdFvv/wZjJiYlu3vKQNeMx7JoSaPJv0c45TJoxaKgf3nRCsy8lSJJSRk9qr3FKmYIqgilfAK3FiKTCBa+wq9O1X4sRUuaGuXbmpDBWtPx2hQCWHwyE5cr0hgKZvvJkyAEkjBy9UdRGgWKCG/QAVwrgDPSMntVNjrvUWgF0UjvFNkYN37rK+AUAkfx/74CXjR4H3cvAYAQrfn798j/t2H5dN6/Y5gSC8HNZ+PUql7DCJ3rhmrzT6uL9SAOn7b+XOKMpS/8dfZhW5f/+BoAwCwE8avUw6txnnPGfHBvP3ie/OqAVnUMAa1xqoIheCmmcAxvbu+k6NNXbPM/TrfsOaqhQuGLTY5hg0mcAotKdJl0wiGyDB6mU7FDharUxXyZ+9obyZrIpaqKFuld7CvGoHj921Qf+5+dtdAezF2ML46a4ez8WYc+f27yrpPosZ8R24q+uLY6ToyJo9nWAccjgcqn8DWNMWdPjL9wg9noo/85p3i/HIHQhpfR5/5TXyPukkWC0awAWQyQpCIkszTqIH8B6sz8R2yTL5JV365LLPGE/YD6+CgZ9vLGq0KFKt1gceZRie4aYBmN67+4daLMpXxoAhfeYIbe3ZcSzAAhwmf2qW7y51KvdSi6CMH7lEAV6EspMH3xMIiayH/Lpm+Q63TgDmvX31O2vKWvng3eZqPG7VcJhTjnOno0EDfQegD4Ca76Rb+4luwSfqhqYwX+BJSfSP9Tq+MYzl/HKcMXnHkanCL/sUzrVvPkrQCdlHX37yROTa1f/rj7dv3VdGcrPfd249TsmB1A+vEp6yCDI8jikUtq08wJgbFAjJYqxHD/6g9IL4r8WRz3rWVXO/9R7Mn+RBxYiAw4v1XHht29GuBiDt4LJuw+cc4AMGPPqsZz1JnS6pMEkhTJC42CpMuBKCJweAAXld3IGP1G/dqYYhtKYSX4CP3N9dYZIAhGTlTofD4TbHjnld5qxphfBtvO+YmDgOkEA5fuy0AncAODluRwGUAZxJkTKR4HFgtskztfn0cwkKhERpz/NuFlltM/iIItjJmBi2bTksHYzJmRAEh8Mh2Q2rVLESeZSiN2/GegGIMQU8vOCmzOsmY6Z2lNVbRwheK1i77OI173fx2sEyekoHISxl1uLeasEkjps8N38RhEgbUKJAS8GaD0iKwE2+PQBMs54dv9CH508qA6z99eKNAMJpn85TBbAXK6AnEJIQCOj0JvgIuGLmtMLTD5CRY7RjFuhG4OM8x2LEiCb0c/o7+/C4X7dpSihlTCG0iBCknUemCqtlLtswVCUlXzT3S0FI5Bq7SvZcGSRBwnhCCgmzzXTpk6lQbDxPOUZYUV8DGLEKWACFaY163gQf4StKBiCdOxASWhjHJs/pKnhQ48nGNsc4Zy3+NPZBHzl5V345XHlQL1g1IEJ8j/ATytma4wAAEABJREFU8LFi1cKS7a30MvZZ3mCOWwvAaty4sSVV6sTO1A08cxZj/mE1R8C/UUMWOgFN67W+2G7VsYYA6DPX7zfAVL4/2sEo16vTlCBByExZ0wj9av2qPYKXFtfZVYhWwEBhGrTivvqKMiDSPmBdt/YTFDAAsAd4xlgU+5WYnHaW49/+oowHzgPhtLFn+zEF7AEcMH4ih7mSguEFryHGkE+q9RFABNc6vtoHaMxsvGuA0tHDFglePjMnrxXy+1nbpO/4y/xopcu67c+8BlwJCQjJ8/gTr4l2wFDOohtPHj9x6g2uICR0My9iEJtkzEt8w+yT33zAiGZqrJk6fiXVvFVCfR/GBORPZA9ow/mCb8/1Rhh+Y8WOIf26TZem9Qar8HHXOt7YZxzGS5Z5gXGNezZuUVE++bQsmwHK1HErZeLopUGCkOgGlPACHwMQbOygz/ToOEnJe8auRx2tQrUiaozs5iXwkbb6D28qH5TMKw2alVP5BznmWgAdO/Woo7xc+WXftQ7jI17pr8aLLXjgmefpN5GjRJIW9YdKh+ajbQMf+R4xgv5ybZWQp3z05A6BjNTQmMMwmNspi/Qd+qkwRlC69a0PCQFKUCAk410/Qy9A7+XbxOt4/MzPlGw4anJ7mb2kj9LhoseILssWbrVNfgrwAOG0Eymc2tXNag54jQMotHgR/H7/T7WITNaU1eXtjHWknzHBXjh3zbAGFpcW7aq6bQ9hmIT6f/35t5z87ozbOssWfW2ANkPFLmAJIhCApi/spQAL9h0Oh8cJ7r+HDw3righKFYo6oMHg0a0E7zKEEq63qwDGNGhaXqJEjqw87DJkTBmgaSZtTyAkgBSWt+ED5ordSmHdhqWFRYnoM2sM8HPOtPVy4/odAZA0PbLw/hrUa6ZgzXQ4HEJYO9ZvADzyepBbqqVhFQ3wwD7cAQxDgAAUJSzP4XAoYABwD7DMU9OEsWJ5rvBBB2XlLFbiHU9VvX4cugj3LVupkJAX6J+//w004QYFQuYwBA8SyGM959v1BoEIW/AyUuTIzgWoABlR/BlbzDY49v13p1X4Gf0EkDqGCwhJ/25Qs79axRsPA66NFj2q8uC7e/cPgXaEFbH5XwxDuAHEqFX/IyHxO80Dbty7+0AafTxAhc1yzLTk8y3ynlggqEeHiULf5/zzFniNYoSC5HA4PI5pCNgF3n9LHA6HKgCRjG08g5UGfxn7oGvqvO6Sr2A2OXTglBo7oJPn9efvERoxvPA9Ro4SWfGaecQdCIlR4PGTJwJ4xnzLPIPx5c0saeSHk+e4lW0Fxb9Zm8pSxxi3c+bOKK4LzqD8egIh6dt/PvhbmtYdHMQ84/1HoY80N+QQFiq7cvk3ad9spCyYtUl6d54SAExEWe/W/ikIGTlyJGXYmjS7i0xf2FPIocj78T51nu/IGIDx5PCP8wQAhn2zttXrm2+aMYN3w7NSh2P0L8YfPOQYHzluR2GcgV4WTcLQNXnMcqlUopPMmLQ6yObDc36EtxGR1zA0NCAk9SnhyWtkkd6DGwuGgCJ5mknWVNWlU6sxHnNC8nxHD/0o5FAGhNz//SxhcUU8v0l5BNDAM/m6oBus3z5GyH/N3MIcY7ZJbkucFth/M0tqYdzAs4p9CnWbt61qyFx/C2knLp6/xmFbCnIHaY06dq/jlEGsDQcFQjKOnD1zRXASAei2XufLbXhN3sazN9fIuVtr5fi5xYLR1BzfGM+CAiHTpk9uGJt3qRzi3pJXGU/LVCyk1gCIHj2a1G9aNhAIidyKQShe/DiKPfy6AyGRvx8+fKzSSzVsXkEIgWcxtxp1Ssi50wEX11E38uEfaB49pb1y+mBBolfjvSKecpSHlyzicDhUzmN3bECunzFpjYqqcA3Hpp80NOTsnV9/I48ePlL85lvECM9z/37/gfTvMV0I7Xd37xf1mAYgX9Q3+xI9F+Di77//KR1bjFYhyTw6wgCAYcmCreSTan1l7owNHHZbSKgfJ25sqVyjmNvzCB5mom23Fbx8EEsVK6wR0lEgRyP5uHwPlSuFZkyAgAmZfcrmdfvl+tVbakLCq4PwYAa37VuP2uptAPhYt1EZWTx/i1z+9YbK7ZcqTRJIDFAYjK0gJMnpWQgA5ap+03KCq32AC3y8A4iHFfDu3d8NwexpaCE5Nt/N8omhJI5yHoMMFMai7zRT3rDk5CJ/zobVe6Rlw+FGGRagLvV9VZi0suXMIFs3HZB3MtWTwnmaqneNN1CmrGkEwRQBO6j2eQ+H9p0UchIiKAVV1xvnENpI4A2I6HA4VP9ASK5YvUig2/dx8YTsPfhTp8DNIhN8k4EuCuOBP4yxY82KnVIsbzPh3RKOxeI9AI5WEBIB0gxFYWwZMWiByiEbwwWEZOzp23Wa5ExfSxp93F9ZkPnN82ZdwcsmjGSG+rJCRXIK4wAXAsggtN29fV9QUDhe4P0cKj0DSkjfLlOdlny8DHYenaa8JU9+f9YA4Y9wi+cu9EfCvPHWJr8uIWPc1HVMo5/8/de/AvBJ/q0fTpyjmvKGdAUh/WXsI78cY0jHlmOkVoUeqi/t2XHMMAw9UYYhf/weFVONP9GiRlHAOOG9e5+lj2AMcQUht2w4aCgllxVImd0Ye5hnPij5jhw7+pPMn7nRuJM9/5kf8fimnwDQ4UFYzKCDfSsF9HkrCGnOMyjvzdpUkXPP8jpbr/HVNrQBzqF8V6/zobBAAIatXp9NVuHrru26gpAAU3nzZ5UFszepCALX+r7ah9csEoZ3NB7UyBcTZnZ2AgiMdf26TVMAKt4drxpKI9/CkZ/mC17feH/nzptJGF95Jl/R6XpflPT6hmLO2IwMkjjp68oI5FovqH2758eIymsrD5mXAYgAmznuOrZzzF2xm9fQgAc1cj/AAXRzjHBsQC5POSGRC81w4X27j8u7WesbescY2+Q+ZGyiFLLmSKdyuxO5M3luNzFlKPhIioPzZ5+CR+gJGItO/bpMfY+A23gjfzFvs200w1f6dotnC87EiRtLWrav7hxDOG8WVxAS0GzBygFCdFuj5uVt1Q0wpHTr10BY0AXPaSKGoL1S9aKycNUAQZ6BbnjuCkKSNgbP2ukLewje194a+2i7fOX3ZfmirxUYa/ZTxjoMLtBDIe8/qayY05E5cVJwB0LioLLP6MfoDUQcMW62aFdVkImXGHoc97Kr8GyvGoAp7Q7sOdM5z6EvMHea/IYeu2UR8mZu3XRQwAGCknUYSzyBkIwxDWr0k4YGEInOiO6IDjl+xBKpVLKzMPbwbC9TifQyPax+1pBzIKLUxIvnjUyphBwLTATu6CbcBkHZ3TmOrVm+U87+8qt8VC6/c1LBuyNfweyctrUADDRpVUmguXuHicKghSIFuMpkATGuQh0TyPCB8wShAyXg3t0/hDxpXdqMo7otBcFIgY/ztgiTB4td0HCadMn4CVR4VyYI6XA4lDBFvhE7FwIwiSJUPI4BQHtaPdCsxy/CXufe9WTc54uFnFxlirQTclxiyee8HQXAFL7ynhHY6Nv0E+jYiYXt0eMQgx5HDv0g0WNEFZREX9P+Vq43RByiclEiZACIodQiOJkCtFj+9bGAkCjwLDjTt+tU9W1Yqj33Jn0RIQ0+crOu7SbIyiXbxB0IyXmzLDTAgBEeQEizDiADuaP4NY/Z8cv4hXcaOWtoD8Go4oedVDoGgNQqNYsJuSi/+/YXTqswrHGGIHTdMGQwhmCl/XLtPuXJqSp44Q9jAhbe4Bbb4j0g0BOKj+DetskIpzAKqGoFIf1h7EubPrkUK/GOfHPoR2UEgFU8A0Yv8iXCT4B2V0CPeq7Fru8RYX7l5s/l9PVVkvvdzEKuYMYQQvIATqErU9Y0YqUZwK5/9xnKGIbCgkLG3Nm8/lCq21YyZk4ljHOkYADEJlS5+EfvCkoK44SVEOZOE4R0OJ7OM1s2HhDmVms9X2/j0VuidD5lJASkS5chudM44Klt+j6AB4u24KVl94Iz8JJFwqIaADXK18G9J5R3RxwXAIHxs3alXkJ+NLO/A/xxPX0EYwPjj6fn9PZxwsCr1Cgqly5cV57IfH9ZsqcVPJShKTTt2fU9QldE5LU7XjKOhAWEtIvX0Ayo8fY7mYT+yXfGMbMABHgCIXlPjD29u0yRLRsO2ArioRsA0vz14G9Zv2q3nDh+RnlTuXpbMb9/XKGnAjSICnM4HGqV6VixY8jNm/fkc0NXQHYxn9fXvxgA6NuME4wjzI2uY4iVBmRaMxwbfpPjd+fXR8XOBWdKlskvNet+qNIDlSvaXjCENqs3RMlJ0Ir8zftgm8KzIbMAKLGPl3uCBK8qXYjQW455oyBLvv/2pyr3OXzq1Wmy0hGju3hCImcxP/ItAkiT/sITCNm/+3Tlpcm3wLz+/bHTQtj1PgOY9AbNIb0HjhA4n3Q15G8Wrqpauovs23VcXc73yvyO3MIBu2UR3i8RE9UMmujD0IDOgrGNbWthrvMEQlKPfNnoauiO6JCkreE9ce5lKxqAfNne+Av2vIT4xooVQ3lTeXo0gMTRkzvI5j3jhTAirIBM5Nb6TNpYyYePbytYrgjJTJ8xhbWKLdslDCUlQaJ4cvb05QDtMQCSE9ITCInQhPdWugQVBM+rAT1mBLjelzuAj41aVBQUVwQ32jp/5ory/kE4YvLgGNbYUZPbC+AI+zzTV5sPKSHQ7pyPtG8WQqofGEIdqwdWrfWBedjtb5QokZ35utxW8PFBwDrCyho0LSdXfv0tQG4WBDtAXQRkBAkAhOA8r1iE6a8//1F5U31MuiDQsIokglNXQ8iYM3W9UmjpIzwXE7orDSTwvnbltnh7wRnXdlz3oe95QEgEpSatK7vNX+Palrf3+b469/5Ebly7Ld3bT3DeHkGYbw6hHhAbYCF69KjO88mSJ5DLv96U0oXbSqn32wiJyulTzgrPucG98Bw1hS1oCWpMM5ujXlAgZHiOfdCY7o3kAqiENwreYRyj4Klw/uxVMYVovkerEM0+74K6ZrHreyQP11tvZxTCrnPmflPqNCqtSOAdASgylnMAGq0gJIBe+Q86SIZEFSVLimrSvllAD3Gu8XXBMME4hxJN/8GjN3LkSMLcCX8D8XTv97Jr27dqrAmPeQZADF5vXr9fyNHG2EweqCGjWwULQmbLmUEIe7cbfOQdFv8oryRMHF8mjl4mTeoMkprlu8vQvnNVyKorgEC/wfCIlzdjPAosXt/IIniPcD+7CgpirYq9hEXN6lTqqbwzaRuP79CCkHZ9jy68jhC8Rp5jzCtVrkAg71LG+NCCkHbxmr6QIlUiwwAXU2LFiu72G2ROQZY1Pcw+rltSpR/4Ys0gGT6+jRzYc0Iw8nMvuwrex1GiRpE+hhG2dePPBWDME9AB/5m/c6StKXyHfI91DCNBvqz1hSgeu2imHSIsyhZtJ1VLdVbjyAjDaItBxXUMoa5ZkBEBHRkr1yzfobxMzXPP80vk0IYdY9x6X8KF1OwAABAASURBVFrv+17RnGoXWVptGH+OGsb6kwboe/fOHwaIOz9QuCxyytQJq4Q0UvC/W/uJgl5pXOqz/4x1vQ1DPe25gpDWRkmh4wmEZOxmHmc+Z15nfmeet17vq23m6plf9BbyZT9+/FhIeWW2BV0YRE35CT2S+R3ZmjrQCK3QDO08A9dwztcFXQWdpVnbKmqhSdf2ggMhXeu/rPsagHxZ3/wL8tzkYXv46JEUfD9HoJWlatYrKYRbMbgxYGTMnFotxJAnXxYZNra1DB3TysmFY0d/FjzKcubOKKlSJ5HxI5eqhUecFWzaQDCKHi2qxIgZPVCLTHAoXFYQcvyMz6RR8wqyee8EAQgMdJGPDyCEFv3wHZXT4tate87WLpy/aih8/ynFPG36p16QTJLRjGcDHAEkQbnF0ojVy+6cj05CjQ0s4L9dvyNRo0WRytWLCEKKcdjv/hMeQahFjBjRJFWaJJIwUfxAgj8TMMo5gtOjZ56Q5A6jnwDAowybD1asRB5B8Ylu3I97mcft+kXADw6ErF7nQ0UO1lxfC3OqIcufrgZIGhYQsnm7arJhx1gpXb6AxIkT03JH328iECEYvWK0+6cBLGd7K0OgRvFEZdGIuK++4hwzY78SU8iVhreQCVQGutAHB8wxDRDJ4XCIq3e32ST13IGQjD91GpYSQlTNus//G7I7EKLVZ8ingjKFdy5gHp7EgLuEsRMmR6iNqxA9YVYXmbagh1Joazzr37Ro5/eIMH9o/wm5c/t3g/4/5OcfLkKCKowhzesPVQYlDjBOmyAknrOADhy3s/B+WcDAtU3G7m4GyE7/8QRCQv97RXNJeCw4A70oicXztVApOliQAQ9Mxma8YoMDITEiDOo9y1ZZBAWPxZTeLZBNpXaZN+P/6WswILAYH33eE4CAoQlPHbu9vuG1WfCQYZtxwyozhQaEtON7jKi8Jp/fl7vHqVQv5EMkTx4yHTw3C/KeKwiJHILxg7Baa307eG3SxS/9999/H0riJK8LUVQccy1WEBLZkDEkYaJ4MmrwQuV15lrfV/vIo0TeIEef/umSWBewC4kMxXfI98h36SsaQ3PfkIwhzJ8YbbwJPvKt4ViSJXs68RQCbj5HGkNniRQ5srmr5GzS8RT+ILeMHLzAOR7jBQkgTf+lMkYwDPrdbAAfaY/C/PI8ICQOOvWblFPPyP28Vfi+9x2fJRS2Xe+LzEk0C6lReN/xX49ryCIPAlRDFnGVn0wQkvyr6PUBLrBhh++xS696xtjxmtJ7keHcLXTrCkL2HthY5WTddmiydO/XwAZK/b8JDUD6/zvSFLpwgNwtKNocxl38zq37ytNo7PROamUphJtvfl4gg0e1EJRAFBPqWgsCRbkq7wsDL8cjRY4kkSJFUgMgAjaTJMfDo6DIMiAzQLu27ypQ53k3s/QY0FAA0KaMW+la3ef7CJkk0//5hwvybv5skjZ9ctXm6Z9/VeEpgGUZ3kypjvGH/HqAHICQOXJmcL8QABVtLExyJBJ/+N8j1Y/IU2cF6kxSEDYIEyDszzxm1y/0EFZ27vQVufYsTNZTWBnPYwUh8bb5sPS7Qk5QhBVoRhCbOq+HEKabLEVCn+RDo/926FZbVm0ZoRZPwLOYiRrQCBooQQnQgCSE3RTJ08TnlmRocVdCC0Ki2ESK5JBTJ84Kii/fq7v7evsYvMaSDCgWPWY0AegHDBsypqUAXFvbI+z61m/3jPHOoRa42HFkqno/efJllv27n4a8WOv7chvhbXoIF9uCl64gJDnm2nWpJUmSvuZLMgPdu2P32kKqjKhRo6iUAAvnbBYWPFs8f6var1yzmDgcDhUqzPdoFaIJzwL4x0ucMHNubsf3SDsI70QAsL1p7T55+43akitDbadCxXEKNFtByMzZ0ipjXt+hTSRdhhRUsa0g8A8b20o6G0K/1WhoEhAUCJkqTRJhwZkSBYzvoOUY85Jw+4WvjAshBSHxsgIIsYtglHT6SCnDeALYfOf2fTWPW9tHNkJGYqxzBSEBcxiLrPXt2GauIKoFucm1PcYNeG4abl1BSJ7ZOidxvR3fI+1GRF4zn7QwjGzIeKd/vqTCgBMaxtAeAxoJuf7gn1mQD60gJPIqRhuHMUfu2n5MVbOD16ohyx/GDJwXWOyibMVCHo3OfHs/nTovLPJHf58wapmtsghjH/z6qGx++ahcAfn10g3LUzzd9CRD8R3yPT6tZe9fHAuGjm0t/Yc3EwAu19aDGkOoi4zCc9F32H/ewreGXI/Rh3u5jlsccy2vvRZXCn/wtgLm3IGP1I9izP9582eVnLnfZNcAh3d5dcEZddMQ/EGuDwsI2c+Yz8lXCbgegmZCVaV81cJCvlFK2UrvBbqWtCSM10+eiJKVGEMaNC2v+C2Wf8yZVvkJYHrLvonStE0VIX+1paotmxhC7919YBg0dwvYA56nyLHoNq4EWEFIAFa+4Su/3pSxny92rfpS7rsFIF9KTuiHjhAcwLuncYsKasCCYAQJwqrIJxcz5tNwioKF3xI+dofDQRUV4kuOvhb1h0qF4h1lxeJtSqiOFSuG4KVEpQ8NgAZlEsGayZFj4VGuXrmlBDqU1Bbtq7klAYF67vQN8sfvf6kw559OXZB+3aapZ3J7gY8PQg+A14XzVwW6aY5wGgQ8gN40aZNySBW82FiREg+tVMZx01NBnfTxH7xoUL4JwyeMmX2zyQmjlsrBfScUPwHkRk5qL0wopmIC+Ijy/UqcWGLmeTGvteMXAYOwslLvt5F6VXoHG1bGpM07OX/2ivBt4GmIQGfSev/+A3n46JF6XvKNejssB8F57dejhBUXM2VNo3JSZsuRXuo1KiMbd4wRJnGTFuiCPuhMnOQ1Gfh5c2GFR7wlEFDMeuH1G1IQ8pDRf1DYUXRRePku7KIZYY4Q6loVekjWlNVl1JBFyqPbFI54HyYt9A2S0KNQYZwBoKbP7915XKaOt8+IgbIamsW2oB+eAkIy5jkcDmHxseH95wo5jzhvR+logI+NW1YS5gvCrWiT1UcBysnZx1iRr2A2uXrlphPYh+enTpxTuSxJJ7Bt82EhZxTHud7X3yNtjJjYTipVK6JyPqZNn0z+/usfDnss0NbcmDMJgcJo9N9/D4WQP57R40VePoHiCEDBOMxcUrlGsQCRC2ZzyAHd2k8Q+gV9GoWdhc2IgPA0j5rXevsXxZ/xjXQjGGCg3doGfGV82LLxgDx69FhQiq2ekBUMxS1fwezWS2zZhm7XRcKyZE8n7rxMkJGQlRhDUOY/61FXTl5aKrwrPKxtIdhoBJrx1lz55XCB30S7kNuUfmOcdv5n3IDnjM0cBIScs7Sv6ksLVw+Uai6pV3z9PUJ3ROM1fCtZJr9UqFJY5s/aKITUEuY+eexyIb8cXvUYCRjXqWuWa8Y4CJCEZz3jCAvUsM9x6via17ThWvgGkXseP36ijM70W9c+wzVpDYN64iSvq0Use3eeEshQQx1fFeiBrjTP8qhjzH8nXxa3gJ6rDDVsTGs59MNcad6uqtMpIKR0Pk89+jWLkyG7AcrUbVRaZi/to8YF1/u6jiGtO9YQvkUWsGrTqYYQGeV6TVj3yYWdyHiPLA44ecxypSsxbrVs734xHJwMcEoBnMZIX9jF89Gkg4VE6Evm/p4dxwKkRTKP2/GLjtA7hOHY5FhE3jYUadmz8zsFmlqfwxv0ElVIG3zzGLxd73npwnXp1HqsGkfMebuwAfiSNop+ZK0PbYCQjB0cJ9ew3XIf7VLqVO4lH73XWkiD0KXteGEcM+VsdEbqWAsg5NaNB5WuhSzFc/A81jov67YGIF/WNx8BnxvwsX7TsoLllUnEfAQ+cBKd/37/T/OQ+tgZpFjsolje5kICYRY5QQAl3HfahFVKaEqaPKHkyPWGnPzujJA3kUnReZNw2Ni36zu5c+d3FQ5cp0GpQBZlk6S0hgJ56cI1QyD6Ui3qgYBtnvP1L/yqVL2oWMEh2idJL0Av7TPAXvn1NzaFcAa1YfzBep4uQ3IBcOK9GYds+Y9QHJLVPAEXmTARTgDL8LA6cWGJAFyiKC6a+6Vh5dxtC82ujZhgLbx2VaamzuseyHJY0QAb4sSNrXiNgGq9H99PywZDpXGtAWphEt6X9fzzbNMvsHzjqfne259K5uRV1UrQpgKCcaBjjzoCkGO2A330CQQWhA9CWvt0mSreChvCaxpBknubbYbmNyQgZLVaxeW3G3dt9XzkGQAXAdPxGgCI4RiA2IhB84UxEcNMfMOaz3GzLJy9SQlQGAQQFIf1myPkivJmPzDbcvcLSIcHIUogC4IgxJHTJ6jFtsz70P/Pnb0ijO92C6F48MDrpQu3CgaXfAbQaNJl/uYtkFVeTxhPWNwqraHAmsfTv5FCjh87LYVyNpbGtQcKz2Ge8+X3SBuMu2UrFRK86x0OhxoratX/yLnoGnXcFfrDLz9dVJEBzLF2go/Qwyqk0aJHFTzn8TYIKQjpcDjUwmZbDJDPzoXN6NeLDECre/8GwhzZ2lCkV2wa5kx1wDNR4CtjOPSZICSK16otI6T3oMaSPhzyTwMcPn78WHobQAtyE2NxAqMfI3cFB0LSr3g/3hyz4VNQhbGceY9v8NCBU3Lj+h1VnXcALwFw1IFnf3756ZIam5EBOcS3zHOtXLxdxo9YwiFnmWyAFL6aH2kkovEamil41NEvrAbLkYMXyglDfn78+IkAQnYy5nbkLeqbJU6cmGoBJgAEK/jIeV/yGvAfUAD57bNe9RTYSJuUudPXC5E7bGMknb6wZ6DvtFXHavJq/FcEuXzN8p1Uta3Qj5Gh2jcfJV99eUgYJ5CdB4xw71VolaEYJy+cvSodmo1yGsHsIBxDaLESeeSL+Ztl09q9Sv4AOG3QrJwwjrjSgL5lGjL4nkn7QO7HIX3nuFZ9rv3BvWepvKqkkyCf7viRSxRtceLGEncgJHrA/Xt/qP5SqEhOmTJuhaFrbQpEA5EMryV4VR48+CvQufA4EFIQEn33/r0HKkIDRwXmI2/Ti37XsEZ/adlgmPT8bHKg248Z9oXgYYzM2rrxcGWcjRw5kvI6ZfymP1gvgsZ7d//wqtxHG4wR1nZCs+3Kb0B3xhvrPZiHkP00+GjlytPtSE9/9F/NAf/mAJMX4GP06NHklVdiBrLqkei8RMFWypJjJlwmITrAAcqtuPxjFWPCR8zDeNCQJ8Xc9/Uvgx65tEqVK6CUQbM9AIFd275RwgbC3Gc960rTNpXN0+qXAY2QXFaV7WUM7FyjTvj4D4N1SLwNTDIACRBKWQ2OvGgAToCqX8zdLAhLZj1f/0I3q/BFjRpFmDCCWs2zQc3+auVfJjroihY9qno/d42JjwmTSVVs+ucO6DWbdlWm8OhAGeNZzToIRSSe9sRrcgNRzPre+m3YrLw8NhTZvgaAaH57fFusakfYJyssI5R+/MlHUrJMfmezcwyF4PKl3+TypRvizZyPKEPkiylf5X2ZPKdgfx6uAAAQAElEQVSrep/ORp9tkNIBj4GzN9fIuVtr5fT1VSrkFBDhWRVhLHGXE5JvGa+lwX1mC6vk8W7Ma+z4pZ/ENYBmhBzr+0dJPH7sF48kMM40qNFPKpXoJIBLHiv64AS5ksKy2BakMPalTZdM7AYfafvIwR+UF32fzlNl5ZLtghc3uYY5Z5boxhwVyQDAUqRKLJ/1qqv6G/MXIfGmEcGsa/3lW6RYj4Vmm3mh58BGAUBFjkHf3du/y5A+cyR/9oZigvr0G0JAqeOpnUxZ00juvJll9tR1Yjf4CE1DjG+qdqVeAlhnehtEJVdvDc+ekNu3HlHGxdUGYICxkfvYUeAjYX6kP5g6bqUcPfSjMNbhXYxiTr+10oFCxXOZIGSKVIkEgGHU0EVulV3rtb7Ypl+Qo5Jxg7HONAglTvKaAg8A61zbXbboK8PocsfrY7ZrO+72WYE0ZerE0rHlGMHzu1jeZrJnxzHBgEi/RYnlnVivZWzu1226YBwFSOMZ7Z4foSei8RqaKclTPu2jhG0CkHEML7eEieLJF3O/VN9dvPhxpH3XWlK9dnFOC2kQPvgor/x46oK4go+qgvGHcY9ibHrtP4a5L9YMVFEX5H1v0a6qWI0B9IVh/eeqvkujRAKQa3Hn0Wmyadc42X9itvL2BHzc8dVRqtha0EmYnwFp2jUdaRi+dwkgJAtvegIh9+w8JiySgrGXSAGe0S6imWfy5s+m5gnmxxYG8DSw5wwFGDEnor9hCHOlBxASuZxnW7N8h+ojrnWedx8+mLIo92J8njh6qUcQct3K3WpBFGhCVsVYWqdhKS51Fvo/ET5EEhDR4Dxhw0aOXG8oAxfGftfm4GVvQz7heU2+I39Y6xEK/P23p5W+zDxkPefNbcY5HH/MNojCIDLK3bgMEEq/9QRCMn96W+5jXiaXrauObfIAeRrDBemjZi/pE0BfMeu48tsdCPn1lsOiPR9Njv3/N9L/N/WW5oAfcMANCQyenzQpK3cMJYqwXnIKYpl0rcqAy8QB2MHA53redf+fv/8TVrkzLeKu5321z2DHoIeAPMkARFwTeDN5EMKMIP1qvFfks571hJwXeHAR2jB3WT/DMve6bN14wFckBrovAzEAV0i9DbjBmZ9/NQTSfwyr+CtS9eMPpJYBOC2et8VW8BE6ihvCb8LE8WXi6GVqFb6a5bvL0L5zBQugqwWUiZIwjZzpawkeYYDZ/AJmTxm7gtv5vMDrkAC9CFUosGb/BYQkrAwL3FcHJsmD3//yGrAETeRWpa8i2Htiwjv5s6q8q+Qqgj5rPXjbsuEwWbNipxKkX3s9rlSr9YGzSqPm5SVy5MheBR+htVWHakYfjC0Oh0MKFckpk41vjucxGyY8p0PX2mqBqv/+fagO49FD/tjBo1sKoffqoPEHxXzlkm1CPZQxvgl48smnZQMZRYzqtvxHkX785Ilkz5leWnesEaBNvJIY4/By5ATPbYaHuoJVnLerALaEdbGtHLkySKn329gadi1u/uFNcenCdcGz0HqafLLwPLJhzcfAdOLCEmVEYjVQwB1rXW9tI9AznwD+A4KxT2Ebj6QL566qVVuZI5vUGSRY42k7h6HIBAVCohCw0qSd4GO+gtnVwmrQxxgCzWxv3XRQmBvZ9wRCAjwBdmxYvUfsBB+hr2mbKmqMQZEC2CBEFc9NxgqMFCg7jEfUNQtj4ucD5suvF6+r+QjvnIWzN5mnw/UXYA6AjvHFEwgJCBglShSvjtkheei06ZNLsRLvyDcGyGuCQ/By7owNCvBAdiJiwVw8yXrPLNnTSdRoUd1GBljr2bntL7ymnzJHeHr2Px/8pfo4aXXMvHElDSMiHpAYDc3QztcTvKpA60mzuwhyQ46cGQRAjG/X0729fbyFATimNIxA589eETwJ6RPJUiQUvkPADNqj77Ru/Lns3fmdmtMZswFMGUcSJownmzccUGMOdcOz0Lfh77qVQYOQGNpv3rireM3YaSfNH5R8RxmeTx4/62x2w5q9CuwnhyZgGOmzOvWs6zzPBiAaeRR9BT7ShrvCXAw4hpHIVQ+gPnPNvl3fKYMG/bnvkCYKmEYPmzKvm8xc1EtSp0sqq5buCBDNwLW+KnybIdENrHMlfAf8JX8yKUHQEXCmaFRrgNCvfEWr630BHytWLSzZ3kov7sZl+mubTz936wnJPBM7Tkyvyn30wzIVCwk6tjsvWHiNrtC8bRUhfRRz95hpHQPoA+YzuvL747olZdGaQXLg5Bxp3amm4CBlJ69Nuvz9VwOQ/v6GXnL6GAQQGiaOWib5szUwBqC2goLHwMGAFlb21GlYStIakwcTTFjvEZbrGPRatKumwsjxwGTyS5govlgTeDNQYS1Zs3ynyt+HUIQyiZdV2UrvKTBlzrT1tirgTACh9TY4e/qyylMZM1Z0wfts2aKvBUE7LHwLyzXwjMmasI7rV28pz0bzPlhdzdAPd8IH9bZtOWIIF9sNS+gRdm0p9Pep87pLvoLZ5NCBsIWVYYH7atMhYVL0FtEI7fkKZZc06ZIJSdGZjN3dm7DTOHFjC32aZ3FXB8Hu4L4TSpF5M0salQKBeghFNQ1wGKWAfW+UZgYo8POPF5WCjIDDPa0gJM9RsVph+eHkOanyUWd5M1kVla6B0GDT+l2zXokAC7mYICSLFkWNFkV+OnVeurQZZ2uoE89hlkP7TgqLUCFoAkDR5wGW8PoEEGYcwfOO74FQNDM8tFHzCvLF2sFOTxXzfnb9AvKifLjrJ7wrK7hOuGSPcFpsiz7CyoXklitpKNsmfxinAbrSZ0guNeuVNA+rHFCEwP9242lIKIovADDhqVzjrOjFDbzhzfbw9mEBAErGzKmFcc46FkAD80tIQUhvkUn/W75puBw7s0gGj2rp9rbwesTEtkLo9chJ7QLV4TkYPwAy+PYqWzwhAQ5YcIZUIHaDj3xvzDMXzl8V3oVJOCGn9+79IczzgDtDDIMGz2ie57dC1fclZqwYYjf4iCFi1zfTBYD8y93jhXkDeqyF+dodCMk3W8FQJmdOXqtCG705Zlvb97Sd7o3kSnEkimTCzM7OauUrvy/nz151AuwASVaAnf2HDx9JUJEBzpt5cQPvUXgMr+E5Hveutw9vXlevXVzWbx8tyB+8X+ijr2JgQ/5jf9aUtXLi+BklgwM2Mu6lz5hCDu0/yWkhQoQ8sYDWpFopVb6gRI8RTdYs36XO2/WHUPG0xri8YPYmKfpOM6U7kLcSuvgOkWdMEJIQUPK6lSnSVhi3cWDA47uyIQ9gMGW8tIPu4L5H6PAEQvJMfI8Des6UGuW62QaIWfmSyDDyMwZPnd/d6Sn2SeMyEiv207GNlCnRo0dTxiWiobiWdwC4R9/HO5ZjdhS+xw07xiq95J9//1MgY5y4scQKRMHv5vWHytIFW5/qYVEiq1zm8Bk5IJJhYBwzbJEQTWcHzXyTfJsh1Q2scyV8r1G3hDRpXUkwKiIP2kGz2QZ6b1lLCphMWdOECIQs+mFu+ebnBVKnYWmvLjhDVBQOMY8ePlZzs+u7h+5WHaobelh2Ia0S8ihjRwxjLOM6wFzqWIuV31ENvYD3dPqnS0Juams9vf1/DmgA8v+80Ft+yAEmATwKEAwgD8WjVaPhQignA5onEJIJBsGUfF1cZy1Mei3bVzNAh/O2LrrApBXSBN48d/tmo6Rc0fYyf+ZGJfSR8JhwjMa1BqowB+sz+XI7rN4Ge3YcEzyw/jUm+LkGYIqQ4Us6rfdG2UXxKFW+gESk1TwR9EML9DI5hjSszMqjkG4z2Zat+J48fvRYXRIUCEno9ePHTwQPN3Iiqgtc/tC3EeoIc8f6mDZ9MlWD43zfasdLfwA0P6nWVxYaikjLBkOV8MWtTRAyZ+6MQoJsAAsUEc6Rx7R62W6ycM4mJXgivNWu/5Gg7HKesn71Hrl1655aDAigjHfAcTsKxhMULLMt6GbxGLzDEXw4t+arkUKeTTywEJBRJKct6CGZs6UV3g8LQcFvhP+GzSpI2vTJzdvZ8ns1gi22FSdubCHkauLsLrJ5z3gh7BBGLVv0lfx66bdAucMIn0PxbVF/qNSp1EuFufOeuCaIEuZTvEuUJcZcbvL2O5nkTQN8HDVkoer7HLMW6nsCIcmXOn9Ff0GptV7zvNvlDHAITyi+eRQLwHHrPRmzWXQBz2KMbhWqFpGQgJB41wOSABA3b1slXAwBSZMlUKH2pBaYs6SP2ubZylcpbIwRp1UOS9MTcuCI5sL3yHkAnLO/XBZynzJGccyOwpjeqWcdMenGW7DXoMbStvPHgZpn3raCkCwStu3QFMGbJp0xdnt7zA5EgJsDRC+QJxgjRu68mYS+hDEDr3WMAq59e8KsLsL4x+JzsWPH8FpkgBvSAh2CpwOGN1Ph9bFfiSnM73jc8w5cK4cnr0sZYCFRCURSAHTgSQxg/tAAbA/sOaFI3fHVUSWTksOWMQRZmhMo2vxSGOfOnb5iGNkvycnjZ2VI39nCnMo5Xxf427xdVTX2YZSbO32Ds8k+nafKkgVPwSTGNisISSXm8JGDFwpRL/27Tze+2184bEuhL4Tke4TnriDk5LldZYMBHDduWVHI90wdW4h2aeTqlZsKyHslTixJlSaxGgM/LJ1PiOYCrMYQhowSwwBxPm1VSYjSQX8rXDy3eHPBGReyAu0y9nbsVscwFP4oRDaxaB8e6+TLjuMGhOzaboJ8XL6HkBf3hAG+Y0ycO329SrdDKHegBnx0ICy6AaDYiEELBFkbAI1xnDHGFyQyf7tG1XCMOS5a1CgyZtgXQgoYvI1pPzgQEscBh8M3Cw3ynjGmZE1VXfp0nSbMJxyzAtCFiuaUwwdPCak9ShRoKa0bfS7MdcjYVsMnz2IW+L188TbB4xcDL/NQeH2PJk3+/KsBSH9+Oy8xbVhj8xXM7pYDfNBMwsGBkHiCzFrcW/Z/P0u5y+M6v3HnWAGYJESun80rRwMMMAng+m8+GAIP4SuAAuR8JFwO64x5HqGod+cpSugrU6SdtG8+SliswTxvx+/zeBscMQZw8sv5atJz9/wIoWFbYTKWfNajrpy8tFRQhEkU7+7+vjoGCFTMz8LKEB4KFs4p40culVxv1BYVsmIAkZ5AyHNnrihhJ1asGPLxJyUD5KMTyz+88i5dvC6PHj2S//57GvZsOe2TTb4lwsCwANNAoSI5hYU4OE7hmLWgsMwzFBiAA0CT4h+96zxNqNPVyzdVbjp31zorenmjU8+6gpDHIj+MkebtAS+ql+mqPDhQsubN3CA//3BR8EhBSUSR5J0x/gCsvpersWDIQaDCwzxHrgzmrWz5xfPc3xfbMhmB0o0w+eTJEwEYw6uw37CmsufYDGnQtLyQbD9z1jSCZ4R5Db/MU3wvIUkHQv3nLbQ3vP88OXv6srpVrNgxpHKNoh6/QeojIPNsXPDW2xlV3tOmrSvJkYM/KGGb494q3xz+UW7dvKtu98cffwmhgmrnCVYLvQAAEABJREFU2R8MFtFjRJX1q3ar1CjwOigQcuznS1QIGSAU+dv4rgf2mvXsbvb+oHyjxDgcDkmY+DVJ/0YKZbBIlyGZrF2xU+WPXbtyl+AJCcA6ekoHATTtbHzPsQxQao9hrLOLYhTZosY8M7TvXHkjSSVBBkH5Zt7EaxrAzJUW5m+UV8YP6gH+4dG7b/dx16o+2wc4mPlFb+WVgof6wjmb5cK5a7J4/lZhv3LNYsqrfufX36h+Ye3bGTOlkuIf5ZXzxvzE+OgzIl1uzBjNHLNw9peSMWllYUEkZM+glFi7eM28YDWqdWs/UfDY5REUCDm3m/Cd9uo0xa3MmSPXGwJfkVtJi8R1lDcNXjOnf5i/pZQt2k4wmnPc14V+idG5Y/c6QkqUa1dvBTJGMKfz/unHriAk8pevaXR3/9B+j4zb6D/rGE8MWQzZhD7VodmoQM/rrj1fHSPMdM2ynbJg5kYF8NdrXEaSp0woAHa0iYwycvAClXcRoy5j5I3rt4XjnLertGhXVcmo8BBe0i5A4sQgckICqndtN0HpYeTMJk2TnXIffTOsugERaHyPjN+MLTyvtwtAY1ApYA4fOCWksELeZFw257ugQEhWIr918574Itf3aqOfzp66VrGB/kf0AfO3CUJivI9hAOWb1+9XcwkVARd7G0YMnsHT+M17Klo8j/C8PKfZv7hel8Ac8C8AMjB9+shLyAFyPpL4NcObKTw+PR82E4gnEBKhB2GPwQJBo1jJd5SCmCTp60IoBont7ZxAeBAUj3QZksvcZX2VNw3H8KRJGEwC71RpklA13AoDMwoHil5ovQ1QhhFM7CQe4PDx48fS2wBusVoibCZIGE/lJMIz1pUWazg2z4jXpt3KFTQ9D9CLl4IvwsoWz9ssgFV4IPPN4e1nCr4AWq7h2Me//UUIr378+IkCPlAIEE54PteC0nv71n354cR511M+2+ebt4KQCRPFl9cTvqqs9e4aHfv5YjlsgOgOh0N5VZh1CHUibIv7mcd8/Ythom7D0oLwjudi596fCAqu2S60jBy8UCm5UaNEUfR+fXCyAHYwBvL+Jo9ZIShhXAOwtneXbwEE3j3hVk3bVBZooF0KbbMIDmHuKLD+tNgW9KHA1qjzIZuqEJaH1yjzCqAHBxnPO3SrJc3bVRXCsfB243h4FXjde3BjlcsUb3noACQI6hukTyAom8ADigohlL7I+cg7Z5ETIhrwDHUNA2MRp2J5mws52Zi7WYwqKBDytxt35KcfLggLivx06oLYbVCEv2Zh3Bs+YK5K1zFm+CLlPUW0w7//PlQr2FIPL+t1q3YrD+R48eNIytRJFODDGMv55y0YJ3YcmSbu5jjz3ihIpSsUkq0bDwjzHscZ21G+//rrHzUOkpqB75Vz1jJn+nq5fOk3o9xQKS14n9bzvtwGfMSIkipNYmcz0F0kTxMVDYJ3cr6C2QQg2OxX9O1TJ84pr/fLl24IC0X06DjJqVA6bxSGDegBQCbfclCX452LgdlU/AG/BvWaqSJDUGJ5V+7u4WteM5cMGdNKeA6TfmRlwmDNsYAx7cb1O3L+3FWzSoBfQqujRIkkGBuRY/MVzK48wdkGEAtQ2YYdPBrxQGbMAJRD1qZfuDbN/Md7QC5kTmJ8JMf6wlUDFP2u9cO678vvkb6NEff2rXuqfyPTMP+HlVZvXEf77ZuPEsZx7le0eG4xbHYCEMw+BXkPYAnDHHNq59bjBHCPc2LDH5xA3jAA8rt3fw80DgQFQtJPmF9tINFtE8+jG2TKksYw0mzxafor0o4wH0M8jj+kf6FgrMXzdeumg5xShb7bvP5QtWAYB9yBkBhHvL3gDG1RchiGE751vnuMFhxbOHuTWEFI5kCHwyFWz27q8Ry9PYCQ9JEbBqA+acwyveAMzApB0QBkCJikq9jHAcDH+k3LChYEq6egOwoYyIICIRGQOX/+7BXleYCg/97bn8rAnjMDTT7u7u/tY2FN4N21zyfeJiXI+zEoj57SQQ7/OE+FwKHMRgRvA/Oh9u0+Lii69B+sllj+EDY9JdLnOkIpmUBRVOgz9B2O21meB+i1K6zM/OaCAiGnjlshPxvAgMPhUPkdJ87uKq6pEEqWyS9p0yU1FPbDtlvtEZQR2PGYwqstf6HsgRamMd87z7tqyXb54/c/FchkHkdZ45y57+tfQgzxTvr+2GmDZ0cEr0x3IKRJBzktAaVRwmLFjiF///2voNS6AkvRo0cV+v3xb0+bl3rtFxBj2cZhQkgv4/qWvRPE6l2FIEd4Fu8AhfEzP1hsi4cHMGUV15QWww/jASBThkwppUyRtoKifvL4WQUmYdxgbMnzbuYAuSC5l50FJeDyr7/J5wPnS6NaAxW4RfsI3AjbnhQo+jHfK2FaeKu79hHu4a3Ct7du5W7hl3sChOw4MlX4Zd8s8JtxmPEYQMGdJySeVlGjRpGPK/RQAr95T/Medv8SRtjo4/4CSA2w81bujIIHB/w1abl//4EAvJPHetLoZdK5zTjz1HP9wj+ME6nTJvFoaKMBUk4kTfa65Mz9pvIk5BjljTdTyY1rt4U5CC+QFu2qSf0m5TjlLI2ae3+RMOfNg9iAl4CPQXnj5S2Q1TAkxRNyEAOymrfDy+q4MWYWytlYCBv2Rh/hOyJCIk26ZCpvpjsAkfYJCWcMyZAxRQBQGF7zLIy7GJMwdDA+co1ZfMlr+gqRNteu3DKMtFPNJtVvpiyphbB6wGgOMDeSBgHlmn1rweuUMZDxO0PGlPLF2kEqzD1GzOjK69da19fbABbKg3vVbuW9jWErddqkMmR0K6ex30pDHwNEMEFI5h7G74nG9wjAYK0X1m14XNcwFqb24feIx/iNa3dsXXCGfoCn26lfl8m5W2tVOXlxqRBpZgV7kVdINfBqvNiSI2cGJxupE9kArVsYABSh7naCjxABTfTPePHiKGMLx6zFFYRs3bGG6tMAVuQltta1c5tx2Z+dQJjjrKBiSFLAWOtbQUhSZsWIGU1Kvd9GSGXjTT7Tfz8qm1/iGwZAjBX0ZfRd2rCCkKQyII1UnnxZOBWgMEYgu167clMwImFkwvC3addYFTmHHAA/Alykd9xyQAOQbtmiD4YHBxDCAB8RyrB+IOgFRwcfOoqKJ09IFJlu7SbKqZPnVFgX9YO7p6/Ok3PixPEzfp/Am+S7ZSu+pzxpylcuLOyHp7fB874PvA+CAyEJg4kSJYrtnh3WZ0OgjwhAL9/QDyfPK+Ua+lHErJ6QKHnk1AE8cDgcyhNyyrxuQvgcgnmbz2oKC4qc+eWyygvDPewu0GiCkLRdqEhOjyDk0UM/Op+Vuj4qQd6WvtHm0xGC1yUgB2MJoLonEHL+zI2qL+MBTFgUXjiTxywP0AYKMoLinp3HvA4CE9rHAkCvvBJT/vzzb0FJBdho3q6KdOpZV9FBP8L7Dk8OngWgiTGfUOayld4Ll8W2AB8bt6ykvHrSGAos9ChijT/kMUNwRfHDe4PwwoY1+8vBvScUIIwnJ8KzKdAal9jyn/e4adc4qdOwlLRvNkqFtCEcA5Ka3kyeQMhiJfJIyTL5JHfezDJ76jrlTWYL0UYjjAUAIakNPvPLvnHY+Z+5m7mdcYS+AQjJOIISAeBgelpdPH9NKM4LfbhBf2AcO3ZmkUqODzjj7n3D77hxY0uq1ImdAAj1smRNK6RuwEBGfk6+geclF4CuVYdq6nvhXoApyFJ417FvLXyDeLaRK7HHwIbqFKAA9ALI4K2CsktfBoQHhITXi9cOlv27v7d9wZlegxoLSiLvHDBx3IxOwmIdinDLH2TGSMZckyJVYvmsV10FLsCD3HkzeXVs4x2S3oWcmTRPuwCI7kDImIbhB4A8lWHIIOccPOb6wh+8Ldu/OiI9OkwSvlPugdwLvbyLBasGyMVz13zCa74xvjU8cKHfteD5/fvvf0m7JiOVFy/ngwIhmecJsWV8py6g6sjBCwQjA/t2FUCB4vlaSLumI6V+9b6yZeMBAYTkPQUFQl48f13o73g/AUB4g167vkdSf9i54Ax9d8SEtlK2UiG1IAjpJOBXLKOfF/0wj0xf2NMZkfGPYfB8+PCxitZo2LyCtGxfzfgu6xmAfQk5d/oKl4VLuXPrvpDLPG2GZMI87o4IKwjJMzP+kdNvSJ/Z7qr75Bjtjo5gTiDMZaFNAdPcAKL37DimeJg5W1qVAqbv0CaSLkMKdcybf5hLMIITscICWcgU5KKePKermi9oizGAsYAxgXGZuQZDOueshfHGBCEjR4lsGL4SytebDxsGnSnWano7GA5oADIYBunT9nAA4QshjI+eFhEcBo1socAL9oMqDHwoKoCQWDcYYKz1yZlYvliHYMAO6xW+2UahYlEZLPHQzMRGS1Y3byyCTNCnf75kewJvaKFgvbx44Zrymnr0+JFaiIPjZrHT28BsM6hfJmsmilGT20uHbrUDhHqa13kCIbkWwGPm5LU+EfjN9kP66+9ALwo4iz20aFdV7t6+L4TXoHy4gpD0dUIp9+78ToEzWBQBO1iAoVnbKnL00A/Ka4nvIKS8eZ56eGDSR6z3CCkIqZT2SJHkhxPnrJfbsk2IdekKBVVbeOCpDeOPtT97AiEByaaOXyU53n5DCK218pr3iDciOTsRGo1bevV/8Y/eVW12aj1WSPLeu/MUBeIyvjduUSEACNneAM0YFwFNMdDgcY0Xmd2LbZngY4wY0ZRlu0zFQrLiy89l+Pg2akxBqf7ph4tSunwBJ6/wZmOhIwAlwsp++fGird71ABb1Pi2jcg6261JLWeBN4gA3ggIhASMGj24ladInk/IfdLAVfDSVdBMI4RdgBJpM+vllHGFuN0HIkmXyy55vp8vkud0kZqwYsnXjAarZUvhmAMMYx16N94qgxFSqXlTwjuGclQgA9cdPnkiyFAmFfKF8x+SgfjNLGsE72Vr3eber1/lQvj36s0rwj/JM255AyP27jytwC3AGr1faBjR/9PCRzJuxQQjLJoTs9/t/KkATw9K0BT0kVuwYKrUGfYpr7CiAu2WMb3Dn10eN+eJHBRyQMqN1pxqBPGbxKCXsF6WyVLkCcuLCEkFxvGiA00RCeIteQG/mg/rV+0mTOoMEfjCmuQMh8e7Gy550JBfOXZUzv/wqnzQuI/Sdzev2y9ZNB2XYgHnKMM49oJe5NVXqJGrRQe7tLbq5D98W3xjfGvtZsqeVqfO6O5VvjpEXmLEM2ki3Ys45nkBI5tDKJT8TFtrCq42Ft7zJb2gKbWGeg/bgQEiMzrwLAAeAh9C246m+Xd/j9q+O2jrX0HffMmSJFYu3SaFcn0qGxJUU4EJKEmRA5JAeAxqpb5N+s88YaxhnOI7REZmRSBKMop545+vjpFG5f/+BxDLmDr5Z13HbbJ9xlDmHSBO+Q4B2+rp53te/OH2UjWBOIPAyLClgACHJQ00fQk71dgoYdLxJBsiIpyJjAgb82hV7yoxJq4X0LQXef0smz4VIcIkAABAASURBVOnqHAcZCxgTACEZ660L01jfO2Pkzm3fCnPn6uU7hRQr1vN6O3gOaAAyeB7pGj7mAEDcR4bQuHzR1zJpzHKVpNjhcAjuz6EBIQlpwgJrKuw+Jtvj7ZnY1m8fIwdPzVXWe5RE18pYw/0pgTf0ESo5dEwriRYtiixduFUa1ewvDWv0DwTcIizb4W0ATcEVeLto9UDp3r+BoAyinKzYNMxtLh8raIOCFl6reTIhkuN03fbRsmrLCCG01t1z5i2Q1bawMnftux6Dbrw/YhgATbXSXaRkodaC1wEebAiariAkYDoee2WKtJUBPWYIgifJu8nzBuiEouDahi/2ATuGjW0lnXvVk6FG/7a2gVAZnCfkJwbA43A4BEDPeq2vtwHE+g1vpsLIUB5d27P2Z4R8a07ITFnTKIEqZ+6MQl/Pmj2dUgy4B2DsxNldBeGqX7dp4s33gBBK24R5btlwQAASaROllGTihKQyflhBSM7zHgApASLLFGkn7ZuPcrvwAXW9XejXeOXmeTeLAmAAvA7tO6kES3hUrVZx+XL3OMHLaeOaPZI46euBQq0xcrUwrPndO0z0Nnke78e8OX7GZ5Ij5xtqlVkAchZ+atGuqvMalCcrCPnW2xmFlYBnL+mjwEre/ZYN/8/P5LzQhxt4s+GphscAq2KSnJ4UAQAjACSufR0QslPLsQqUQUnB4+D2rXsyYtB8Y576yoeUBrx15RrFFFi7bcsRwVOQVTqpwVw+dlqnAMZSeHru9GW1KEr2nBlk2Lg28kHJd+TY0Z8EoJ3rvFXodxTeNWPCjElrlNGQ7x7DrtUTku+sqjF2E7ZOv2D+ZHzE4ElfgCaUb7x9UazYR0kbP+Lpgj/s21EwIqMY4nWEIatqqc7yufG+f7//pwJGS5bJF4AM5hqMd8h/nKCfHDNA2T5dpnp1fKOvVijeUYXRo4CycAt8Z0xD7mOMoH0K/GT+w0CBpzfHyL9587d7AjjDPuMj6V/MkOe7d34XvNt5Hs57qwCAd+haS3nfEtYIHx0OhxR4P4dYQUho5nlol74CkHf821/YFXcgJKsYT5zVRT0PBhiuV5VD+yeU9RlDMDZjdMawyBhuvQV0QDuAA7IJDg1WT8i06ZPLzq+/kY4tRguAg/Xa593mW6TAxxfle4Rfud7JJIf2n1IL7/Fs8ImxjP5tAkh4Tteu/5FQv3/36bJu5S6hb/MOvj92Wgi7Nvs+1/uy0EeIxEAvYIymLdo+9f1TQzJ9AnnWte9Q74OP8goLoo0cssAAWacKcxDH7SoRzQkEvjxPCphffrqoPJF9kQKmc+96auz6fOA8BRIyf9MPBvWaJYVyNlZyxM3f7vIIzsKYEBwISeQJeW9Xa/DRybfQbmgAMrQc0/W9zoGtmw4KycRR/D43LMLD+s9Vg5HDEToQ8pefLgmhhgkSxhMGB68TGoIbAhr0HdZUCHFKlDi+WgkTbw2rEsBt/C2BN95QzdpUlqqGso1ySG4ZBmkK9FqLXd4G1jbdbQN2AFBHixZVUJoIlUVpwuuEhOQo6K7XIRCa4dgIHuRVQUlx95yu13pjnzYnG9a45m2rSLYc6SWnARCRTwohnnPWNqJHjyb+AvRCFxbwLAaQtXj+FmcONwR9vlsETYTMNOmSCV4zKLVcQ+G7RKnq2m6CzJ2+XnmNcNyOQh+BvwijUQ1gHRAhJCDk1n0TVcg4Cw0A2I0fsdhWIRQQpl7jsgLYi1APeMoxV55Z+zMgZO/Bn8pXBybJnKV9BW9wvG5uGgov9+g3tImofE1f9BLy0QK88m5c7xnUPoDFknVDBC9W13qcGz+js3A+oTH2mYqrWQ/FNygQ0qxn9y/fI94w7xbMJgC1CJ+EtjX8eIABGP2sgEg8Zeo1KiPkgXI4HG4NHHbSTb8GrDt/9qp8WKClWrgFT6SP3msjc2dsCEAKyiJgE+HYADN8C3yfbPNdsmhHgAt8uIPADgCK1znjBrQx37OAVlAgJAAv4HTFDzsJyn14eFqR0xHPbTwoxn2+WOA3ijfsAnS3gpDwtH/3GYLSzbiIEo6hpnn9oVT3aRkxcL4EBUIyZh/ef1LRQOhkosSvSYyY0dW++YexZPLY5VK9bDcp+FYjQUYzz9nxW7DwWxIpUiTlNW22xxy/atl2gZ+EkZvHzV/GF/pFC4PHeORVKtFJvA3kmW2ZvwATQYGQ1IPX8BzPzNRpkwjABsfNkjRZAlm7YpfiNQoxXqjmOW/9wodenadI6cJtpUubcUL4Px4+DkdgENLaJvMDQJ45lgNCTpvfXcnXAz5vruaYi+evWS/x+TZy3eK1g6R1pxrK6IzxedmGoc5UByYB8BzarSAkHszkJV60eoBKMbRnxzGzus9+I8L3aAJ07piAvLR66whJky6pnDx+JlAVxnAAdsZC5pS0GZJLiTLvKuAfQ3OWFNUkQ6KKysuecTzQDXxwoNegxkK4Le8bkBrPYgoyyvyZG5QM6nA87fs4MHDcJAM5vEGTciq/M4YkO8e+iOgEYvKN7433jfxEnzBlDs7Tv9zloSaaoKRhTMqdN7NPUsAg55QuX1C+OfyTYASHFteCUQlgHPqt53gOTyAkMtTZM1dk+IC5CtS0Xqe3Q84BDUCGnFe6pk0csH74DodD8uTLIgBNKF3BkfDgwd/BVfHZeSYxrG1/GTSsX7VbeWwAiLnzREAoPXn8rDBhh3cCb4CNhs3KK48pQphQtkuWzaf23TELYdYObwN3bVuPNW1TRXmYsKoqSixeEsu/+FoIm2CCAIRkArJewzaLcVwOp9U8AfGwbhL6ivKCx0PkKJGlZNn8ylsW4QcaKf4C9EILJV+h7Mo7Fu8J9s3CxA2YsM6wdqMcuoKQNeuVDOAdZF5nxy+AUbToUYV+cefWfRVaGxIQMmnyBPKOMe5gLSfUDuXWF/TiKeDuvuUqvadA3m2bD6tUCACIQYGQG1bvUWMJ/SdFqkTqeQmVQnGcNHqpCvNzGAo9QAj9v3alXur+7tr2dIzxDS8SaPn6y0MBqjE2Dx7VUvAq4Dz8S2AYggJUMnbgoysISU695ZuGCwCOUcXW/3jLZ82eTh7+90iNJTwH3ydEEF4NiGEFIgFmSGT/9jtvKuMS9cKjlKv8vsSJG1tmT1unFD2TBgR/+m3/4c2EAuDHOY6jEKxftUfu3f1DCJvDI4C5lvN2FGgZMKKZxIkTUyaOWhqgyZGDF0pwICQX0J/t9LSiTbOw0BdjsrnPuGcq3hxzBSFRtgltR/lGCUc54xrq+roEB3qY7SdK8poaE/HSNOdK5IHMWdPIbzfuCnKKWdfOX0BRvrUPS78boNld274V5sy//vwnwHFzB/7SP/btPm4e8vkv83hwICREpEqTROXES50mqcrXyjF4njd/VmVwh9fQz3FvF4DEjWv2Om8LyIkXb1hASPrKwtUD1TNcunBdVi7Z5ryvrzfgF0a2G9duC95SP526oJokfxxzE3OUOvDsD/y0gpDMjUQeTRi1TOwElvz5e8RrHqMQ3qzP2Ob8IXQa5wnm9LSGcTlO3FjOc9YN+Dxp9DID2LslGE09yTXWa3y1zXNUqlZE5QFlfmPuQ6+hbxAxQLu8f8YRh8MhgGMYTbcdmizkUt79zXTJ/W5m+XL9fjl35jLVbSkR1QmkY/fa0rRNZZWmxsoo+I7MgeGT4/DZCkIyz/g6BUzxj/JKrNgx5ND+E5AQ6kL/sYKQRMoAZLPgTMOm5cQ6pob65voC0QCk6gT6j79xwPrhOxyOEIOQgHk3f7urQkLsfqb3iuaSKFGjSJ+uU5VHCh4bQXkiAJoRJgQICa2ED430QQJvPLiwEJM4//i5xbJg5YAA1uKMmVOpED5AJDymIkVySPGP3hUmCwANaHMtAAl2extYaWAye7dANrlw/qrg+m+eY7K7d+8PAfgFhGT1TIRW8zy/vlxhkvsHVQDxyBOHYtqgRj9hEQuEaAQkktNjsTV57i9Ar/k8KIXRo0cTBHjzmPmLAEr/sYKQo6d0kB1HpkrL9tUkecpEZlVbfwnhA2xDCenSdrwhIN9UCndQICTvA2+siQZw17LhMJ950Qwd00rWfj3SmQ8RxiDwf31wsuBhBaDeqNYAJzCDEuAJhLx1874cPfiD/GkYPwAjUXi4H4VvNV/W+pI+YQXJ82ZdGdhzZgDQijrBFYR3FLx0GZLLV5sPBQIvWbAi3mtxhJxn5KCjnzQ1DAQIma73hh4rCFmsRB5hsRqUYte6vtx/x1D8M2dNI8wXo4ctkmNHfxZywQIEWNvdte0bcQUiMdIwRlrr2bkNcPRq/FckZarEzmZJ5cBqjKxISq46yoxFPQXFhkooBBhrcqavpSIOPHkEUNfbhTlo4Mjmgnf6ru3H5PKlG4GaGOkBhAS4ZDEUc1wMdKGPDgBGA46b82YqA0ByBb4Y9zyBkDXqfCgs6uEj8oK9LWNAUPIHN7h47qozXJsclZv3jJdufesbIPUD2W28J+qER7lx/bYwJ1apUczZf6GD/k7UAuH77DPHj57cQS0IhGyDckh/4ZydZcdXRyU4EBLZigW5AHEwjMFr5sio0aLIjq1H7CRXtcV4G1oQkjHSlFfPn70iyLCAm+qGz/GHbw1DZXC3aNyyoly8cE0a1Owvg3vPkiqlOsv2rUcFwyfGL4xg3Mt6H77RzwfMl18vXldAL4AC+oW1jh3b/vg9wvMqNT+QGDGjScVqRYT+aI6zzN21PvlIbv12T4VRR44SWQArkVHc8QvQf9uWw8pzEKDXXR1fH+N53i+WS2ZMWq0805BJK5XsLHyf9BGzfd5/2yYjnzqJPHqsZEJA00yGPMDiUaQL4n2Z9X39C68jmhNIUwN0xJsYr01SfeBxasoaJr+QOawgpN0pYDJlTStPHj+RG9fumCSF+nfh7E3CmIGxJlasGJIjZwZh/hncx75FiUJNdAS5IFIEoVOT+RJywPrhOxzBg5BMjJmzpZFvDv9oK7cAuAizTps+mbCgzLqVu53tW0MkXT0hEdwI4yJcqEX9oQKg522lkAlh0uwuCsBFaUb4JbzJKqj16TxVOrceJ/AboAYABuG/ROl8QYKQCHZ2exuYjCVsCUEJGucs6eP01ixfpbAc//a08gAzPSFZ+IR3xLUIKLyfmuW7C0IJx+wsLFxAu/COdgEZu7WfICbPXUFIwBr6Bf2DfgIQwjVca3e5efOuRIkaWQjbS5s+eaDmeSYEPqyCJN4np1v81+LKlHErbOU1Cmij5hUUfXxjCEHsbN10UOXzYR+lzxMISR4/QOLXX3+Vy3xSAL8KFckpr8SJJWY+RMavBoZV9acfLsh3z/Ju0bgVmPEEQqZ/I4WcOX1ZKWS9je+Z67xVTPARBQ++wV9XJa9/j5lCPtBS77eRyWNWKIDTE63QRb/+Yt5m5a1M3+cbsLNfIzDj9cF4QWL6yWOWK5ARxQX63BUrEPnN4Z+UUuaunh3Hbly7LVGjRBHCsAEyvvl5gQCeqCLmAAAQAElEQVRqEOLpcDgEAwwgOmNkzXolVMikHXS5a4NVLafO764WykGAJx/d0g1DnTlJrddY+zrjB2kD5i7rKxj3rPV8vU3/xhgEOG7Om/zWrFsikDc3454VhMycLa1azbPnwEbCM/ia1qDujxI9Y9IaJ8hIv8ejybyGcP0jB34QQCWeL2Pm1MrjetaUNfZ5/5jEWH43rd2nwCL6b+uO1ZVn0vSFPZWnzRZjHF9sjB3qHU3rKBWqFRbmVWQbxqpRk9uHS39nXu/WfqIycmGAAYC25oQkBP9rw3gDEMJ3AK+jGgbrxfO2hIvBHHaHFoREXm1sGMWQR8oWbe+VeZ13TC6+AcObCd5r0OWu4K2eKUsaseYr5ds7evCU/PXn3wJfMxkAEt8tfcN6jwpV31eLVgEkIOdaz9m57S/fI98J+ccHjWwhWbKnNb5/UYA/nvWm48GhfSekZ6dJKgUDMhGLPNGvTXnFHd/wUP/7r3+EOdXdeV8fI0UA/QCg3GwrTpyYgvf61cs3jeeZLHynnGM+x0mEPj176johxzeRXeWLtRdylVPHrpIxgjmBkFuzmWFgxnCMUYX5g/G3ebsqghxr5RvytglCUg+jEfoY275OAYMMyhhL1IqVpuC2GUeWrh/ifBbGDKKRkKt0zsfguBfy8xqADDmvdM1w4AAfPkID1geHwyGEYyOkMIFaycFDom7D0mqFxwUzN1pP+XSbgZScd+RbYyGdX914dngCIRG8EKqwHALkIUx5k1gmAoQFwIzPB8yTIwdOCQMobeApCgDDtrUAAnRr/39ADIDPFEis9cJjGy+aXoMaCwDI1Ss3xewTCRO/ppRbJsV0GZLJ2hU7pWu7CbKWkOCHj5T3HZZd8vl17lnXELjSKSXBjmfgHZsLzmzYMUbix48jWOKtbbvy3ApC0s8p9A/6ifU6X28DXrMSKc9AW3hwACxmeDOltOpYjUOBCn0Yr9TfbtxR3njzZ20UvuFAFX10gO9xxMS2CoyBdtdmggIh8XCi8D7wUPWlhRMvu37dpqt+iFDfvG1VadqqskqMjxEAPlpptwIzCFXktcTyTB1Ahdx5MynAAA9E12upE1QJ6hx9D8/HNzKlUp4N1KUtFBerknfN+B7NdscO/0IIj2MfWt15bdKncuV+U+hTjDfwnHvbURgX6zctKzFiRBPed+KkrzsNGCFpH8UF79SubceHpLpP6qxaukNYBCVW7BiS0QCNAGAcDofcu/uHsKhFoVyfKm/XvTu/k9cMIwCe1z4hJJibwusixfNI3y5ThQVnMP5gGAKYa9q6stC/XG9BX585eY0CzcR4pj3GM+C5SX9yreurfebGNIZBkYT140cskYvP8tyhmJAqwNr3oQHaACHxwGf/v/8eCsAf3wL74VmCAj1MuiePXaG8gXg/n9YeaOviPu54w5wB3wE9yPeYLkNyY97PJgf2fC8YTJEBJs3pKhhymJMAFSYZRgTSbCRJ9roBShZxd1ufH4OObkGAkCjiw/rNUd7W1G3RYJiEdx8JDQgJA/kmkEfoO+w/byFVDuMTxs2KVQt7BCGTJU+oxuna9UsJObNpl3kEuZscmiwqA/iEocz8Rjlfp2EpObTvpE8WnIGG0Jbw/h4Zu3BAiP9aHGnXdISQHiJz8qrG9kiVsxYDc/d+DVSUA8Zkno/FktBj+B6RV9ArGNs5Zy0JEsaTf/7+122uSGs9X22/nvBVAXDCi5E2eFZklaRG3+n12f/BR3QJosJImQVo2r/7dLVADnMPRmuu9XbBY5AIBbwdzXuzvWDVAEFnjUhOIMU/eleY4zq1HitZU1Y3DPtTVL5eT30D+ZCxLzxSwESLHlXwvDR5HpJf5Oh/jTmcHP3UZ00JFmHS4CPc8F7RAKT3eKnv5CMOIIxaQUjCb2cu6iUTZnaW7v0bCvnDeg5oaAAef3ktJCQkj8LkBhCQJl0yVT2GodC+ky+LIShnV/vWP0ze5uIneEIOG9NaDv0wV5q3q6pWjLPW9cY2wkGdBqUE4bJ2xZ6CcF6tTFdZs2KnIKQh7KFguWsLMKBbe/cgJAnAyS2GYOfuWl8dw2tm3PROQpjClHndJFOW1DJ8wFxBGB4zfJEgRFSoUlj+/fehfPUsP12nlmNk3ardCjhB4U2ZOomgIOI94Ss6rfeFR5MNJclccIYFXBCESpUvqARpa11Xnhf9MLewEMrcZf2kbKX3rFVt2ab/NGldSXkNmA1u33JEbt+6pyzlZSoWEoAvcfMvS7Z0SpD9uEIPQdh2U8Unh8zvkXBvPHgrVC0iIQEhq378gQBOE77Hu/IJcW5uagVDSXvw6PEjZUDxpNghHJt58rA2k3vn56srhfd05dffhITpbpp5rkN4kv738KGQLqB35ykq/5rD4VCGIAR7eO6uAZTq4EDIY9/8LHhW0Pfd3cMXxxi/qtQoKpcuXJcb1+8IVng8QKbO6x7om/RF+2G5J6D67m9nyMLVA515lshN1dgAivDaQFg+cfyMTBu/UliEBkUGgZ9+RB5Qfh8ahpiwtO3pGr6rL3ePdzvXmdcALgIoHDl4SpYs2KrAdoDEaRNXCWH6r70eV8y507zG/D353RnBwLTz62+Ea3gG85wdv9lzZRAWVWj0cX+1YEeNct3V3EHbQYGQ505fFnLk0vf5BqhvR+E7ZDxAycXDxLVNxmEAUfieOMlrauw2PSHh7ecD5gneQPDazu+xl2FQ/Pb0Qvnl2iqhP+E1aNI+Y9JqIXVEugQV5O2MdeTypd/U+MM3PHRsK8GICpi9fNFXanziGcYZYDF5bpOnTGjexuu/0Mh8cfbmGjl3a60Q+s33wHxPYzuCCcembxDJwJiKMYNrwrsgJwYVjk2fyvNuZq+TiQwBmHH29GX1biNHiSyMGTgZuDbGmP3Xn/8o+cMM8a3XuIzEiBldRbzQd/ft+k5dxje6YNVA5Tnbsn01dWzPDt8vOKMaMv6Y3yPeuBTX7zI8v0cMl/EM8BEvPwwOBrnqPx669Mu6lXvJ+JFL1THrn+BASJ4ZWfXUiXOycsl266U+3WaeIZqERh4/eizxDYMbCz5BDzIKMrcVfKQe+R8x2qU1jEzs+7pAX4Om5YUIBaIWAB4pHbvXEbwIre0z/nrSv6z1wmMbnvJtJTWMPFs2HBD6BHQQuWdNq+MOoEYm4Ru1MwUM6XWgLyw5u/HiTfLMOI0Tz3BD30Sn5H5eLC/1rTQA+VK//ojz8CYIycQB1UweZQwQhLxXDC6EH7ZvNtrpXk8dXxcmvmtXb0n75qMU6AWwh6WeRPtY6F3bt4KQhDJeOHtVOjQbpTyXXOs+zz7gUb1GZWThnC8F0MJ6r96dp6qcdijed27dt54KsO06CeLhCSBGnqhYsWOoEMsAF/h458PS+SSmIWji7YBXVc7cbwrWWRREJkGUdFYpvXXzXgDa7t9/IAj5LB5AkuzObcb5mNL/39664Azto+gBNBFOOG76Z4EADyvPHQ6HJEocXyXSttvTiv5DKDDKv9UbD8UKIAElNnr0aCp0eIoBBiOUmE+NQoGi8u3hHxUobB6347dareLCCqMsAIWlPjgQcuznS1RfQelJnTapyl84sNcsO0h1tkGfjRvvFRX2GN3gaf2mZRU44KzgssH3PHLQAmVt5hSGhO+++UV6dJzk9XGE+7dqNFwBE3xDjMEjjLYZgx2O0IOQGGt6DGioDEbDxrZW4DR9nnbsKoC+tSr2kg/zt5Q6lXo6+2iB93PIVD8EIfm24BsKN+FlAB2AAfALgR6vAsLeAY+G9J2jQD7OmQUF688//3Y+p3n8eX4ZH5h78TTyNNdx/7wFssrrCeMphZB9s0wes1xY3Mncd/eLV9P33562HXzE2x+PFIfDIdbE9SavMWBBL0qY6WXFPoVjyjg6eY2tXm2AG8Hl4oI+V9Cj98DGQnoWFl/A44k6dhb6MjkyMQ4yjtGfACTxvHelgxQTAHxEukxb0MNQ5JMqEJsQvq7tJjir//zDBQVcByXbOCuHYQPaSHXwxx9/KS9GwE6MQXhSLVw1wBmez1zZrf1E9T0yrn9ct6SQ8gFj+eK1g8PQsu8vcQdCzlnaV1QEx7ZRwgIM3qbi7OlfpZth7C5RoKW0N2Th82evCPOxOxBy84b96rsiFHJInzlKfgJounH9tpJpka+a1x+qDAUOx1P5CQBh3ao9ss/jokTefiIR+vCKLz8XgD76BQW5aOPOseqY2WJ4fI+MT2+/k0lIMUMfNWmx/h45+IPqt9Zj5jayNnoM8hX9uknLSkIoNw4hS9YPlX///U/6dZum5CrzGl/+omcNH9/GmWv3x1MX5Mnjx1LC0BdwUHEHPkLP7/f/FDMajH1flz0G+D176lplnGK8696/gTDmXjx/VZCxXb0ukYv4LkhPEzlyJPU8zE2MgRhgwsMJBH13/IzOwoI9CQ3dBKcPK99IqxMcCGmtb8f2Lz9ddDqg1KxXUo0ZoWkXfr+V6w3Vn9E3Q3Otrhs8BzQAGTyPdA0/4QAKcPNPhiqvNwRMJpEfDGsbC02ULNhKWHXSTlIZcLFiMym3azpS1q3cJYCQWOY9KWZ7dh4zLL1/KLCjbZMR8stPl7xKMsoh1qdX4sSUosVzOwVisxGENMIesSQTwkeOonXbRytL8ewlfYTQBLOudRJ0OJ4KdITe2GkFQgFHsUueIqGQM+6rLw+q1QuZzE06+c1hTBJx48aWVKkTO8P6mDyyZE0r5H6pV7WP8mTh+alvRyGs6MR3Z4RwXtpvXGugyl+EQGENs7bSAs/3GlZ8QD673f3hNQsUNWtdWWLFiqGEni/WDArg5YTQTH/H8wRFoWSZ/KrvnLiwRE79ukw+bVVJeT/OnbHB+li2bBMyXSxvc7UAFKDt5Us3lLeEJ09IwsTJt4j3IIKenYIzDCF8sGzF91TYdb9u0xWoiFAfHAiJZxCLyQC+16nUS+UupN9wT18XxuCwgpAo6o1bVFQWf0JsfU2rp/vjPcg5xl6E/+PP8m36GwjJ+EVutFRpkwiLCzkcDnEFIXkOCsoBHm1cwz4FTy28e/fuOu41wxxeG3Ubllar+dJGUHMdfTmSQTNRAXUalqK6KozBZ595PJ03AAd10PjDGI6yXqxEHmFubFRrgBL8jVO2/MfrqlK1Iip/YM63MwpzpLXhoEBI0n+wQApjvZ2ej7Qb0lxcPAvj94xnOSEx4gL0Xvn1poz9fDGnbSsYDDHE0Q96dpospqcu/RejMkCflRi+0W1bDyvQkbkHAOSrTYcEMMRaL33GFBIpUiQDPD5pPeyVbea6mnU/VCkOAPzJHdes3hCnDIc3L9+h2RgAT7f2ExWYEzVaFOF5k6dIoHIim3X87dcVhMSYSFQAsmLnNuO9Ti4ytKnYwy/mwfPGmIBs4Q6EnDt9vTAuIOtXrlFUpd65duWWky7GFhZN+frLQ4LRF5mAxWqcFXy8wcJy0D13+joBVB1kGDThHQZ/Qp7bdKoh1DHJsPt7WUuPLgAAEABJREFUxCD1qmHwZLFMkwbXX+RAAK7128fI4R/nyVoDfOabNOsh//Hd8Q3Sr3PmzijpM6aUBbM2Cgv+Ma+adX35C/iInpU6TVJBD6QtFnP67be7gqyRyjAqE+1Ev+KctSB/v5bgVTE95KznfLU9ddxKYWFD9Fbka/oEnqKe+IVM180A55FN0RnC0wmEPkHYPkYiHECSJk8gCQzjoiuv+J5dQUgWcsPwgsHOtb6v982oLdph0VLSPbAdkpIwUXy5d+cPW40XIaHrRaqjAcgX6W2+BM+C4IHiTUhOjrQ1pXThtirfWHg/OoIPgnRwIOTH9UrKzRt3lYLlaeIJ67OY4COKn8PhEIA7Bn0mD+s9SciMBZ+QLTwls+VIr+qiFIyd1jHA4gBMgtu3HlEeWr4AxKANixpWVLatdCLMmxa36DGiCZ5eTesOFoor7wDsHj95IslSJJR+w5pK9drFBW/NN7OkkR9OnrPe1ufbWL5ZeAEwer9headv0Ch9t1enKUGCkLwzFBVypdgB9EIXBd7TVxIkjCfrV+9ROc8iRXJI9pwZhBynnKceBY+TXp9NFrxNeEaUBRTHKJEjC8Jep1ZjbQUOoMm1QAffY1Ag5JuZUql8QYSKk7/NtU+53tNb+/CScO8vVg+U+/f/kCljVwiCslVwCw6EhBbSD9jp2UGblLCAkKuX7VCWaIRphGrGFe4V3oV3HhQIybsyPQ7tpjWZIeRfunBNAJkrftjRGP9+ViS4AyFJ79BvaFOlMOLRtv/7WYISeXDvCSG/lbrwOf/AhzIVC8nq5TtUPkfeKd+/JxAS0Oj+/QdKGezc6xOn9w/zDMrA11sOK88lxg48aFZ+OVwIV5yxqJds3jshgOHjOUkP9nLmzrKVCgljmcPhkJixogsAB+/fevG1KzcFr1PTEzLzswVnUM54B9a6dmwXD2UuLmgC9Ni68aCgABNmzthnzlGct6PghQXAS25QxhPmuiF95whh9/QHAA9XELJP56mSKVlV6dhytABC4pVtpZXryld+X/DuQrG3nvPG9ntFc6rb7Pz6G/XLn6OHfpCTx88oo/LnA+cHyp3JPDTZGN/xQqbvdDMASY5xrb8WQMiJo5cJNNNH6Ov0eej3Nc3wJjgQ0qQhs2Fc5jvNZMh4vHuO871Sjh87LRh9eRaO21GQOYuVfEcWL9iqIo+YW2ZMWi0A1csWfa36LIBdhWpFpHm7qk6S7PwekfvxUsyaPZ3gTewkwtgAYMc7d8OOsVK3UWnJmiOdApmyv5VBuvSpLwBJJp+tIKRxqSRJ9ppEihzJNrkPnQUZO+6rryivS+R+6EAewpiBPhDD0BlaGYAvThaxX4nJaVUw1DVrW0VwTKCuOmjTnz9+/0tIh0IkFzQRgo1Rz1PzyEndnoGQDkf4OIFAW/uutSTea3GU4wy8Rcds2qZKAF2RehRXEBKDImHmdn6L0EFhPNm25YhyDIps9E/SdGFo5FxQhW8hR64MgoNCUPX0uefjQKTnu1xf/Zwc0JdHIA7gvbPrm+mCt5drviIeAyEe0MMdCInyVqFqYRnQc6bUKNdNEE64xlsFt/zS5QsIwJVpnXQ4HApYBFhCKKMtlL938mdVnmGL52+RLm3GCaEtTCqcjxc/jjRtXdnpRQgg9sFHeWXD6j2CkkAdbxVoIkfLO/mzyFtvvyGEGHCM+/OLUmda3JKnTCjkHeGcu7Jlw0Eh/5bD8RQ0GzaujXxgCIPHjv4k82dudHeJT46hNDVrU1nqNCwtOXNnFNcFZ4ICIVOlSaI8nQBYvc3r4B6WMM9Hjx9LlVKdpV3TkQrY/3L9fjVxp8uQXEqVLxjgFoRilyzUWkq911rVJ7fL+7mbCMYBOxQViMFbF6/dTbvGKS/MKfO6CYID5ygIH3yPVhCSOnyLfC8I2VjxL56/pgBXrrGjEHZIUmzAjqzZ00uVj4upZl0FN1cQkm+CUEuUc3VBOP4BNBgRwnBsBO006ZIpwBphGqHaLtJRNA6cnCNmvrbTN1bLjiNTnSFb0MFY7ApCEnqIp8rC1QOlWq0PqGZ7ga5uBmABv9i20ugKQvI+yJPMAgAoY4Q4f1pnkLRvPsprSiHfda0KPdQiIGwTMrlm+Q41RrgDIfn+GCeYW/BIweD1w+XlKtSd8OY+BqBEnwZ8LFoij/A9UBflLKNhHOjYo06oQ6bC+pLu3v5dSG2QP3tDp8dDjlwB5yTz3jw7gAwLW3CMZPwzJq0ROz0f4RtzM3PillDm4uLa9G+kkPAAH1G2AZezGkZPPMMADOAhxezDQYGQ1AN0TZAongJH2Kcwpk99lkKhn49CQNOkT2aALJFpThXGtYEjmkvhD3IbgNMCgX5OYDglLBTFm31km9s37wvfMt8Ex/y9XL96S/795z8Vzkxfp8/bRTM86tdtugTlCQkt5CY2bM5Kxp08p6syOg8e3UpYiATjB3XsLKQJgh6MztZ20QuQs83ctwBjACFp0ydX1ez8HlnE6dqVW4IXGyHAhIUjQ+0/MVsmz+0q7xbMJoCkijDLn8gGePN+0VzSrsvHzqNWEBJAisgrDDlU4JmYe/lG2Pd2Iedxr85TpFjeZoKcmtfQafjuaAdAF9owUsDruoYsvve7mbJ5z3jBODd8bBuJEiWy8tjk3XCNHYU8kC3bVzNkzavyLJe3eg+de9VzC+SZNDH/+9IJxGwnqN/+PWZK8XwthHQvk8esUDIFfcgT7ciyRKzxDsLb6IyBH2cJni+y8d4rVisiyHVmf+G4tXAcwBXjKjm2ref0tnc5oAFI7/JT3+0F5cDQMa2kU886BgiWQClFAGO9BjUWACfrIzOhAXpYQUgm9g3bR0vjlhVVHkPqWK/xxja5zYrlbS4AV7j69+o0WYX+OBz/ByHLVCykvNmuXbkpH5fvLoSHMFEQRsQ1WLyhJWHi+JK3QFY2lcXLF4AYAgrgI0AM4YV///2vZM/5hgAcIpgxARAigeKNUoqA48niBqGEVfbvPkOF/zJxkJtpzfKdQk4gzttRUK5YJAehC4EN6ywWcfat7buCkEU/zC3k1yTkpZlhVeRZrPV9vc0Kb1nfSq/y05h9k18Aj1PfnxWHwyEIbO7o4P3A53Urd6v+5q6OL44BZkyd310A1FHEKYCPE2d1FgRqFFLaRZnhezRBSOrs+Xa6IWx3k5ixYsjWjQeoZmsB2ACAuWOAHvfv/WEAcxed7fM9Wj0h6U8A84QbAcinTpvE68YLZ+Oh3EDhHjFogdy987vqI3nyZRG+ab5t11sds3nBGb650VM6SPO2VYUwT8AW6OS7TJ02qfQa2EhGT+6gxnJopR/T349/+wu7QughnhIrF28XVuNVB234w3vesm+irN46IlD6DFca3YGQ/bpPNwwxV2Tj2r3i6iHmC/IBJ9YEAUKiDHZrN1GFQ6I04pH5808Xpfcz8BHjGHMNoCOeCrkz1pWBhpHu/r0HkiFjCgPcedsXZAe654xJq4XFQa4Zc2MTA7ilv1CJb5Xvz7VPU+/0z5fUmMl13gIfGbdYWI/CNjS4FhQkMzKAudrss2Y91zHECgyYdb7ecljs9nxkfmQBBsBlxu17d/8wyXH+MqYApPP++YYxtiBj8cydetZV32us2DEkRoxoUu/TstLUMPaRm3DJusGCkZJr+U6cNwxyI/QnX3struqT0OYOfOSOhLcCiOTM/Sa7cvaXy0LEAHOROuDnf+jrGKFZTITvm75uN8nwKjgQcvO6/QJQypj+XtFcSnakn2zfelRFYnibZr5HUh6YwLLr/UnBEC1aFAUquZ5jn7Fww+o9ymCTMk1iee+ZRy3n7PoekesAhvi+ABrx4OZbJFemw+GAFOWpyTiNLkGqgekTVgkpr8jTWqzEOwEWzQToMx0ekNGbtKwki9YMUuU9453EiRtb3dMXfw7vP6mAMMaMxxjPaz415NJW13YThLGANDvsvxrvFcmYObWkMQyhl3+9Id2M84yTnPN1YazAmEZf7dlpkiBnDOk7J8QgJLKtr5xAQvrsjAH0Heoz1zHnse8JhOSZcxnjH+m+urWfoCIduDY8CvoUKV1YrI/2GS/Qeeav6C/TF/aUKka/gV7menKUcyxN+qRqYSvGIa7RxTcciOSb2+q7ag68OBzA6lfUmHiH9p0rbySpZFi7FyrFg0HLFJCtT8vA3NMAANc9ywnJ5IenVYdmo4TB0FrXV9sAkih5TBwOx1MQEoX7niH0MwG6CumsgLhlwwEVJhk5UiSJHTumkzRv04yAC1CB8sQiF9lS15AsKapJi/pDhXxAtIfFrZhh3SSPTkgsbhALsEcOrgyJKqr7tTf4zbvgnB0lY+ZUKp8f756JN1Ikh+CtgQJLX7HSAK29noVjOxwO54IzrApsrWfHduKkr0ucOLEkc9Y0goBttgnvDuw9oUJcHjz4yzwc7r/QiIfp3dv3BeFz9tR1ArhBUvHIhoWz8AdvyxTDmk8/g1iEiE4tx6o6hJRR5/atezJi0PxAIXPU91WhHyzbMFTdftPaffL2G7UlV4ba6hnUwWd/EIxNEBIlgTx+X6wdJLneyaSAHJ7nWdVw/4H/IzyAkChseALVaVhKUL6w5Acg2Ic7jNl4bKCE4LVXp3IvKZSzsXrfWOXpA+WqvC/WnECMiSi95ATF6DFn6vpAOeZ8SLICHM10BwjD9BezD5vtQiPjtwk6AUKOn/GZ8ugkfC5ypEjKS8HO0DJAiqBASLwICIdEmb1w/qqgqBMGNWtxH0EBfvzosaxbsUvwombMIVQL8DRq1CjOXJPm89vxCw2Ac0GBkCiFePGRyxSFzFt09R36qQAYUrr1rR/otvQHDBEYQFH+wpKLixQheHvynIEa8NEBQI5WHaoZ4MwrqoVIxtzIMcJW1QHLH8YUvltAEuZNvmU8vzNnTatqMf5xLnGS19SCXZy/feu+dGju3UUI8bDvNaixMxWAmtMjR5KyhiGX9C6FXTwfFXHGH4x2Vt4SzgzNxqkI83+DAZTxXSM/2kE0/Zq0JKevr5IVXw5XYyE8Yzz25AmJ9+zwgfOUpyTzOrItOSLxNvQmzYCa5MbedXSasHggociHfpgrzGvWdghBxugMuGE9bt3GG4u0GjFiRJf0hoGFc4zpdn6PfF+fG3wzwTlooPx+/08lfxOhVbN8d5WXFbmKPJr9e84QDHivvR7XGLPTUN1ZrCAk8kq+gtkE72Zv9x/GAowQLCbibNzYQK7Yue0bA9DNJbwr45D6j1Gp6DvNFOCHJz6RUC0bDBOOoR+pSjb8KVWugHzSuKxMmtNV/nzwj9OAPHLwwiBBSJ4XnS1Hzgwq7VSnlmNsoPZpE8huON1s2DFGKEPHtlbf5NOzorz9gwMh7TY6m7S5++UbQ77Yu/M7ZQCgDvwt/lFeQRY5cWGJrPlqpDH3VlRGrtlT1imZlXq6+I4DGoD0HW/1nSMIBxCEp8zrFmCANUlPmz65lK5QSHlKoRhxfMLIJTJx9FLBywSyW68AABAASURBVI5BrFHzCsoSzzmzIICuWb5TADqwvGCBYRA0z9vxyyRrBSGxYEaLFtXZtOsGAh90E9riq+TMCJqAj/Fei2tYIScKNJp0EAqO0MA+gi+0sI2CF9xkR73wKLx/PK1I1k2eE6x9CHiABIQeYG1jRT7ABOpaaQSE3LXtW5VYf7XRV+wUMKx0YJn9/fc/hfD7Dt1qK69C8/zTPHTXZcuGg+oQShmKwvFzi+WbnxfIyEnt1IStTtr0p1CRXHLj2m2V4wmwlxx3gBt9u01TC7k4HA4BwMFzxiQJXlOn4oedFNCNELpg1ibztM9/EXIqVSsiud/NLGnTJ5O///onyDZNEPK3G3dUPbx6d379jfIcUwf86A/9fcSgBUpBcTgcgifkglUDZdOusWpBD74Db5OL59P2w1OEUHrXe6OEIPR/c+QngTbzPOMJyunIIQuUAYlvs5hhWALQNuuQxy+qMUbaDT7Sfq9BjYV0B8wr7NOHGTcYM9k3C/MI4wsLXDkcBr+NPgVwSW6pL9fvN6vZ+ouyuWb5DiXcZ8iYUlgcIF/B7IFouH7llsSIGU1IqJ8iVSJVf82KnYFCxf/55z/BQxjQJ9BNnvMA/Jy3vJ/8eGW5nLy4VGYt7i30Gett6SueQEj6C/eoVKKTUsSs13lr2+FwSPzX4gS6HZEBETEXFw+yetlOyZG2phBt8c8//8rrCV6Vzr0/EU8g5OcGSAIoYo59KJC8F77pvl2nCV5alO4dJnl9IS5oGje9k+CBjmzI/pEDp+T+vT8E5bxQkZxqMRlo4dmsBaWW6A1/MtpZ6Qtum/Fl4uhlggwWXF1vnbemJcFztE6j0urWyKT9uk1XICNGo4pVCyvAQJ00/gB+MZenS1BBcqavJQN6zDCOeu8/XvCT53aTgoXfChCanDBRfOnUo26Avgu/ANZZ2KlkmfxuiYC3h/afUueiRomifsPjD7IPfGthGP0B7kmdw7fZsuEwt95q8JnVsT3Ryvlli77yadh+ecNgWP/TsjJ4VAvZcWSaWEO8aR8QGm82K42MFxjjWJSwd+cpwiKa1vO+3Ebenziri0FvS4kcJZKkTZdMyctWmcUVhCQVErIN1z71sH7b0A/+s81xBX5A34pNw6RyjWJCDv0s2dNJjTofyhdrBwcA3V31MmjHg3D5puEyzAAs7TY6Q3tQhW8PQ3SPDhMFmRSHBWt9DNOA2UT8Des/13rqhdz2h4fSAKQ/vAVNQ7hyIEu2tAIISViTqyKSM3dGIc9SztxvOi3hEPvGm6kUCHL/3gOVZL9Fu2rimtS5Wq3iRp07PllwBhpCUrZuOqhAC4Qjh8Oh8uUQ9oYC5Xo9uawePXpkCJ63ZPf2Y66nn3ufNk3wsfdnUwRQyLxpWgPoxSXelYfmedfJzpp7hMkajxSzrp2/rTpUl7IV31P5qMpXLizs0z4TGWAkE13kyJGkROl8ApgArZynQDNhKuTtDC/wETrwJNi36zsFBqQxhKQJMzsLYTRL1g1RQN7UCSuVAIQwjkcb30icuLGEVVRZtZb8S9zH1wXBCLAgZerEstMAbhEorG0iVHdrN8HovzdVSDBKInlXrXXwHEMIRTC1HvflNlZ76wIX9IFa9T9ya/Cw0gEIWf6DjsozrF6V3oKSYCfdVlqC20YRt4KQiRLHV+FRAMQ7vjoa3OWhOo+A3rJ9dTl5/KwwvrlenD1nBtU3790NHOJJXQCQeTM3GIL9vwp0L1+lMIdVATQgPxNhZeqAjX/mz9woeJ4Uy9tc5V6j6aBAyJ3bvpHbN++pxUQYZ/oZAHx49o+QgJBzZ2wQvtMTx8+oMEm+xwkjl/GozsI88fY7b8o3h38UzjtPeGGDe4+b/pnyliFkMFbsGFL0wzxq8RtkAGsT8NIKQpIuhDQZg0e1NIDiFNaqXtvGE4o+jbJPf3C9MZEBETEXF2MASh085duaMWmN+v6CAiFZzfjvv/8RDC8m+GjyA6/amuW7q++FBbzM4976JZ9fzJjRVUQInqbIf+tW7pZtWw6reTJGjGjSpFWlAAo5bTM3kvYBA9O2zYc5pEsIOMA45yktCX2nnwcQEpkAnoegiVBXQd4BVMEISF7sCsU7ChE6ABXc7NV4rwjRCWxTWKyHVEL06U496wTQFzhvFgy+f/z+p+ANbh4Lj1++RWQhvqVtW44ESwJ9mjn1hxPnA9VlXP2gxDty5NAPwjyAvhGo0nMeWLtil/xw8ryS7VKnTSLoABgh8RS/ahi2mA8Bin3VH0JL/qjJ7eXtvJlU+oWsKatLoVyfyoY1ewU9y3ovKwiJXE2fO/LTfEEuYZ5cs3yntbpPt/HexRD6/XenhZzu5Hjn+wOso1+371IrgNHXqpdBO+sk4IhBZIBPCX2Om+MN+9F7reUtw2BhAvD85nqjtlowapchVz3H7fWloeBApFDU1VU1B14oDmDV2bxnvHToXkeFehHWBMBi9dxgUCW0ImuOdNJjYEP1/ExwCEwMZIQuA0IipOKdAICGUEQ43Ka1e32y4IwiIhR/UGh6d57qBGYAvtyBkDwXYW/rVu5SgFMomgi2KgIK4GM2AxxYs2xHAPCRiwm7/ufvf6Vdl48FHnLMtVgnO/jNRI3FbfG6wcJ7wzPB9Rpf77+TP6tcvHBNEDwfPX6klCqzzaBAyFTPFpwhxDw8wUeTVvoH7/3PB38LSvlbb7+hcrBNM8BHrMuAPv2HNRPC3vBKIewZYfzhf4+U95BVEDfv6c1fwAHCZQEL6KcIw+7uT1+fOn6VWsEzTtzYSgB0V8/OY3dv/y5D+syR/NkbCmAvbTN+AEjzXbDvqSDIrzMUX/M6T/X84Tgg5LJFXwvCKjk3fQk+RjZAfU+CYoKE8QTvkkxZ0nj0zsU6v8cwsuA1kTZ9Mmc9+jre1t7kJ++YMTe4e9J3GTN45yhxKLRc46mvJE2WQLZtPSILZ38pgDuugDzX2l2ge00QnpAoveR4rFmuuyRMFF99p4z9Jp2A8y3aV5MHxjhEpIF53Fu/eHWwmMiWjQeE/nl4/0nBwy6NYXjBi5RxxtoW9AJCmu8C5RHwjLnIWu95t5EZKLxDPDCqle7iBNcBQpgXaYO+AU1sQwN9lX3mQxRy8ixyzizwM7xyceH1fdRQpN3N53x/8DEoT0g8yb7/9rQywPCM5jP58tf8VpOnSCjkyvvqy4PqPcyeulY1yzy5zzDWMW6gkPcd0kRYBI2QbDwlWVApdbqksmrpDmeopbpQ/3HLAebAkKQlAQSxgpCVaxSVk5eWKm9IQBO3N3+Og3xznXvWk1PfnxPGqjUGCIQxBA9BczEZbp/aGDcwdLI9zzCuHD34gzII4QU+dGyrAGANdShZc6SXq5dvypZnUSUc8/fCuJjn3cyCYcQ6Xlvp5h0x/jNGWY8/zzYyPWMY92AMIDUAnvEXzl1TxgHmkCatK8uXu8dJvHhxDHAykvDuqB+ehQUOkVMxdqInQgt8Gdx7ljK8sW8tVhDS4XAY+mhU+enUea979FrbdLddoVoRg4cO5aUOvcxHDWr0E6IUiMxYv2aPGg+t1zIPrV62Q72Pn05dEBwvkGOsdfxxm/5kAvD8su+PdL7INEV6kR9OP5vmgCcODB3TSvoOayoxDCv37u3fKk8LgBUEB2v42P7dx+WiMdmhpJgraeHmj5KNwDFn2jqZNGaZcC1KAErMtAU9FIiz/auj4i+DGsotwjOTisPhCOQJieJSpeYHakXsMcO+8MS2MB1HqAd8zJMvi1qEB4HBnVKyy3gPUaNFERPIddcYk52pdMWJG0vl7ABs6PMMYHV3jS+OkUeLPhTNoHfpwq3SqGZ/aVijv7jyjomYCZmJGdCE0ENzwRkUbV/Q5umevAdPoYf00/bNRknWVNWFcKZ+XafJ77//JXihkEC7dccaytP31s17MrDnDOnffbogjG/ZeECiRYsqqQxA1VO7bo+H4iB0AzYjjHIZ3ieEQSIUs+9a+CYP7DkhhEMlS57Q9bTt+zMmrRZyU/HthWSBC9sJ9FKDKApZDUPNtau3FLiDQuKlW6vbAIK3bF9d9cOYsaIL6QDUCZc/pI8gjUSGN1MIOXpdTjt3163aLRiPoPutXG84j3t7Y8DnzQXPOYpr/ipPbdFXUOZM4CuHQR/KOt8C19D38xrGD5SxXp9NdqvUUM8XhdA3cqCdvblGKHhrdO/XwNkUdK8JAoSkImGqjBnMtzwLx/i+8b7O824WwRMQ5Yfj3izZc2WQo4d+EEA+APPqZbuJSWtQICRzP94/zD3MQd6kibkXAxqAHdvWe6NMd+1TX4Ub9hve1HpKbUMLNDF+I3+4AyGP2bwAFIR16llX8PomFNnTfO4JhMQAzCI85ENuVGuAV2UoQAE8++nD0GktnCMKhvPRY0ST7775RfUT+orZF+Fz8/pDZemCrcrYGDlKZCVL4Wlfskx+wVg9ZtgiGff5Yuut9bYbDtDfKxmAR0jTkjCfAEJePH9NgSRPHj+RWVPWCuHibm4f5kPmN4fMP9mQ7Xnn1pvRb7/adEgBjbFjx1CGFM5Tr1+3aQZwdIFdSZ02qYyZ1lHljWT8ZnzDezrbW+ll/qyNXjfyq0bD+IdvjnDhStWLBroD3wVj0N07fxjA1IpA5znA90He1mtXbrLrlQJNc5f1VeG85g2XLfpKLhkG/9M/XRTyOZKCAY9UvFHLV3nf4HkSKVo8jzKKm9eEx2/mrGklUqRIcunidWfzyBmf9aonu7+dIadvrFaFdEbwl0qAkIw1AJYTRi6Vhh8PsN2IgRwE0IjeAk0UFnz8oGRegffoWRyjYFTlmSjMncyR6DrWa6mni+aAJw5E8nRCH3+xOfAyPx1567CuIygWzt1EGhgWHsIr8mdvoBaYiRc/jtRr/DQHDRNr1dJd5OMKPVRoAZMFCtPpny85BWOsXOQvBJSEryxiMH7EEud5jvlDcQdCzljUS5auHyJ4Em7felg9ozdpRWEGfMyVJ5PyEsRzAEXJnVKSIGE85bnk6bxJF0pXeFrcyC3YrE1lqVqruKRIlViF2e8zgGqKSaP1lwmZiRkQ0uFwOBecIS+NtZ4vt3kPIQ09hA7CqxMnfU0lziasPPYrMZUHbbd2E4TQYOpQzp6+rHKhAvqw74tS4P235Mb12/JJtb6yZvlO4TtD4AHs51t01ybhXHilevKUdHeNHcdQUvCoCmqBCzvo8EUbeGklT5HIJ+AjOcKatqos5ATE6/zi+evCypAAHa7P8v2x02rVTkJsa9T5UDz1ka++PCT0W97Jd9/+4nobr+3jqfnw4UMBnB08qoXsOz5LUET4poJqBGUOMM8EIQkBXrphqJAeYdSk9gIIizdWUPfw9jmMLi3bV5PzZ64IuY3xgMYTrGHzCsLiDOYzQfcaCwgJeDppdheVu4u8er9dvyOEu+NRPXpKByESYcveCZIxUypl3NhhGO+8STvt42mFlwwGR+u9rbS6G1dQtHLnzSyzp67zes6O36bLAAAQAElEQVRHAMdOPeoIMgfznhVApN92MRRWeGT25ZCAkBhrmM/DKxcXz1Trk4/k77/+FUAcnsvdfM87AMyZMWmNAvPoR4NHtRRAh/RveD/EHdltyOhWAj1fG98+7ZuF+ZG2iYLhfPKUCVXqHfO89ZfxoqsxD35cvocsmb9FLW527OjPysiE5yryoLW+3g7MAcZtAGoAXIfDoTzQa9X/KNi0JIwLhw+cEt4BwDuyYOC7h/2ICT7yzaVIlUgGjmjhFsw6tP+kknt+v/9Afr10w9kg+gLpAvay2MXDRxIrVgy1sB8LXOz/fpYUL5VXxo9YLAtnb3Je4y8bLKKIbnTkp/nCojuEEAOQLVw9UKLHiOp1L3vGNxaXgueuPAB8xBEkUeL48tXmQ87TvPfN6/dLxsyp1ZhBGgYWOEP/AjijYvKUiYQxiO3wKhhAGdObtami8oRiYNr9zXRp0a6q0K9wRqAwJvUb1lT1f2hFVkAvGDVkoZK3OeaL4umeGFDIPcy7oQ7gY91GZQQPyD6dp3JIlXqNy8isL3pL4Q/eVvvhYeRSDes/EZoDGoCM0K9PEx9aDpBMvOiH7wjKp6ugyORG2Nc7mepJiwbDnLfm+GFD4OBA0Q/zGADSa4LnJPtmQXiePHa54FFR8K1GAthnnvOnX+iyekKmSpNE3jaUK8LFUcS8TSvCwO3b9wVPBvi6Z8cxZTlGyLcqJUx4hPFeNSyo61ftVgsQtO1cU03erjTFNsAwFMXwsLgh2KBAQwMCxKvxXpGSZfM5BQhXWs19QMjtW48oEHa1AaLZHXZduUYxSZM+meCxGJLQQ8KDTh4/q94Vnj94tRHaTP8xn4lfrPyAOL7IGcr9KXgPAj4inJGLCf4FB0LeuXVfCOn/9eL/lQPuZUfBu+brg5OFlfUoe47NkL5Dm6jFC2if8cQTCIlnLblQ8ZagbkQqg3rNkiJ5mvjEGw+grVOrMWqxCbyLyhRpK4C4DZqWE5RZK5/41r5+lqsNPg4Z3dJtKBxgV/To0VQuSd6J9R7e3N60br9cvvSbuqXD4RBWLkYR2f/9bCF0E/BDnXTzxwQheVaMNyg1rHwdLXpUlUsRhdzNZT45hNc6oC+eGsxzpQu3VfmtoJGxMHPWNIIHhdk484kJQqJ0lSiTX44eOqW8lvYZBpvli75S4yHPlDZ9chWF0KrRcK/PnVZPq9Rpkyhw2qTR/LXSytxiGjdqGAD2uwWySfkPOvgEfOzYrbZcunBdyMOGEk0/bNS8vPKqI5/WvbsPRM2HxngW3eir0BMcCGlGBoRXLi7axzONRUHGPzPEus73Jt/5BYScOXmt4MkkxvexZ+d3AogDLzjvjYKiD/jIIk8AGgBF1vsii+CtyXHCwuF1UwM8YL631rNuM850bTdBWNyMBYlYGIfrrXU8bL/0h8OaluTDUu9KnneziC/Bx0iRHArg5CUBSNNv6D/suxa+XVM3MM/RB1jsok7l3vLF3M0COA0gyfzIwi/kwDXr+ssv+dhb1B+qjEqvvR5XLbqDNyRz5GZj/vq4Qk+vz+uMs28aQGLPAY0CyPkm+Ih3PHPD8LFtBEDUfAfkEb537w+BPvgH7c3qDZEKxhi9ZvlO9e4yZUnjlLeoY3fZt/O43L3zu9FXM8uwcW2kWq3iKi81czg5RQGgMaSy/UamVIFyydpJL3Ov2R4RIeiy6GKewEfq4njw559/C+Mk4zRjOOMh53TRHAgpBzQAGVJO6XovBAdKli0gjx8/lk3r9oXpeRIleU2thpc9ZwanZw1CKsrXbzfuiqswEqZGfHwRIBICHBZDPBTWLN/hdc9H8xF2fHVUEA4Aj5iomhtCzp4dxxSwZSolHQwljDDFc2evSI1y3aV1488VkDGs/zy3K/Jx7/CyuGXMnEqFqQPi4Y2FsFr8o3cFDxtASWhzV/CiQXnfsHqP2A0+Qk9oQw/J81O1VGcVjo318/7dP1QIBvcyS0kDUHj7nUzCyrvUN49745fw2tlL+qj8Wqu2jFAhiCZ/4d9qQ9AMCoTk+nsGzVs2HvAGOSG6B/QR4t6288cCIEO+uFixYwggPBbjhasGOMcMvgUrCIl3GyG6TVtXUnmWAHVC1OhLUgmlbtuW/yfKh3+AFITauwMhhxtjx4E936txBhBy5KT2Kmk970jkKdPqNCylzuPF9PSIb/7ybZDKg/6Id6YCWoymAGoI3Vy3fbRSsOizxuFA/+kLKLT9u8+QIwdOKUUQA5m3vX8CNexygAWzeAZCscxTO7d9K2fPXFE5zQiZ3WcAi+Y5fgH2UMDdzTMAmeWLtVdgE4Ayz+htJaZTz7pSpmIhcUSKZGBbDmUo8uRpBa3MhdCKcsz402tQY+WdyLN4syAzAHrt3PaNiq7o0Hy0micL5GgoLEKEdyn8+Oi91mo+7NJ2vPKIQeELCoQMz8gAkz9Txq4QDLns00eRNfhezfkeIJtz1nLi2Gm5e/d3twvOWOuFZRvgAhAJMClqtChqcRBX0J/FfYrlbSbkZJ48ZoUCMaDX6pEalrb1Ne45MGNS2NKSILs2qNHP68YAqEyRMrF8aegFgIQYQi4/82yk39B/6EfUo7xfNJf8+89/svyLr9l1WwDGGBMBp/mWeWa+A7eV/eAgc2zbJiOUIQigjPm2eP6W0r75KDX2eItEDLSk8Og9uLFKpwLg1a1fA6fXYquO1RWwBT3oKHyzLC7zxdpBMnluNwEU3W7IAtlzpg/gnUp9DNREsjWuPdCrNAf37MgSpSsUdFbDmESEHQAjB+En/WnUkEVC/0J/wJDKWImhPHbsmFSzvWDMWr5xqJhj8snvzxgykQgRgkQ1IPtbPR9NApMkfV1iG7Ktua9/NQfCwoFIYblIX6M5EBE5wIIhWbKlkdu37otrCE5In+fiuauChZwQDbxXNu8ZL9361pd7dx/4ZOXokNIV2npYFh0Oh6BwoXiF9vqw1kcAa+4CQrbuVMNQYH9TICjKtnnvxfM2u82Bwj3Cy+LGZNy59TjBgvlZq7Eq3w9gU4nS+YIEIVEoye8CeGY+nx2/AKNhDT2EPqyjhQrnVIo7gh/HKHgidO/fQA7tPyG8C455qxBCSEJ/kssj/OfMnVGBR4tWDxRTCYCPqy0gJB6GVWoWE3Itkcvo3YLZZNqEVR4BbG/Rar3P2KkdBat980+GGAB6U8mVobb06fL/xZ/wvsEbD29frqMfA0KaIbYAljMmrfGJckV7L1qBf55ASM6Rj+vQvpOGQP1EKTooPnu/mymM2ftPzBYAP4ASV9DMF3xasXib4F1w/NtfBLBtjdF3yRtMW4BKKFizFvdWtNVtVJrDgQq5TauV6Soo4Bh0AlXw8YGUqRMHaOEpsNtO0qZLJijaGJuowNiA1wffIn2duXLN8h1qfOe8taA0rlu52+04b60X1m08rYb2nSNEJZjvGboYF11BKNpgLly3cpdhpHyiQCjAM0A0znmrOMHHr49K+2ajVDvmvTFUWUFy8/jWTQfFjFygv7gDIbkO4NRXkQEYVvoPb2aSFOAXRfboT/OFOgFOGDvwDz7yTQLqAbyaCq9xWv1H4fXFgjPMF4BHeBk9fvxEtZU7byYhLYz1/SN3QB8VXOnVICRceb7CWDF0TCvZsGOMKkPHtnaGW8N35kG8vGklqO+T8+fOXObH64W5AC9W6GEsAyQCNKIh5BD6Ef0JowbyxfpVewKko6FeRC+Mx8i1B/aeEMAzvgtvPhPe6G0+qymnf/5V8Aj9fMBTJwPSifCdMS4A1r7/9qfKGFC7Yk9l4EbnYtwjh/pCQw5M/0YKNUYj87nSx/vzNt2ubVj36Q89BzYSxkYi7MxzeLrmzfyJpH29vDLkF8rZWOhj0GfW+eP3P1Uo/8Xz18xDtv0yZuPpuMOYh5AtaJhF+Ojz6DTk1o8RI7qS/TlnFuaZitWKGHrwfyoljnlc/2oOhIgDlkqRLNt6U3PgheZAipSJDEU0tkQzrOAAK6F5WITV5u2qGhb6b+XIgR+UUvtqvFckY+bUKoxs1pQ1fpVUOqhnQ8nBWrdxzR63SmFQ13rjHBOw1ROSe76ZJY0gXLDtbwXhmUVPCPlAODbpw1vHzO3IhB0cCOlNwRlBZ9/xWSqfHNsmTdZfhL1KhqBAkvewhB6Sdw8vrWjRokqyFAmFhQFoi/uS0wYhEqXY2ubzbpNHsGqtD2TS6OXyZrIqgkX+/Nkr6rbwvtegxmqbP1YQMnXapGpFTHIWZTaMDIN6z5KFNuZZAjQilQEeESgv0EeZP3OjSucA8IQVnL7UuGVFTqnCtwBgcO/uH4KSjvKrTug/IeIA/PMEQqJMkSNqSJ/Z8vOPF5XADACCF/s3h34UFgSy5jMNUYNhrMRYQcGL8JU4scT01Jg0Zrkg8NM3GEOYT8gJxbeNYYv+QpMsptO4xf/7Dce8Wfi2GN9KlSsQSOGwtkP4OOFk0DVyUmDwkbqxYseQ94vmFJRE9jEkAeyxbXeZMSn0nlaEzv1+/4FPvkcr+OjKE+ZlFuEhVy9KniuvQgJC+ioyACWb1CP3Db640sU5AFFCmOmnIQEhiXogDyqgFAYjxvlGtQYEAGNd2wnLfqPmFYR8bID2vTtPUWGRDodD8uTLEgiEtN6fcZjxmPGFMQNwhHdHHd4N74ptXYLnAAaJFZuGCWlgkPOyZE8n9Jcv1g52hp7CZ08gZKuONSQ80pIwj7uCkFPnd5dPGpeRzRsOqPQTwT+9/9UIjiLmzVoVegi5CIOrG5rzyHb0BdIzcP+Zk9cI81/lkp8J+VQxqv354K8At2TOxKDLeSJtACJjxowu6C/ocBju0M0CXGTjDmNC3Yallccmnpyde38SIJw8KFIYRypUKyKkCQprRF5Q9/d0jnaJOOMbvHjumhw29FmzLvyeOn6lYCzF87RarQ9k8brBQqQGdQiPn20YSvPmzyrMR8i1HNdFcyAsHNAAZFi4pq+J0BzA+y9HrgyhegaEprrGRJP73UyCoDR57AqVfHzdyt3yae2BEcoSijfep7UHhQv4aDIdgdMKQiLku/OMMOuH128vA/DasneCWsnQTMoNyIUlHJqYsD2BkAhbWEWZ8KnrzVK+amGVSw5AoGyl9wLdGqWwTMVC8ryhhwgYeDniPZLn3af5bMpWKiSb1+9XoZO8x0CNh/EAfCpVvqAc//a0shRzG74v8j8iFF+/dlvmzdzAYWexgpAcvHThmhCqiiWXfbsKIdTRDMPGuTNPwVJru/QR6GQRIo7nyv2mAFiyjSKbO29mnyxwwf0jYgFoM8OS+X6w0gelZNAHPYGQPD9AQsmCrSRz8qrKEyFXhtrSsuEwW71joWPblsMK3MNQwT50Txq9TM6fvSp//P6XAESTVsDheJonsknryrLzyFQ5eWmptOtaS16NF5vLvFpQKOD16q0jhPFt4uwusvbrUYLnomtDF85dVYsqfFyvhIyb1jGQ56NZ/9bNe/Lgwd9qFyV+ovGMasemP6w0a6A8XAAAEABJREFUjocjhW2zWfjN3B2Up5Uvv0eU1U496gjyR7z4cVVfMGnjl3mZBXIKFX5LQgpCfly3pFqU6MDJOYKHFt7ojDfcz1uFuaRxiwpCrl+8eqz3xSBVu/5HQtg6fZcxPCgQEtCB3GEYtsiDynhveqZa7+utbUJpydEIuIFBasSgBWEGIfHMZ3EfFHIMcIDw3qLzRb0PUQzIUN9/d1rez91ESr3XWqWQoK8A2LTvUsuZn9f1+2RODe+0JIxfVhAyYaL4ghxCX3pR35kvnotxgVRFyHGMUa5tMGaResmTQZDzzT8ZooBKE4iMFMkhKVImVsC26/3s2CeijrHu+2OnhXB1UqvQp92BkOg2h3+cJzMX9RKMIl371JeNO8dKsuQJZOKopULft4Nm5nv0l9oNPlKgKfPd4FEthNRBvCNooG9/PnCeMI87HA7JliO9EO137tZaIQyetEsbVu+RMcO+oLoumgNh5oAGIMPMOn1hROMA1jPCHAG7AIdCQz+L1rBqZ6YsadRkQegAgi2KL5NjaO7lD3W96Y0X1udh0vVnEBJPv0rViqiFW5iUCevASwnwcfyMz5xKOu/fCkLiybl130Q1aeMNxHOGlUeerjt29GehP+M5deu3e4GqeTP0sHfnqYJV9MTxM4LgUb9aP+naboL6DgI1/BwHin+UV5ImS6BCf8zbIBQNHNFcrVw6tN8cMYFFjiM8UQ9wb/XynYJSkyZdMjEXkOBc4BL6I3iGLd80XI6dWSQIkXh+uSqfSZK9LjFiRJPM2dK6bQDBG4ENoY5wo8xZn9YDdPDFAhduiYgAB5u2qSyEaCH04t0AUAuQtMX4nn66skK++XmBygtKiD7AiOmxxzfGWOwpJ6Q/PPoao4/+eOq84AVJ/6VMndddsr2VXob1nyslC7UWFi5A6eXbhuZo0aNKpEiRZNbkNULORI55q1SsXkTGGEBiZmNOQ3nivg6HQ0gVgIca9HHMLN8c/lF5++OlmeHNVIKXMbSa583fHDkzCF6e5jOYx339+8abKQXlCoUK0JrC9mbDgITiRfv0E08gJB7fpJvwxfdYu0Ep6dSjjsSLH0flh2X1UHcg4w8nzsnDh4/E03meYeumg85wbLxU8hXMJqd/uiTMQZz3ZuEbA3yMHj2aJE+ZUOp/WjbA7Zn7enScJFlTVpeBvWYJnjP0GxRzd56QpMVgAYO///5XzV/zZ20U5tYAN/XhDm2FFYQENMU4QmhiH2NOvHblpg8pfTFujYeXw+EQFnyEX8yDeKOuWbFThZ6uX7NHeVKZT2t+n/6UloQxzgpCpn8jhQL7kQNNuvVv0BzIVyi7ICPdu/tHkBWRq5C3eg1qLIRXM5ZYL2C8sQKRjx4/cqblsdazY5t8/20+HWHM2b2k0cf91eJqzHnuQEjGvcMHTknh4rmFcG3kmlPGWE/uX/qXHfQyP/YY2FBF6hXI0UjwcL14/prKjVzg/bekc+96TjIwNH1ae6AKf//j9z8FPQP5+tKF6zJi8AJp33yU1+V/Z+N646XhgAYgX5pX7ScPGo5k/HDivDABOhwOtcobYbUhJQfB6MkTkRSpEoX0El0vBByAr55AyNivxBTAHnKVhOBWXq2C58z7xXIJIXwAXAiglUp2FoQFvD1cG0MwQgHEy83hcEiixPGFsAquda3rjX2syA1r9JeWDYZJz88mB7oldM+dvl4l4ibUNCivH/NiT6GHvCMTcMejhOTq5jXe/AVoiWRYtdOlT6Zuy/ufPKerkL8LgMYEHzlJ6B7AFNsU+GwFIckJSZgOSv7XBycL3pvUC02hfSzWn49vI7nzZpJX470iCRLGEwTkWV/0cuaw4p5//fmPRI4SWQEHCHoccy0kJt+78zt1OFXaJOpX//k/BwAfW7avLij6/z/6/61oBhgX//W4AvBcskx+adm+mkwy+sf35xfLqV+XyVf7JworeLJgEqAJ4Mn/r/aPrc3r9ytFjDA+E3z8fOB8ARiBQr4tFPT2TUfJ7Zv3FOA3Y+Iqn4CPnXvWk58MQLTU+23k7Yx1BKUDBQo6APIxCLBtlnkzNsjRgz8oZST+a3Hks551nd5LZh0MeyhXKCo7v/7GPOzzX765sdM6SXSjjzAm9jLGRBYJo2Fy1+LdiTcW+4xnVhDS9LQCIOSbp443C4p0h6615PrV2wJ4SPuRI0dSYwXjk7XN/O/lkBgxowcJUkIb91m+eJtaCIOxnefhvpzzVuH7wVvHIQ71zqMbIGT9pmUF7x2zDQCljWv2ql3yiLGya1AgJKANYPeEEUsMUH2tMI+pi238w7cWWhDSHxb3sZFFXmvqrVxvKKAR+ci8KavrflAyr1rUDiDXPJ4paxrlFUw/xhscWR3vdcLhzTrh9YvchwxIugxosOaEZF+XoDnwiiHLR4sW1TBuJQsgN5lXVapeVNZ8NVJ2HZ0mjNWke8ABYPvhKc4wfbMuv/QngMgSBVpJ5zbjOGRbwesb2ZIGiRDil4KBfM7U9cqw4gpC0qfJrbluxS6lgw7sNVOgn+fgWjsKBrYECV5V8zzGgCULtkrjWgPUyufMRwDrVjqgDRqzp6mpIkcyJK4k5OZk4RxrvVBt68qaAxYOaADSwgy9+WJzAK+/7775RQnTeCK0aFfN7WTojgsoCYAjCEXuzutjYecAk7MrCImV8MhP8w0lLbec/O5M2G8exivzGxZbgEY8Dc1bxIkTU638dvXyTUEYRSg1z/HLhL196xEFGgCGAYpx3FuFPkioxIKVA9QtCV0D5IR/HEBgI3wSZZx9s3AeBRVFlWM5DKUA8M5aD+E/d97MPgsFLmkARiSeJ6Q2X8HskBGokF8Mz5isb6UXBFBP4CMXnj931VCLHWw6C/yG71hqyQlJbrEC7+eQqeNWyBEDOHFWDMEGvAYgKljkLTl+7LRs23xYAGi51OFwCLmsmrapwq4qeCA9/O+RynvHYifqoJs/Rw/9oBSyO7fuuzn78h4CpPm0ZSW5cP6qyr1HSBOrjALIdTEUjPkzNwrgLWM4Fnm+TZNbDodDyAuF9wQLFvELWOKPIOTKJdsNo8AtadmxuvJ8tIKP5vPw+7YBeEczwDRfgo/HvvlZ5ScFRGKMALTDwxneRo4SSQHu0GIW6vTrNk0pLHhE8I2Nn/mZ4HWI0siq0aOndJDoMaLLsoVbbfWQ+PiTjwRwGn4yJgKmVijeUYhc4Lv84eR5+e7bX8xHUbQxJtrhaUXIYLP6Q+Wj91qrvKPjRy6R3+//GQhkBNgr+mEeWTB7o+TP3lDwOmeMrlHnQyfd5kba9MmlaPE8cvjAKZUShndjnvPGL+Pf0/DAZQqcXrV0u9AvorsBIa3tBQdCVqpeRHmzb1y7T4YPmGe91Nbt0ICQ8CJNumQqRQJGRuZ5W4n1YmN23yqSAbRjrDBTOgA+1m1URtas2ClW8LFe4zIy64vehrz3tjIw+VIWCSsPkPeQ+9yBkADri9YMEoxiYb3/i3wdqWnQnZgzJs/tpkBFjMKkNNhzbIZyNEAujRotSgA2JEwUXzr1qOsxryIefJQAF/lwh/7bb3gz5QGLV7trU0GBkCzihrMAC7atNYBI12t9vf9W7owSM1YMARw122LuX7boKyWTmsf0r+aAXRzQAKRdnNbt+AUHsNbffqb8Y8V0XQ3RE5GVaxSV115/VZhIPdXRx8POARSo5oaSBkiGcotFjmPD+8/1en7N7v0aCODm/9i7Czgrqr8N4M+lU0GQFmkQBEVCUkIFFJEOEVAJlRQUCak/3SkpAlLSJSUhIQgopZTS3SUoXe99Ds6+d3fvLhu39+HD3Jg5M3POd/beO/ObExxxL6wcp3j2acSNGwcJEycA//FCkH8radM/azofX7d6O2fjtbKvYM7SfqZWXK48mfB6hcKmmTKDYSaBix54EcSAXN6Xs+EH+8l7yM0y+FilRikT1GBNIObXMQ0tecFNX87nyZ4VhOSdUXc1PWSwkX3MjZncwXQ8X7/R22AQlTUYmQ/H6acff8PZM5dMP3Md//cRnNV8tNKnSv0MQp6schndFy/YYEZIZHPnqPz90JrBx6zZ06Nlo4FgJ+mN7HeKa1XsgK2b95obGLwZ8WqxF0FH7nf+rDU4dfK8CSpUrl7KDIjD+c6mO7fvgU0tnS2LqfMYpOHol+zWok/XiWCTpm9Gzgdrp71r92QNWC4vW7gp8trvyGdLVQXvV+mMXp0ngMER3ijgXX32L8fvDzoyWMIgZOv27/GtT0z8HLKfv4cPHmL0sLlBNR8dM8cAar6Xs4PBHHc0u2agi8EkNutmfhz3PXLwHJw6cR6s0Xv61EXHReY1L1gavtcTrN3IQD+NefFdtVYZMMjAwVt6dBrv8u9ss/NwHgoVzW2Cetb3MpNWrFzc/P38vHan0/5qWXZP1LTifvi9wTxxYnPUUUNnm/zyd47NrResHIQ6Dcph6oSlJjDDv2XWOmeNEw7awPUcJwbiRw+b45bgI/fDPLN5oDVqKwfMWTR3XZSCkC3twfblP4/A0nXD8G61Uti764j9POo0d+PVKTJBSAbrGThQ8DFyh4y1YRnwYHcIDN7UbxQ6+Mgtslk+v7v5feLL3ZLw+yVkEJI3hBl8TJQovumuh+XRFFxg186D2LRhlzkvY007DoIyZ1l/sEuD9M+lgs1mMyvcunUH7C+UN454o5+/5Wx5wr8fk8CLDww4Nmj8DhIkiGduojgOTOWYrZBByK59mmD1ltH4bvb/zECbvAbl96vjOp54za4jaFnLfkOL57jWPjlA37Wr/+DY4TPWLFMTmd3bcPCZkNcSQYn0QgLRFPBmADKaWdfqEoi8AJtB8oKVtSJsNhsKFsltggW8iApra/wCrvtBBbDmDWu4hZVO86MnwB/lGVNWmH6koho8elIOWBOPNeySP/MU2DF0WEFIBgiYhj/CPP7Ogo/cF2vFseZN5qzpTM2gT+r3AYNgXOaqiScLDD6WKP0yWJMnZEfdbCrHgWFix4ltTuQYCI1IEJLBHXby3rZTPXPC4ar8WtsJ6mMuT2bcuXPPBO64jIFDLnMWGOLJGWtBxokb2wSA2XSH6zhODHSUtFvwItxxvuPry5f+RrSCjzkyoGObUVi1/NegzTL4wv7O9u87bubxZI7HnW+47NvRi8zfLo9DlZqlwQsT/u1wOScex/LvFDUBnsnfLuUsTf8J8LPPC8//3ponBt8mjF4I1gZkQJh+ZsF/D7yg4aAWDJRULdfW1BpjX3RZUlYGA5gM4MyausrcEPhvFZ94WrlsC3gTrLD9t8dZhhh8ql2po1uaXTP4mDrNM2BXIr0GNQvVfxY/U3fv3gebUPOib++J2WDn80cuLQIHOqnX8C0wf2wmzkAka0zu230E27bsw9eDZqFq+XZw7CrBWfncMY+BCwYArN9xNpP7olN97PnjcLDgI7/vf/p1jLlRxO9Jb9W0ChmE5PcE//7HjpgfYR5+V/JzE+EVIpCQTegtw5DJo1cqNn4AABAASURBVBKE5O8jvw9pzf5x9+4+DAY1Q27bW+/DC0LyRgAHm+HfPJuKK/gY+aPE4/3oEVChUjE0bFoZi+w3T7u1GxdqQ2nSpjCtS0It8MEZVhCS34PMHvt03r/vGNjElucBnKcptECPr8Y/vnFlv/kGIFgC1o6cO+MnVH79c7xb9nOw/8Fi+Rpi9rRV4LXa81nSoUTpl4Ot4+k3laqWBI8vW8PwHJVjCYQXhORvIwOoiZMkBH9vWb55M9d4LNv8/uLvfZ0G5c0+9/953JyDs3XXd7O6Bf32V61V2rTasvLG3042fR/9XQdw8Jkf1gwFuzQyG9GDBFwooACkCzG1Kf8Q4GAQq3781dzNt9lsphbT5Dndwb4G+aXtWArWcBs1qQMy2QNMrOWkk1BHHde/LluuoAlWRSV4FF5ueFHFpoIc5ZV9gbEGG08gONjCJ62qhVr1L3uQ6dHDh+CItSMntEPImo/WCmxKx5pA1ntewFuvXfGc2H7yYgUfbTab/Q7yw1CbjRc3Dvg3zWZ7v/zXxyAv+MILQrq76SEDjBw19PiRs6j5dntwBOKOrUea4AULwIABa4vyteM0ZthcLFu00Xw2WXOCTfHpny9/dpOsfqO30Xdoc8SLHxcLZq0z8xwfeAGdK3cm07dYyECtYzpnr2nNQBebbT/7bDK8Yz/hDJmOJ6AMSrIfs7t37+Hff28FJeHFLGsrMSjAmk0cRIU1m1g7gidyHGn4uYypMaTvdNMENGhFvQhT4ElByLBWZBPu0fa/pW7tx5mLhrDSeWM+f0NYCzKv/W+6fMWiHskCP4+8GHk6WRLTbyB3yhYAHDmZ3418z4nBfX4vvvBiJrBmni2WzVy02Gw2MHD5ZecGYE0QpuXIwuwTtmLp1qhZsYP5u7Yuyrnck9OdO3fB326WkxdQzoKPzM/JE49rKT/1VGIw4OeOAWe4n4hMjkFIpufN0JB9QnK+e6bQW23buT76j2hlao2GXvp4TmSDkA3r9DA1lFkDaszweXi/ahef+zzyeztkn5DTFvTC8p+Hg+cK++3nAo9LHzMfGRy3+ryLrABvRpw+ecG0DGANrAQJ4oe62cnfXd6wu2O/SWn12xrZ/Xg6PYOQ69fsNN+N/NtW8PHJR4DnRbwx2L/7d2CLBX7/8sZV7y4TUfylRk4DuD07TzA1IhMnToBnUyV/8k7cmKLOu1+hxlvt0KhuT7BrlCcFIS9fum76TL5547a5CcqbGG7MXrBNZ86aHuynnNc2HMSR3+u88cPvMpvtccUb1kD98/RcFC2RD907jgfPS5j+qx4NjTVbSdyx/64mSBAPNd9/A7x5F2wneiOBaArEiub6Wl0CfifAH0KeMKxYshlW8IgDHzRoVBEbd47H5t0T7SefI8ARbyfO7IpMmdNi0Zx1Jsjjd4X1owwXKpoHz2dOh8G9pyKywaPwismLal7YMaA1YuBMsMYUm9GwmQfXa/lFbYQcsXPdqm24ePFvMyBGRvvxnzllBXjSyfSOEy/Sn0n5NC7Z0zrOd9VrnpgnSZoIXduNBU/knW23T7dJYMfQvPhnM+uN6343ycILQrqz6SGDABzgYt/uo2j4Xg9zYsMMsdNr1io8f+4K35oBXXiBZ944PHRtNw68G8sgX/z48VCxSgmwg3LWxGIfkhykYeTg2WBtZofVzEsGB996rVWk/354EWQFH202G1hrh03a2bQdIf6xGwYGHy9fuoYtG3cHW8oO85t91N+UmfnndnnHuVzFIqZW2WcfD3r8dxRsLb0JTyCqQcjwtuntZfzusf+Z2YN5FUxWvuhUD9MX9jJBNDPDDQ/sl7Fgzvqm2a71XeIYhOTfKpvExY0T2/zW5c5QE5yG9P3eNBdmlhicrNOgHF96ZKrToDzYxcWOA9PMQEN7T87Gxt+/BfuTZWDEygS/a3hTibU2O3b/CCFrPlrpOEhN7Nixrbdef3YMQsaOHcsEfflbxWPhycwx+MjuCngR+t03i8PcNc1fyJMZ9+7dBy9Q+f0ccmAax5W5Pf7esj9O1kjmuZfjcl95HTIImSp1cnOTiOcJzn73fSXf7s4H/w679f0YQ8d8jn7DWjjdHf8mJszoit8Pf4+fd4wHm1pbCXn82Zcpm2LHjRcHNeu+jpmL+4BNO5mGXbRMsp9jFy6aB/ztZjCP8319YpnzF8gB5pfXErwx6et59pX8cWAhtljgeRpvXH07eqH5rDnLH78v2ESYXXucOnnBWZJozeNx5E1itlZhZZOIboznJE8KQmbNngGHD51GdXvQkue0Ed22K9KVq/gqMmZKY2qP8neFg0Hxb/Qj+w2hKROWYs+uw+bc9fiRs5g3a405J+XntnX7uqbvZ57bftVmJEoX/NQ0nWcf27yh7oq8aRsSsAQUgLQk9ByjBPjD1rxhf/AO24lj58Cq8gRg4IE1KRi8SflsMvx99R8M6TcdHVqP5GJNbhRgP1m8w+jK4CNPMNhM4uzpi2bENwYg2QSfFxxs5lGueAsstAeXudwqGk+6r1y5DgbBrDuALdrWNjVkucxKx0AbBxxhXzVMa813xTP3w79B5pN9EHJQBQ68kjJlsnA3z7/rph/2Q3hBSG7XXU0PacKaVrw4HTNsTqgTS17Msf84ft6uXf3XnNyELBDL0L7VCLT/7GvTXxgHI2Ea9g/EC5rPPh5s+sfjPFdN3ft/AjaT+erz0aA1jzu/C6rUKIWQQch8+bOBy1gDjHkNmQfO5zHLkbYaeMefEwM5rA3E/IdMr/dPFuAJf3jNsZ+8Bd9Kwc/B7t8Pm2ZlrIXQqGll7Pjtz6Aawq7OLWsi0ZB/r9w3AyuOQUgGFxgIYL+n/K3jDQ0rD6w5wYtE1vjgPP4uOrtxwGWumngxyL5j+wxpBtYMZDcXvAhKlCgB2GdY7XpvYt6PA9Gld2OzSzaLY7N2Lo8bNw62/bov1HcPE7KGdGx7oO/82ct86xPTk4KQiZMkdGtg2go+MpjI70D+ZjqD4XzWqk+WPKkZwTWifUI625YvzuNv7ZzvfwJvSvOzwc8IPyu+mFdP5anHgE9QpERe0+KgWu2yoYKQ/JtgwLxsuYImcMGBNpq2rgkGJPl3y3zSdWCvKWBQw2az4cV8WcEWAbyhOOOH3nilUC6wuSpbcTC9P0ysNX7q5EWntfb8If/+kkf+DfHvhV2C8PrA1fm+f/+hGcCOwTVWNlmx8WuwlU1E9sPfU8cgJFv8tPiitlmV58AFCucyfd2ypid/d80CNz/QixU5MmdND7bimjTuB7CW6div55k9s5JCN/sNfva1zUHAEiVOYPpuZr/sn7Ssbvq3PHPqIjrar3d5Hcb0bNXD31Z2NWA2EgAPKoJvCCgA6RvHQbnwksDk8UtQqsDHaPPpEHMStG/3EdM0i01Z2TSAyxwvxryUTe02igKs2ciL19HD5oJ3AENuhj+wvNDgjy2X8Qecg7OMnfwV1v+0A7xwZ022BAnioX7Dt/HLHxPAk5Q1v43BgOGtECdObEybuMzpxS63F5WJeRjzXQcMGtk62IXnuTOXEct+8fykbfJkJ6wgZPU6ZcGLBnc0PbSCj6nD6WOOeefFP03ZJw3fhzUxUPxOmdbIma46Mqd4FwziMbDHAF9Y60R1PvvtLF3wE7Cma5cvx+C7cUvgLAjJ2rQV3ilqalhF5IKJTYE5RTVfWu//BXjCbwUhv5nWKdhngzeN+Ln5/9S+/+rihaumz1bmlOVi+fjaExMDK/zeY6CF+8vxwvNm0CfmgTWROM9x4o0bawArx/nueM1mYCPGtzVNvvm9zJsRrEXHmhuHDpwMulnIVgscQIt9VW1c/ztmTl1pPrP8O2jTvi5GjP8y6G+E89gMjX3Rse9QTu7Ie1S36SwIyb9xjqq7atModO3dKKqbDnc9x+AjE/K3gUFGPvO9NfE95zP4yMFY+PcTXnNs/ha0bv+etbpfPPNvJE++LDhnD07zs8Ey+kXG3ZRJ/m2UebMQDts/c7wRzxqM1UIEIfn5y5ItPbb/9heWLNhggowM8Jd5swB4DkNTZm/axOXgDV8ONvbvPzfNZ/jB/QemVcCgPtPQpukQl55DcZ/unPi9xBuLzs4p3bnfQNx2vvzZwywWA+Dp0qcE+08MM1E0FrDLJPbrz34m+XfL30HejN60ayI6/u/DoN+PsHbB30srCMnfI9YiPHB2Pj5uWRUM5K1c+v99iIe1DVfN52eNza2nz++JQkVyg7+VbB3FWqa8jgm5H3Z3wJrJDPCWLJPfDOp47swlsJ9zx3OAO7fv4t7de2D6kNvQewlER0AByOjoad2AEVg0dz2s/qzYNIAjrrLWB4M5AVPIGFYQBoteLf6iCRZF5GKCP+AMPr5erhDWrtoK3nFlbSDeKWSwgHzsQ40nKZmypMPpUxeC7hRymSsm5oEn7qwVwJMunhBY271vP2G3Xj/pmX+3jkHIF17MDA44w86ks2TL8KTVI72cF5y868tmkNw3N+DYvJPvrYlNqP/55yb27TnyxBM8BpZ48Wut66lnx5EMY9uDzFVqlMKoie3RqWdD/H31X7B5ilVOT+VJ+4EZmIV35Pn5mPlDHzBYxZNu9tfWa2BTvyJin1asVcgLGF7IeC7zj/fE70QGWqwgJINLbILN2j2PUwR/5AUIgwbsbmLThl3BF7roHY/nJy2rgzcAyxT6FB0++9p0p8CbEd3ajcObRZub71zre5EXjeynlxeq7GNr5pSVpkN9BksqVStpulTZc3wWtu2fCjb/3L3zIMaNeFwbxEVZdtlmQgYhWcv0i071cPTIGfToNMFl+7E2xNqg71QpaQ8cbQS/79g1hs1mA2vIM9hofe/yme/592EFH61thAxCshk3L97Ztyhrw1np/OGZAdP0GVKBnwl+Nvwhz+7M4x/bD4DB//IlWoI36Pk9wc+VYxCyQOEXTNNptlxp2Xgg3nv3K3MD32azmdrdPJfhOQ3zydr/TT/oi7yZ6iBLysrIlroqXnulCXSDnzoxc2K/gt8v7AV+Z/B3nN95lGAT/VmL+6LCO8Xw/ZQV5jeA890xrVy2BefPXcbNm7fBljs2mw1p7UHPj1tWw8pfRoK1dfkdGNa++ds9uPc0E3xnGg6g+MeOg2AgjwFOzvPExN/AStVeM4FE3hTg+UV4++X5K69t2B88r3XYL+fCOesR8ruP3UxxIKm1K7eFtzktk0CkBRSAjDSZVpCABPxBgEGKp59OEnRiEF6eEydJCAYfeTHLi1rHtAxE82KYff2wH8OpE5ah+Uf9wXmOdwod1wn3dRgLmQeesJco/TJssWxOUzHAx3ROF4aYyRMMBiFZc4lNntlv17ejF4H9FIZIGu23HAjnB3sQnyYM5PNihRsNGYTkiRxPaNgfJwOWm3dPBJugsr9VNrn8+tsv0ax1DVStVQZcPntJX3Qf8Ck35fGJF+WONSHZEb/NZgMvwlXzweOHI2iHDDRxoCI2F+XfCPsJ3LF1Pzp/OSYoja/H9G/UAAAQAElEQVS/KF+xKHLlfh7eCj5aPrzYYMAlrM+rlY7Pz6R4Cg8fPoK7LkQYfGz6WQ3w5g+7R+H3F/cbcuJ3MPtZZYf6XMbv6zcqvAr+Hfyvwzf4X/txYL9h/M7jzQN+X/I1bzJ+VKeH05rw3I4vTAxCTp24DKwhzjzz4pBBvnNnLrk8e/ztKl3wY7D2N/fbpe0YcD822/8HIdlHX1jBRytDzN+iuevMxTu9U6V5Bvx8cr6Vxh+e2eKFHvxM+EN+3Z1H/n1w4n5oYn1PWEFI/l2wRQaXMQ0n/i62ajIwzCAk02iSgCXA/ma/HjwL7Oecg5tNtwcj2TSfQb+sOTJgaL/vzYCCVnp3PDMwvuWXPbh88Ro6fT7K3Pxi6xfui7UaGQzluSn7ieTvNueHnL4dvRDsX5m1YutV7QL2ccnthkznrvcNP30XpV4vAKu2MvdT6vVXMHh0a74Mc2JrorqVO5mgY8bnU5vfTcfEvEn1RoXCmD97rUnjuEyvJRBdgRgZgIwumtaXgAR8X4AXQjxZflJOeYHqGHzkRVTNum8EG5iGF8Ps55E1crq2G4vlizc9abORWs48BAUf7ReAiRIlQIsvaqHW+28E2w7TsUPpYDPDecN8H9x/Amxqwc6/3RF85O7ZJInNPbg/XpBYFytcZgUhC776AtihPYOQnG9NbN6e8tlkpm+od6qWxJddGmDImDamGcuVy9fQze5tpfX0s2MQkvvOlDkteKLM15q8J7Bg9jpzY4E1FthVAi96+bfnvRxFbs8cQIkjf7L2ROTWdH3qsD6vjjUhWZuctVN+27wX476e7/JMMPjYvE0tnDh+DgN7TXvi9nlx17LxABPoYGIOjsOLJb5mgLJ88Rbg1PqTweBFIbtvYC0uf/gbOXrotKnF6c7gI51CTgw2dW03LlgQcvKc/8FZzceQ63K9Y0fOmCAkg5H+FnwMWR69Dy3g+D3B86qKlYuD5ynnzl4Olvjg/pPg9zH7vrPZgteE5GfU8Xsl2Ip6EyMFePNjSN/p5hyVACeOnQO7TGL3VwzscZ4rJ2fbYvcBceLERracz4Gt39hHIlsgXfv7X5Oc/eOyn8hRk9qbLphC9hPJljo8N2d3O+5qHWAyEsYDf/PeKdMGVm1lfhfzxlzlGqWfGITkJtnPa7JnnsJrZfPzrZnqNXwLvQY3w46tf7k9CGx2qIcYJ6AAZIw75CqwBGKGAGvZsaTZcjzHpzCnASNaoWiJvGD/f7Mc+hHjADPs0yXMFV24oP/wlsidNwtWLtti7kKy9gvz367rB8GCkDypYE08Biar1iqD8PrPYfa69m0C1uqcNG4x3BV85H5CTo4XK1zGIOTkud3B5n0M4pYr1hwMDjBfbG7Jk042R2VaTiy/r4ww6RiEZHCazbFDDkzDPGvynABHTWXQyR+Dj55TivienH1e2YyWwQIOCMOuBy6cv4LuHb9xeV9tVvCRtU3YHxVrbfCC7km5Z6Bj9LA5YP90TJv7xUxgB/x8zYnLF81dD14U8r0/TLw5w9osu/84BAbxWCPRk/kOGYRkoIm+Vg3ZsPJSpWZpPJPiaSyau87kO6x0ALTIjwUcvyf4W5gmbQq8U6VEqBLxsxcyCLlt/1Twd5PfJ6FW0IwYLcCakGwOzO+a40fPYmDPKS7/nQkPmH/Xf+49hrLlCiFz1vSmljxbPFUo2cr0b8obnTwn5fk3u2BiP5H8ex47pSM4gMuy9cPBgdHC20dUlvFcn/2sMrgZ3vq8sWb9VrAs3TuOR2SCkGfPXIb9XgEqVS2JtVvHYv32b9ClV2NsWv8HeHMpvH1rmQSiKqAAZFTltJ4EJODTAhx1kRnMliMD2IyCr51Nq3/8DRxZmbX22Oej1eyWNfMaN6+KVl/WcbaaS+dxxGfewfy0QV+0aNjfjFzHE56QQUj268IaeBxQgbUEF60ejCOXFmHfqTn4/fD3WLlpFJb/PMJMm/dMQrVaZeDOmo/hIfBEiKbWxStrS1y68Lc5ueMFyiJ7cKDHV+PNHWfe7X4hfQ1UfuMLc/LJ0Uh5Ash04e3DU8ueFIRkQJjNFT2Vn6jvx//XZBC7/DtFwa4FeJHLk2//L5X3SxDy88qbBuyHa+KMLuZi0B2fRwYfm7WuaQrPZsc2m83cDIpoEHLx/A34acVW0zQ86VOJkeG5VGZb/vpw5vQl09+ZN4KPltmq5b+ai05e0NpsNnPTiM1tGRy10oR8Zu1Y3jxjvkMu03v/EuBx7tyrkRmszso557GLA753/J5gf3eOfUJyuTXxt5vfz1ZNSPYfy/57PXkj1MqLnn1fYPqk5WjZeKBpdu2N3K5bvQ3JkyfFW5WKmt0z6Nd7cDPw+mFgrynmxgpvivPv2GazgefmbJJduFgezJ62CvzbNiu68IE1Ldlv+4Yd49FveMtgn8nwdrNu9Xb7zcKwg5A8h2L5rG2wKxh+TtmlwvOZ0yJhovgY2v97tPGzwaGs8ujZPwQUgPSP46RcBoqAyuExAY5Cd/fOPXDgmFr13oTjD65jJjjAAftCseYx2MQmDewHxn6egfv37luL3PbMIAov+LgDnrizA+ttW/aZ0SJ5osOakBkzpeHiUJPNZkPChPFNOXmhwJMLTgz4Des/A7y7DC/944mQYxCSQQ2rZpWzLPEEj81v2Pk9HZyl8dY8/l1YwWnW/qhSo5S5+z1naT+07/oBstoD3d7KW0zaL0+UP6j5P9PMj5+bmFR2d5fV+rxa30UMMOzZdRjuCD6yLLdv3cXYEfOQL3MddLffjGANGJvNFqkg5JqVW3H92r/cnN9P/Hvm97Xl760CRTYIyT47WbPdW/nVfl0jwPOHEeO/BGvhMvjC95z4um2nemATau7J+p7gzUXWkg0vCLl39xFzA8NbN0KZX03+IbBx3e9g9xreyC37dufI0WXKFTKDI/JzUKBwLowZPhfjRswHrxN4g7zhez3BAVtYQYDXCDwn5LmhO/K8bNEvuHnjNpKneMrUsFz00xBMmtUNEbnZzc9oyJqQ46d3xsgJ7fDd7P+hgv0mrpVnnmu/XeozNK7b00yFX/gAGhzK0nHhszYVTEAByGAceiMBCQSKwIa1O3HxwlVTnEKv5kazNjXN64g8zJuxBhfP/43TJy9i+eLNEVnFpWl4QhAyCJknbxaMGDgTnzcdaqZRQ+eYkyI2YWZ69lfDu7PMyPVrN8AOvHkxy/fenHgiFJkgpDfz+qR980STJ5w88WQQsmSZ/GCTnCH9vgfv4D9pfS13jQADNAzWuGZr2oqjAD+v69fsNDc/du086LbgI/c5efwSjBk2ly/N52dQ72mmSbXNFvEgJJvhs7Y7B9ni59JsTA/RFnhSEJI3uRicivaOtAGfEWANXOucqWCR3GCtK078jeP5BP8mrMzye8L6XQ8rCMmAZUH7uZevBB+tvOtZAs4E+DedNVt6fDPtKzgGHx3TsrLC4YOnTD+9PBfkOaHjcle+nj9rLY4ePhO0SVY0YH/M0xb0xJK1w8zAa0ELnbxgeRyDkBxQhuesDC6yT/uQq7C7Ek4h5+u9BNwhoACkO1S1TQlIwOsCvJPK0e04citPkHlXP6J9OpYo9RLYx9zi+T/bTwBOe6UsDCo6BiGZHza/jhs3tgk8cjRgBiPZaTb7VHw5a11kS10VHHSh6Qd9vVrzMSQYT4SsixUuc6wJyX7mJszoilohBtxhOl+ceMJpnaQx0Mu+ixR89MUjpTxFRYBBpcJFc8MNwccnZoefo8gGIRmI5nf8hfNXwWDkE3eiBBEWYMCJfYAx4G+zPW6OPW7qV/YL9E6Ysag3+Jsa4Y0poc8L8LPU9MN+2Ljud5PXVwrlQs4XngcHCeFn08x0eHD8Xec5lmNNSAYfL138Gx/V7u7R/qcdsqeXEoiUACsbXL36DzJlTger5mPIDVSvUxYlSr+MKeOXgueCIZe78j0/j6xIceXSNSyev8EMvMeal+yLMk++LOgzpBk2/v4tWnxRO8wWXvyMsiUUKyjwfJU3EnyhYoIrnbQt/xRQANI/j5tyLQEJREBg3Ih5YLMKJrX6dGSfKnwf1sQ7jPUavo3dvx8y/SeGlc4T80MGIa3m2OEF6xgc27Rhl5PseXcWT4RCBiHZgfe0+T2RIuVTXmt6ExUVjorIkzkFH6Oip3V8WYA3BI4ePuvWmo/hlZ+BjsgEIdn/YJIkCbF1817T1DO8bWtZ5AVCBiEzZ01vBmtg0/eObUZFfoNaw6cFGPQY0GMKjhx6fOM1UeIEqFa7TJj9zzn+rjMIWaPuG9j234Az/GwePfx4Oz5daGVOAnYB/q1utp8737p1B8fsv4H2WaH+/7hks+mr0t3BR2vHs6evBoOiDDwWzFkffbtNMv2oc2Acm82G9M+lAitW/PLHBAwc+ZnTz2n2XBlx5849n2kVZZVNzzFbQAFITx5/7UsCEvCoAAN4vJN5/twVs98ECeKhQeOKWLx2KNiBtJnp8MC79gxQ8m5h947fuOSCljWK5i4fAG7XYVcRfskyONaETJHyabBPyPCCkBHeuIcTWhcrrFHDXbNfzoP7T3gt2ME8RHZirZ/cL2aCgo+RlVN6fxDgBQ9rUR/cf9Jr2Y1MELJ8paLgxRn7y/JahgN8xwxCjvt6AW7evA1e+C6au84MyhDgxY6RxeP5Stc+jZHy2WTYt/uIMciXP3uYwQ0mcPxdZ+0snmdxUA52E8PlmiTgLwJsmsy+4zkCtbM8M0DPm13OloU7L4oLGRTdsnE3Xi3+Ilg5gt0ZsMVT84/649df9sDqdol93dd473Wwn0je1Of1TZp0KTF0zOcoVCQ3hvSZ5lOtoqLIodUCSEAByAA6mCqKBCQQWmDh7HXo0nYMOCgNl9psNryYLyvGTO6AzXsmgYOIjJ3SEeu2jcOY7zqYO4XdO443dxmZPjoTA2zd+n6MVwrlRJ0G5dB9wCdR2hyDASGDkB26fYjPO76PURPb4+cd402zkCht3MMr8WLFU33MuaNoHKCoavl2YJDEHdvXNiUgAZjP15NqQrJLigrvFMOCOevgi7W+A+k4xoplw6OHj+CvwcdAOhbuLAv7gTx96iIG9pqKRnV7YbM9+MH9RSQIue3XP81NWwZJhg+YwdU0ScCvBNh1046tf6HYa/mCKilUqlYyaAAmbxRm9Y+/md2yD0fzwv5w4fwVJEueFKxcsXThRrDShH22GZCyeKmXwGuazbsnomTZ/Jg34yfwvJXLNUnAVwQUgPSVI6F8SEACbhNgDY7qb7U3/aiweQV3ZLPZkCZtCrCzdd4tTJXmGSz7YRM4wu6WX3YzSbQmBh/ZJKJIibyw2Wxgs93a9d50WRCSI+O1bFvbBB5Z22Djusf9NkUr0/aVWQuUzTDtL93ynzUs8hfIgV073TvAhVsyb98o74BbNTjtb/U/YgJKJYFIC0yftBwhg5Bfj28Lfj99+ll1tG7/Hrb/9iesgWwivQOtECEBDjhT98MKWLF0s2o+8TUXXwAAEABJREFURkjMfxPx963Np0PMDQD+zn3RbNgTg5BlyxXEB40rIu/L2aHgo/8ee+X8sQC7l4gbNw6+6FQPM3/og16DmuEl+znr46Wef+RN+21b9oHXEuwCg79/fYe2QJKkCcGKCS0aDUDxlxph9LC5ZuBNtghgLjk424Aek8FWDXyvSQK+JBDLlzKjvEhAAu4S0HZ5Mt2qyUCULdwU/+vwDeba7woumL3WPPM953M507lCq3PPhqbpAzuA7tV5gulA2lVBSNaIZB7ZD6ErO5VmjaJBo1pjyJg2prkH9xFyatysCljj8vfD34NNPYoUzxsySbjvefJ06uRFv2p2HW6BtFACEnCbQMggJG8YzV8xEG071ceunYfM9wiDJm7LgDaMv/YeQ5P3eyv4GKB/C7xZ+mWXBqZrmuU/j8DICe1g/a7zfCi8ICTPGfrYgyEJEsXXgDMB+vcR04q1aO56XDh/1fSn+HLBHJgxeQU46KM3HViJgjUeP2hSEVbwkX2qMzjJfPE3cGDPKWjXcgQ4+JOCj1TR9FjANx8VgPTN46JcSUACbhLgCfXk8UvMhevnTYeaZ77nfFfucszweaheoR1GDp6FCWMWoVeXCaa5hCuCkBcvXIWrg4/sX6bF5zXx1NOJkSlLOnTr2yRUELJt5/po27kenns+NZ5OlgRs6jFyYjtEpj9K3o31dh9zrjzO2pYEJOBeASsIye887on9EHLEa94w4oUX52lyrwD7InPvHrR1bwjwhiC7ofm4eVW8kDsTWNu1YpUS+Pb7zqYGGPN07swlE3y2mmO/9EoOcAC5SbO6oX3XD8DP4Mqlv0J/I9RyMmmWXwkwIM8uJ+7cuYvvxi2BpwacCQ+JQdEjB0+hfqOKpuajY/DRcb3KNUqZt6r5aBj04MMCCkD68MFR1iQgAf8VOHHsHDhZJWBflDyRYZ8t0QlCstlh9pwZXTqiHZtFt+vSALywP3bkDNixdcggJC9UqthPbv795xaWLNiA7b/9ZdJxUJyO3T8Ca0JYZdWzBCQgAVcKMAjJPub4HRXZ4KMr86FtSSBQBNics+fApiaAWOudDiiRvwnYMoSBFwZhOOAaJ5bXMQjJJp4c4II3LfmaXcAo+EglTYEgwIEqUz6bDL4SfLRM163ejuvX/gU/b3xtzbee+Zm9f/+Bqa3JG/3WfD1LwBcFFID0xaOiPElAAgEpwCAkT/DZD2VUg5Azp65C84/64btvFrvMiB3Pfz/5R5Qv0RJlCn2KhXPXm+CiYxCyZJn8Zn+dPh+Nlo0HosZb7TD26/ngxQqbhrTtVA9hBCHNenqQgAQkEFUBBjty5MoIBR+jKqj1YpoAAxKjv+uA2Uv6Oi161VqlkSpNckybtBwcfINBxi9bDMe3oxeB5yj8rDkOXsHlbI69ZMFGM+jF8aPnMLDXFNNfpNMdaKYE/FDg+NGzGNR7qk/UfHTkW754M86fvYIK7xR1nB30mjWR+flV8DGIRC98WEABSB8+OK7LmrYkAQl4W4B9Ki1eOxSNm1XGo4ePwJo8UQlC8iKANYFcWR6euEybuNzUhOB22zYfhpBByJwvPI9j9hMzDkTANJzYLw4vVhSEpIYmCUjAXQJ58mbBrp0HoWbX7hLWdgNJgMFHDoJXotTLZnA9Z2V7uUAOcx5y8fzVoMW8iVinfjmwhhWDGTw34EK2kmCtR55/8DP4cta6KF3wY/C8gcs1SSBQBJYt+sUn/65Zy3jtqm3IluM51GlQPoLcSiYB3xRQANI3j4tyJQEJBJAAT9679mmM69du2E/aP0WejLXQtsUwl/QJ6S6mkEHIsuUL4dyZy6F2F1YQkhcrVn80oVbSDAlIQAKREBg1dA6aN+wfdJMkEqsqqQS8J+CFPVvBx3JvF8GF81cw5/vVTnMRK3YsPPVUYmTNkcEsZ/CxTYe6+G3zXtM3thV8fL1CYUyc2Q2Va7xm0ulBAhLwjsDKZVtw8+ZtvP9RBeTLnx1jp3TEkrXDkDFTGu9kSHuVQBQFFICMIpxWk4AEJBBRgRZf1EZS+4k+g3Xnzlwyq7E5tiv6hDQbc9ODYxAyQYJ4KFQkd6iBabhrlsuxJmT3fh9j7dax+OiTSmYkQabRJAFvCGifEpCABGKKgGPwMbY9wJg2fUrUrPuG0+JfvXwdiRInwLvVS6Few7fgLPjIFbds3I3r1/5F4sQJ+VaTBCTgJQF2lcDpxXxZsWj1YBR8NTemfLskWH/zXsqadiuBSAkoABkpLiWWgAQiKRDjk+ez36V8pVAu06cSTxwcQcILQvJCIleeTI7JvfLaMQjJu6zd+jZ5YhCSNSv27ztmalEc3H/SK/nWTiUgAQlIQAIxSaDPkOYo/tpLYDPS6ZOW48H9h/ikZVWnv9l7dh3G7dt3UaBwLnTu1ShUzUfL7SX7OUySpImst3qWgAS8KHDjxm2z98uXrkGjXRsKPfimQLi5UgAyXB4tlIAEJBA9gQwZUyFJ0oRIlCg+8hfMGWpjIYOQ79Uvjylzu2PGot4Y8HUrsClzqJU8PMMxCJkpSzqEFYRkTYm/r/5r+mpj/1EKPnr4QGl3EpCABCQQYwXY3PrDWv8zfaV2bjvGPDPI2Hdo81BBSPbfePCvE7DZbIgTJw4SJoxvWmogxL/q75UFa0ru3XUkxBK99W0B5S7QBFgxIWv2DFDwMdCObMwrjwKQMe+Yq8QSkIAHBa5fu4G7d+8jdZoUeLtycad7dgxCxo0XByXL5MezqZJhSJ/psJpsO13RxTNbt38POw5Mw9HLP+DQ+QWY8H0X8ISHu4lIEPK9BuVx9vQl1XwkmCYJSCBmC6j0EvCwwMZ1v8OxpcW61dvRveN4U9MxZBCSfTwO6fv4HIPNtUu9/gpm/tAHH35cyfzus+9q9jH3brVS+PWXPXAcgM7DxdLuJCABu0CxkvnMjQLVfLRj6L9fCygA6deHT5mXgAR8XYAXA39f/Qdx4sbGO1VKhKqFYOWfQUg2W7575x4YtBw5ZI4ZidJa7u7nfsNaoEHjd/Dblr24dPFvxI4TG6+VfQUtPq8VtOuwgpCspVm5Rin07DwB9ap1ga/UfAzKuF5IQAISkIAEYqBAeEFILuvabhyOHz1rakI+nzmNaeGw5/gsrNw0ChzI5tdNe9Cry8QYKKciS8C3BFYt/xXvlGmN2dOdDyzlW7lVbiQQtoACkGHbaEn0BbQFCcR4AdYy2Lp5Lx4+fGSaU7fv+oHTgVkyZ01vaklO/nYpurYbi+mTlnvMrtb7b6Bs+UKYNnEZPm3QF7OmrcKdO3dx9949/P33P8HyETII+fW3X2LlLyPxQZN3zJ1ZljfYCnojAQlIQAISkIDXBBhoDKsmJIMadd7tZEbL5sA0jx49woMHD3Hh/FVMHPsDPmnQx6MtMbyGpB1LQAKuEtB2JBCugAKQ4fJooQQkIIGICbB/x2nze+LA2fmmCTOf568YiCLF82Ly+CU48OdxsyEOLDN+eme8+dar5r310OKLmng6eRJs+vkPLJq73prtkWc2+eYFB/tw5A4H9ZqKhrV74D37Rcm4EfM5K9jEIOSieevNRQqbaB85dArtW43A0cOng6XTGwlIQAISkIAEXCvA392BIz/D0nXDwGbSbTvXx1uVipmm04/3FPoxvCDkuTOX0K7lCLySox6ypKyMbKmq4NXcH6BX5wnQTcXQlpojAQlIQAJRF1AAMup2WlMCEpCAESj9RgEMGdMGWbKlx5ZfdoO1CNjkmkHJkRPbmcFn+veYjNMnL5j0z2dOizGTO2L99m+w/OcR2LxnEipXL2WCj7xIMIk8+JApazrEjRsHCRMngPVv04ZdZjAZ6z2fGUz99LPqfIllP2wCm5bv2nlQfT4aET1IwEFALyUgAQm4QcAKPlatVQa582ZB+YpF0bxNTYz+rgN2H5uJfafmYPPuiViwcpA5L2nUtDLYdxyzwvOLsGpCcrkmCUhAAhKQgLsFFIB0t7C2LwEJeEXAUzvlxUDzz2vh0sVreLNYczSo0Q1vl26NFUu34MH9B0iWPCkKvJobPPFv2Xggfln/B+7dvY/YsWMhY6Y0yJUnE559NplJ37XdOE9lO9R+kj/zFMrYA6mhFjjMKPZaPtSpXw6FiuZBNfvFz8nj5xV8dPDRSwlIQAISkIC7BHi+wZqP7JuR5xAh92Oz2UxXKOyX+eUCOcAgZedejTB9YS8curDQBCi79mmMK5ev46lkSRByYJqQ29N7CUhAAhKQgKsFYrl6gw7b00sJSEACAS/wRoXCyJQlran5aDVVOnfmkhk18vr1m1g0d51pnkwIDkjDQVoqlv4MIwfPwoLZazFp3GJUq9AOzRv291pTp3NnLiNWLBsqVCpmalMwr86mUyfO4969+4gbJ7YGnHEGpHkSkIAEJCABNwl07tkQxV97CetXb8fY4fNw4K8TZoRrdvPC5tI8p/h9+wHTZ+OtW3fA/hytrDBgmSRpIrC/6VcK5UKiRAlMv9QKQlpCenaRgDYjAQlIIFwBBSDD5dFCCUhAAuELZM2ewZzIO6b68ONKaPVlHaxdtRVfNBsWtIg1ET5pVQ0H95/E4D7T8XnToejx1fhQTZ2DVvDQi5/X7MDNG7eRIuXTaNu5num30tmu8+XPbg9UxsJZe8DynD3IagVcnaXVPAlIQAIS8IaA9hmoAmPsQcdKZdugUd2eYLcu1cp/CQ5yV7t+OSRP8ZQ5p6hari2K5m2I3BlqIm+mOmj2YT+MGjoHK5Zuxl97j5kuYm7fvhtExNqSfYY0D2qmHbRALyQgAQlIQAJuEFAA0g2o2qQEJBCzBNh/IvtHZPOosIKPFMmRKyM44Au89I8XGv2GtcDSdcPM1G94SzMi9/xZa8HamawtkS3Hcxg6tg1q13szWC45aM7r5QvhyKHTGmwmmIyTN5olAQlIQAIScLHAiWPnwMnaLG8CNrUHGBmEZF+PbTvXtxaZZy5fvngTOLDcpw364q3XWpmBZl5IX8MEKVs1GQi2wpg+aTnY77NZSQ8SkIAEJCABNwooAOlGXG3aewLaswRcIcCAHQeL+azde0GbY5Cx+4BPwIFnOPOvfcdw48Yt5H05K/oObeG05iPTcbpw/iqfvDIxgDhveX9Uq10WOXNnMp3XM8g444c+qFqrNLp3/MbUjmAQkuXuPaQ5Vm4ahWHjvsCkWd0wdOzn4D9eqPBZkwQkIAEJSEAC3hVgkDG8IGRYuWMrhsXzN5hWGKwhGVY6zZeABCTgLwLKp38IKADpH8dJuZSABLwgwL6RylcsgibNq4BBSAYfR4z/EjXqvI58+bObHK3/aQc4GEv8+PFQqVpJbN2yN1iza5PI/sB1c9kDf7du3rG/8+x/joDZpXdj7P7jEF4r8DHeKtnSDIrDQXLY7LpN+7rIlCUdPvt4EDb9vMsMnsP+orLnfA6Va5QywdabN29jaL/vzXqezb32JgEJSEACEpBAWAJRDUKGtb1ozNeqEpCABCQggbSLqlQAABAASURBVHAFFIAMl0cLJSCBmCyw/IdfzGiRDB4yCDlv+QAUKf4iJo5dhBEDZxoanvjPmrYK16/dMO/LvFEQ/Ue0AtcxM+wPfN1rUFMz6jVHwbbP8uj/yjVLw2azYdyI+aZzevZB+VHt7lg0bz3YUf2SRRuxavmvpm9KDpLTvOGAoP6i9uw6jCkTluLd17/A7OmrPZpv7UwCEoisgNJLQAIxUYDnIk3DaY4dE01UZglIQAIS8D0BBSB975goRxKQgIcFqtYqA/aNyGfHXTPgNqDHZFy+dM0EFLPnyoglCzeaAWQc07FZ8pRvl5jRKOPGi4OadV/H6i2jMXZKR9OEeeGqQahU7TXs2PoXvvtmseOqHnn9Uv7sJtDIfh6tHX7x1ft4vXxhzPl+Nbq1G2fNRq48mbBx/e+w+ouqVKaNWc7mWkGJ9EICEpCABCQgAZ8SCBmE7NDtw2D5y5w1fbD3eiMBCUhAAhLwtEBABiA9jaj9SUAC/itQvmJRsHkyR5H8qsdHprmxY2mWLvoF+3YfwcOHjxArlg3vVn8NDN45puHrwX2mo3eXCbh44aqpbZgmbQpw22zCnDlLOqxYshnNG/ZnUo9PsWLHQvJnkgaVjfmv36giWAPSMfjYoHFFTJzRFaVef8XjedQOJSABCUhAAhKInoAVhNz+65/gwDTTF/bC+x+9BT7PXdYP9Rq+Fb0daG0J+KiAsiUBCfiHgAKQ/nGclEsJSMADAuzH8elkSYLtaciYNihQ+AX8MHc92Mw6QYJ4aNy8qtMg5LSJy1Gm0Kemr8RtW/aZwOXShRvtgccB9qk/eGEQbONuesNBZNjs29o8882+Hmu897rJt7PgI9MeOXQa7OuRDnyvSQISkIAEJBBBASXzEQGea3BguUMHToJ9QLMLGLaEmDJhGXie4iPZVDYkIAEJSCAGCigAGQMPuoosAQn8v8CKpZsxeugcsK/DhXPWYfWPv/3/Qvur5Ys3YUDPKWjTdIh5ZjAvvCAkT/zZP2TNih1QsXRrtGg0ANyHfVMe+c/RuVnLoV3XBkH727v7MB49AipUKoaGTSuHqvloJWStzcSJE1hv9ex3AsqwBCQgAQlIAKZP59UrfsO9u/fNzc/xoxZi+IAZopGABCQgAQl4VUABSK/ya+cBJ6AC+aXAt6MXgn0ddm031pyos/bgVz0aokjxvFg4ex0mj19iyjV90vInBiGr1CqND5q8Y9J7+oHBx75DmyP9c6nAZt/W/lmG0ycvIHbsWIgbJw4SJIhv+rSEwz+WuUrN0rhz5x4OHzzlsEQvJSABCUhAAhLwN4H8BXPi7t17UPDR346c8isBCfiVgDIbKYFYkUqtxBKQgAQCXICBuIEjP0PDT99Fz0GfmiCkY5GdBSHbd/3AJGEAsF3nBnilUC7z3pMP3HefIc0RL15cs9t0GZ4NCjJy8JlxX883Tcjj/jdIzszFfcD+KZmYgdZJM7uicNE8WLX8V+zaeZCzNUlAAhKQgAQk4IcCH35cCdlyPBdjgo9+eIiUZQlIQAIxUkAByBh52FVoCUggLIEeAz5BubeLmNqCPHmPSBCySYuq2LDzW4yc0A4JE8XH6h9/DWvzUZ4fsl9Hxw1ZwUf24Thz2irT5CpZ8qQoUiJvUDIGTgf2moLLl66ZQXJezJcVw8Z9gaOXf8CMH3qboOnShRsxrL+aaAWh6YUEJBBRAaWTgAR8SOC7bxbjvXc7qdm1Dx0TZUUCEpCABAAFIPVXIAEJSOA/gToNypsaj2tWbsWOrX/hwYOHpgbBk4KQbNqcIWMqxIkbG9O/+xGL52/4b4uuecqXPzumL+gJ1sxkDU3Hrf5/8PE0PmnQBwf+PI7bt++a2o/ZcmRwTGo6n2/yfi/8uGQz/v3nJh49eoQH9x/g5PHzGNRnmunnkn1YBltJbyQgAQlIQAIS8DuBo4dP+12elWEJSEACEghsAQUgXXl8tS0JSMCvBWZOWYHiLzXCx/V6o0GNbvZA4s94UhCyZeOB2LxxN37ffgB9u32HQb2mutSANR8rvFMUyZMnNTUzR4z/0gQXuRMGH9nn48OHDzHYHkBk8PDo4TO49ve/iB8/Lp7PlJbJzNTii9qYs6y/CTw2/aAv8maqgywpKyNb6qp47ZUmGDt8nkmnBwlIQAISkIAEJCABCUggAgJKIgEJREogVqRSK7EEJCCBGCLAYF7ntmOeGIT8ec0O1K3cCVXLtQ0arMZVRF16N8bKX0aiaesaSJ7iKdMsvMybBTDmuw4mCJn+uVRIkDA+YseJjYT2Z+6X/TeeP3fFNLPOlDUdZ5npl/W/I1Xq5Bj+TVtkz/mcmacHCUhAAhKQgL8LKP8SkIAEJCABCfiHgAKQ/nGclEsJSMANAhwhcsiYNpj5Qx80blbFBPUcdxPRIKTjOq54zWbWo+1BxhrvvY6Vy7ag0Xs98H6VzuBo3WdOXUSx114yQciFc9ZhUO9piBs3DspXKhq062NHzpjX6dKnROas6c1rDkSzYe1O5HjheQUhjYgeXCigTUlAAhKQgAQkIAEJSEACEghXQAHIcHm0UAL+IqB8Rlag1vtvYPz0zqhaqwxeLf4ivurxEeYs7QcGJR235SwIyb4Y568YiE27JqJsuYKOyV3yul3XBihaIi84aEzb5sOwZuU2bNqwC727TESJlxvbg45Tceni32ZfHFymV5cJOHX8vHnPhxPHzuHunXt4OlkSvPBiJs4yE4OX9+7dx5XL13Hm9CUzTw8SkIAEJCABCUhAAhKQgAQk4E8C/plXBSD987gp1xKQQDQEWCvwk1bVkSRpQhzcfxJX7QE5bu6FFzOj79AWTwxCcsCZrNkzYNTQOSY4yHVdNbFfx7ffLY4dW/ebQWOcbZf9NX7edCgYHOXyhbPXYfyohXxppkMHTuLmzdtIlCiBGUSHM7ndeg3fxvZf/zSD1VjrcpkmCUhAAhKQgAQkIIFICii5BCQgAQlESkAByEhxKbEEJBAIAuUqvopkyZJgSN/vUa5Yc5R8pYkZGZoDzuTM/Xy4QUg2b75+7QYG9JwC1j50tccbFQojUeIE+G3znihv+s89x8xANPHix0XGTGnA4GOfIc1x5NDjkbIVfIwyrVaUgAR8TEDZkYAEJCABCUhAAhLwDwEFIP3jOCmXEpBABAXYf2K9hm+F6s+Rq3PwleZtaiLDc6lx+OApfPP1fM42NQm/bDHc9LcYXhCySfMqSPpUYrcFH5mZXHky49HDR7hw7irfRmk6evh0UBPr3C9mRs+BTd0ZfIxSHrWSBCQgAQlIQAISkIAEJCABCcQcAQUgA+JYqxASkAAFGHwcN+UrNPz0XXAAFs6zJgYfew9uhs+/qoe33y2GI4cfD9RiLWetwPCCkGy2vf6nHfii2VC31Hy08vHU04nNoDLPPZ/amhWh51x5MmH2kr5o27m+SX/MXr5Hjx6B848fPatm10ZFDxKQgAQkIAEJSEACEvB3AeVfAv4poACkfx435VoCEgghYAUfC7z6AuZ+/5Pp29FKwmXd+n6MgkVyI1YsG55J+TQYkEyTLqWVxDw7C0KOm/oV1m4dCz7funUHG9f9btK684FNp196JUekdvHX3mO4e+8+Xi7weL3jx87izp172PTzLgUfIyWpxBKQgAQkIIEICCiJBCQgAQlIQAKRElAAMlJcSiwBCfiiAAOMrPlY7LV8YK2/27fvBstm7XpvIm36lJg9fTUO/HXCpOFo14NHt8aTgpDPpkqOBAnioU/XiWCQL9iG3fDGGt36lUI5UalayUjt4dSJC0iTNoVpfr5mxVZ8O3qhgo+RElRifxNQfiUgAQlIQAISkIAEJCAB/xBQANI/jpNyKQFfFfB6vqzgY9GS+UyNPwYLa9Z9w9RwtDI3cewPeP3Vpujw2ddo0bA/tm3ZZxYVLZEXYQUhp01YhosXruLcmUvo2GYU1q3ebtZx98PB/Sfw8OEjJEueFHUalDfBxMjskx4v5c9uaoAO7j3N9G8ZmfWVVgISkIAEJCABCUhAAhKQgAQk4EQgWrMUgIwWn1aWgAS8LcD+Hp9NlQxftRmJgjnrY+rEZXg+S1oMHPlZsCCklc+D+0+i0xejnxiErFyzNO7fe+DR4CPzuHblNly5fI0v8WqxF9FjwCfmdUQenk2VHNeu/otNG3ZFJLnSSEACEpCABCQgAQn4nYAyLAEJSMA/BRSA9M/jplxLQAL/CXw9aBbKl2iJWdNWmdp+3dqNw/ABM5AlW4YoByE54Mzi+T+jVZOBHqv5+F9xzP7W2IOQDx48ROzYsVC5eikMGtXaWhzmc/mKRZEvfzbs//N4mGm0QAISkIAEXCSgzUhAAhKQgAQkIAEJREpAAchIcSmxBCTgCwJsZszRncPKy7gR8zFq6OxIByEnz/kfFq8divHTO4F9Me7ctj+sXbh1/tjh83Dgv0Bi7DixUaVmaUxf2Avst9LZjjm/TYe6YNBywey1zpIE5DwVSgISkIAEJCABCUhAAhKQgAT8Q0ABSP84Tr6aS+VLAh4XYPCRA86wiXXIAWQcMxOVIGSOXBmRMuXT6NV5gkcGnHHMr+Pro4dP47OPBwXlgTUhi5XMh6nzetiDo51RvU5Z0zdkvvzZ0alnQzMvU9a0mDvjJ1OD0nFbei0BCUhAAhKQgAQkIAEJSMAFAtqEBKIloABktPi0sgQk4EkBK/iY9+VsmDV1pRkgJrz9RzQIOW7kAly5fN1sz5MDzoSXd/ZVySbgv6z/w9RsZFqW/40KhU2T7D3HZ2HR6sFo3KyKCUZOGrsYg3pNZTJNEpCABCQgAQkErIAKJgEJSEACEvBPAQUg/fO4KdcSiHECDL6x5mOx1/LBZrNFuPwRCUKWe7sIbt284/EBZ55UCAYh61Xrgk6fj8L+fcfx4P6DYKvcu3sfbCb+Sf0+6N9jcrBleiMBCbhRQJuWgAQkIAEJSEACEpCABCIloABkpLiUWAIS8IZAyOBj0qcSoXmbmnjzrVcjlB3HIGSX3o1DreOtAWdCZSSMGRxgp0LJlngpa100+7AfPm861Dznz/4+qpX/Ej+v2RHGmpotAQlIQAISkIAEJCABCUhAAhLwvkB0ApDez71yIAEJxAiBgV+3Qs7cz+PHxZtw6sQFU2b2/9hjwCeRCkKuXLYFLxfIifqN3jbbsB42rvvd1CS03vvq841/b2G53YADzfCZ7301r8qXBCQgAQlIQAISkEBACagwEpCABKIloABktPi0sgQk4AmBft0no3qFdmj2UX+wX0Q2R+Z+IxuEXLNyKx48eIAX8mTm6pokIAEJSEACfiag7EpAAhKQgAQkIAH/FFAA0j+Pm3ItgRglcOLYOXBiodnnYcc2I02fiHwfmSDk31f+we3bdxErtr76aKcpigJaTQISkIAEJCABCUhAAhKQgAQiJaCr8EhxKbGvCCgfMVsgqkHIdBmeRfx4cXHh3JWYDajSS0ACEpCABCQgAQlIQAIS8BMBZTPOrJNjAAAQAElEQVQwBBSADIzjqFJIIMYJRDYIyYFsqtQsjfsPHmDH1r9inJcKLAEJSEACEpCABKIhoFUlIAEJSEAC0RJQADJafFpZAhLwpoCzIGTPQU1RpVbpUNnigDWFi+bB2lXbsW719lDLNUMCEpCA7wsohxKQgAQkIAEJSEACEvBPAQUg/fO4KdcSkMB/AiGDkKnTPINeA5ti0KjWKP1GAdSu9yYWrx2KKjXL4LfNe9Hjq/H/rRnFJ60mAQlIQAISkIAEJCABCUhAAhKQQKQE/DIAGakSKrEEJBDwAiGDkGxuXb1OWUya1Q39hrfEC3ky4+c1O9C2xXDc+PdWwHuogBKQgAQkIAEJSEACEggUAZVDAhIIDAEFIAPjOKoUEojxAgxCtmw8AMsXb8LNG7eNx4P7D7B/33F07/gNPqrdHefOXDLz9SABCUhAAhKQQKQElFgCEpCABCQgAQlES0AByGjxaWUJSMCXBA7uP4lmH/ZDnoy1kDnFu8iWuioqlGyJqROW+VI2lRcJRFFAq0lAAhKQgAQkIAEJSEACEvBPAQUg/fO4KdfeEtB+JSABCUhAAhKQgAQkIAEJSEACEgh8AZXQpQIKQLqUUxuTgAQkIAEJSEACEpCABCQgAVcJaDsSkIAEJBAYAgpABsZxVCkkIAEJSEACEpCAuwS0XQlIQAISkIAEJCABCURLQAHIaPFpZQlIQAKeEtB+JCABCUhAAhKQgAQkIAEJSEAC/imgAGRkjpvSSkACEpCABCQgAQlIQAISkIAEJBD4AiqhBCTgUgEFIF3KqY1JQAISkIAEJCABCUhAAq4S0HYkIAEJSEACEggMAQUgA+M4qhQSkIAEJCABdwlouxKQgAQkIAEJSEACEpCABKIloABktPi0sgQ8JaD9SEACEpCABCQgAQlIQAISkIAEJBD4AoFZQgUgA/O4qlQSkIAEJCABCUhAAhKQgAQkEFUBrScBCUhAAi4VUADSpZzamAQkIAEJSEACEpCAqwS0HQlIQAISkIAEJCCBwBBQADIwjqNKIQEJSMBdAtquBCQgAQlIQAISkIAEJCABCUggWgIKQEaLz1Mraz8SkIAEJCABCUhAAhKQgAQkIAEJBL6ASiiBwBRQADIwj6tKJQEJSEACEpCABCQgAQlEVUDrSUACEpCABCTgUgEFIF3KqY1JQAISkIAEJOAqAW1HAhKQgAQkIAEJSEACEggMAQUgA+M4qhQScJeAtisBCUhAAhKQgAQkIAEJSEACEpBA4Au4tYQKQLqVVxuXgAQkIAEJSEACEpCABCQgAQlEVEDpJCABCQSmgAKQgXlcVSoJSEACEpCABCQggagKaD0JSEACEpCABCQgAZcKKADpUk5tTAISkIAEXCWg7UhAAhKQgAQkIAEJSEACEpBAYAgoABkYx9FdpdB2JSABCUhAAhKQgAQkIAEJSEACEgh8AZVQAm4VUADSrbzauAQkIAEJSEACEpCABCQggYgKKJ0EJCABCUggMAUUgAzM46pSSUACEpCABCQQVQGtJwEJSEACEpCABCQgAQm4VEABSJdyamMSkICrBLQdCUhAAhKQgAQkIAEJSEACEpCABAJDILwAZGCUUKWQgAQkIAEJSEACEpCABCQgAQlIIDwBLZOABCTgVgEFIN3Kq41LQAISkIAEJCABCUggogJKJwEJSEACEpCABAJTQAHIwDyuKpUEJCABCURVQOtJQAISkIAEJCABCUhAAhKQgEsFFIB0Kac25ioBbUcCEpCABCQgAQlIQAISkIAEJCCBwBdQCWOGgAKQMeM4q5QSkIAEJCABCUhAAhKQgATCEtB8CUhAAhKQgFsFFIB0K682LgEJSEACEpCABCIqoHQSkIAEJCABCUhAAhIITAEFIAPzuKpUEpBAVAW0ngQkIAEJSEACEpCABCQgAQlIQAIuFfDJAKRLS6iNSUACEpCABCQgAQlIQAISkIAEJOCTAsqUBCQQMwQUgIwZx1mllIAEJCABCUhAAhKQQFgCmi8BCUhAAhKQgATcKqAApFt5tXEJSEACEpBARAWUTgISkIAEJCABCUhAAhKQQGAKKAAZmMdVpYqqgNaTgAQkIAEJSEACEpCABCQgAQlIIPAFVEKPCigA6VFu7UwCEpCABCQgAQlIQAISkIAELAE9S0ACEpBAzBBQADJmHGeVUgISkIAEJCABCYQloPkSkIAEJCABCUhAAhJwq4ACkG7l1cYlIAEJRFRA6SQgAQlIQAISkIAEJCABCUhAAoEpoACk43HVawlIQAISkIAEJCABCUhAAhKQgAQCX0AllIAEPCqgAKRHubUzCUhAAhKQgAQkIAEJSMAS0LMEJCABCUhAAjFDQAHImHGcVUoJSEACEpBAWAKaLwEJSEACEpCABCQgAQlIwK0CCkC6lVcbl0BEBZROAhKQgAQk8GSBxEkS4ssuDfDTr2Ow/8w8HL38g5mOXFqEXUdn4vtFvbFl73foN7wl9E8CEpCABCQgAQlIwBcFYmaeFICMmcddpZaABCQgAQlIwM8E3nzrVSxZOxRNP6uORIniY/SwuSiat6GZxo9cgPv37qNoibxIneYZPysZ8HnH93Hg7HzsOT4LVWuV8bv8K8MSkIAfCijLEpCABCTgUQEFID3KrZ1JQAISkIAEJCCByAuUfqMAegz4BJmypMP+fcfRoEY3DB8wA+fOXDJT3/99hy7txuLypWtm4xkypjLPvv6g/ElAAhKQgAQkIAEJxAwBBSBjxnFWKSUgAQmEJaD5EpCAjwtkzpoe7bo0QJp0KU2AcVj/GTi4/2SoXC9duBFLF23EgwcPQy3TDAlIQAISkIAEJCABCXhTQAFIb+oH7VsvJCABCUhAAhKQgHOBWu+/gew5M5qFf+w4iBVLN5vXzh5WLN6MixeuOlukeRKQgAQkIAEJ+ISAMiGBmCmgAGTMPO4qtQQkIAEJSEACfiJQoszLiBM3Nm7fvovfNu8JN9ebNuzC4YOnQqXJXzAnJs7sit3HZoID1nDia87jMmsF9r/IfhitwW04sE3lGqXMYg5sY83nM9MxPRcWK5kPm/dMMgPicBkHyGn1ZR181f0j/Pbn5KB9rt06FlVqleYqZrK22bJtbcSNFwccZGfImDZB2+FyTtymNf244WuwP8zlP4/AoQsLsffkHFMua7n1PG1BT7MPPvC1NZ/PKzeN4mxNMVlAZZeABCQgAQlIwKMCCkB6lFs7k4AEJCABCUjAEtDzkwVKlH4ZqVI/HlTmxr+3cOhA6OBiyK3Uq9oFnKz5rEE5fnpnvFb2FWyyByjLF28BTnzNeVzGNEy/YPZaNK7bCwf+PM63iBXLZp8eny52+OxrM+AN13v06BEc/3Feg+pdsXnjbnCZzWZDiVIv4dlUyfF+lc74sFZ3HDl02vRh+XmH92EFPbnNzCnexaxpq8zmWMbPmw4F53Hick59uk7E9Ws3TJoUzz6NVu3q4KeVW3H71h0zIM+xo2ex7dc/zb4f3H+AxfM3oHuHb0x6PrRtPhyzpq7E3Tv3sG3LPrRvNYKzNUlAAhKQgAQkIAEJeEjg8Rmlh3am3UhAAj4noAxJQAISkIAPCzCAlzhxApPDe/fu49aN2+Z1RB+y53wOTVvXQIqUT+PXTXvA4B77j+TE1zu37TfLWnxROygouOWX3di5/YDTXXDQm+32QN/9ew9CLec2GdzjsthxYuPAXyfQpukQ01/lz2t2YP7MNbhz5y5Sp3kGJcvkD7V+eDPGj1qI8+eumCQ2mw0jB83GpvV/4OqVf8CA446tf2HUkNmmj0zuO03aZ8x+zQr2B+b7xLFzZhujhs4By22frf8SkIAEJCABCUggJgl4tawKQHqVXzuXgAQkIAEJSEAC7hOoVrssMjyXGjdv3saKJZvBGobW3vh684ZduHf3PtKmS4lybxexFkX7mUHBK5evB9vO2TOXweAkm1qnSZsi2LLIvOF22Q8ma12WzN8Y2VJXRbd247Bu9Xbs2nnIbCrHC8/DajpuZtgfSr9RwAQlmc7+Vv8lIAEJeElAu5WABCQQMwUUgIyZx12lloAEJCABCUggBgi8VCAH2H8kmy8fcjJy9l/7juHGjVsmTd782TwiYrPZECu2e05B163ehps3biPpU4lRqEhuWP9er1AYqdKkAJebeXqQgAQkIAEJSEACEvCogHvO/jxaBO1MAhKQgAT8UUB5loAEnixw/foNM/gMU8aNGwcJ/2uOjQj+S/lssnBT/n3ln6DtW31NhruCjy+cP2stjh4+A/ZdWbRkPmTOmt7kuMwbBXD92r/gcjNDDxKQgAQkIAEJSEACHhVQANKj3D63M2VIAhKQgAQkIAEfFtiycbfp15BZTJI0IXLmysiXbpnYP6NbNuzBjbJZ+Ya1O01T7/TPPYu3KhU1QciCr+bGL+v/AJd7MDvalQQkIAEJSMCXBJQXCXhVQAFIr/Jr5xKQgAQkIAEJSCBsAQbMtm7ei4cPHyF+/HhgP4Zhp368hH0f/vTrGFSvUxaXLv5tZsaKFQvOmj0neyYpEiSIZ9KcO3PZPPv7w8plW3D+3OUgLwYh2Qyd8/29bMp/IAioDBKQgAQkIIGYKaAAZMw87iq1BCQgAQlIIOYK+FnJ581cg9MnL5hc58qTGfUavmVeh/VQqWpJ/PvPTfy4ZDP+2H7A1AZ86unEyJMvS6hVcuXOhMSJE4K1H3du/Sto+YVzV8zgNEEz/OjFzm37sf23v/Do0SNwMJpK1V7D3l1HwPl+VAxlVQISkIAEJCABCQSUgAKQAXU4VRgJ+I+AcioBCUhAAhETYOBs3Nfzcf3aDSR9KhGat6mJN9961enKHbp9iLz5s2P29NWmufH8WWtw6uR5U8vxjQqvInGShEHr8TVrVMaNFwdHDp7G8sWbg5ZxYJoHDx/CFstm9hm0wP7iuedTI3ac2LDZbIgbN7Z9TvT/WwFPm83mkm1u+3Ufbt28g6eTJUHa9CmxZuVW6J8EJCABCUhAAhKQgHcEuFcFIKmgSQISkIAEJCABCfiwwPRJyzGw1xRcvHAVadKlxODRbTBoVGvkswcbmW02u561uC9q1H0dE8cuAtNz/sH9JzFm2FzTj2T+gjkxZEwbZM/5HPj6m2mdkDtvFpw+eQEDek7B0cOnuYqZftu0FxfPX0WiRAnw/ocVUKR4XrOvURPbo3ipl/DIHpxMkDA+Xiv7iskPV2JAM1OWdCY4yQBl7hczm31Zy1gDM168uHyLbDmeM3kwb+wPLNe9e/eRMFF8VKhULGib9kXmPwOuDCbyTfJnkuLDjysFC6ZyvuM0/7/BaDjvwJ/HsWjuer7UJAEJSCAmC6jsEpCABLwqoACkV/m1cwlIQAISkIAEJBAxgWkTl+Pd17/ArKkrcevWHVSpUQqLVg/GoQsL0a3vx2B/j03e74VxI+YH2yBrQ3L+z2t2oFjJfFjxy0jM+3EAGCBcsWQzWjYeiHWrtwdbh7Uuh/SbjmNHMgl+8gAAB/1JREFUziB7royY8UNvzF3W39SG5PYePHiIWLFsqFilBBasHIgmzatg9ZbRqFStpJnPZa9XKIwp83qYfS5YOQiNmlYGa1tyRwUK58JU+7KqtcrwrRmdmnm4e/ceyrxZEBt//xY7Dk5Hv2Et0G94SzBYmip1cpOWI3t369vE7I/lMTNDPLDvTA5Gw2duN8RiL77VriUgAQlIQAISkEDMFFAAMmYed5VaAhKQQMwVUMkl4McC585cQofWI/Fq7g+QLXVVZE7xLrKlqoJXsr+P5g37h9nPIQOKDev0QN5MdZAlZWUz5c8W/joLZ69DmUKfmrTcT4601dCgRjcM6jUVOdNVN/vm/KIvfoTxoxaCz3zvOHHepg27UK5Y86D01vIXn6+NBbPXgv8YKGT+c6WrYdJZZWJZO3z2tZlnrWc9W9vm+mFNp05cgGPT8rDSab4EJCABCUhAAhKQgHsFFIB0r6+2HoaAZktAAhKQgAQkIAF3CbCZednyhbBh3c5gTcvdtT9tVwISkIAEJCCBsAW0RAIUUACSCpokIAEJSEACEpCABPxWgM20D5ydjylzu5u+IRs3r4o7t+/i++9W+G2ZlHEJuFhAm5OABCQgAQl4VUABSK/ya+cSkIAEJCABCcQcAZXUXQIZMqYy/UtysJzeg5uhSPEXMWvaKtV+dBe4tisBCUhAAhKQgAQiKaAAZCTBlFwCEvBzAWVfAhKQgAQCTmDtym24euUfxIkbG0VK5MX4UQswfdLygCunCiQBCUhAAhKQgAT8VcArAUh/xVK+JSABCUhAAhKQgAR8T2DCmEVmIB4OsFMkz4eYNlHBR987SsqRBCQQUwVUbglIQAIUUACSCpokIAEJSEACEpCABCQQuAIqmQQkIAEJSEACEvCqgAKQXuXXziUgAQlIIOYIqKQSkIAEJCABCUhAAhKQgARipoACkDHzuMfcUqvkEpCABCQgAQlIQAISkIAEJCABCQS+gEroUwIKQPrU4VBmJCABCUhAAhKQgAQkIAEJBI6ASiIBCUhAAhKggAKQVNAkAQlIQAISkIAEAldAJZOABCQgAQlIQAISkIBXBRSA9Cq/di4BCcQcAZVUAhKQgAQkIAEJSEACEpCABCQQMwViVgAyZh5jlVoCEpCABCQgAQlIQAISkIAEJBCzBFRaCUjApwQUgPSpw6HMSEACEpCABCQgAQlIIHAEVBIJSEACEpCABCRAAQUgqaBJAhKQgAQkELgCKpkEJCABCUhAAhKQgAQkIAGvCigA6VV+7TzmCKikEpCABCQgAQlIQAISkIAEJCABCQS+gEroTEABSGcqmicBCUhAAhKQgAQkIAEJSEAC/iugnEtAAhKQgE8JKADpU4dDmZGABCQgAQlIQAKBI6CSSEACEpCABCQgAQlIgAIKQFJBkwQkIIHAFVDJJCABCUhAAhKQgAQkIAEJSEACXhVQANIj/NqJBCQgAQlIQAISkIAEJCABCUhAAoEvoBJKQALOBBSAdKaieRKQgAQkIAEJSEACEpCA/woo5xKQgAQkIAEJ+JSAApA+dTiUGQlIQAISkEDgCKgkEpCABCQgAQlIQAISkIAEKKAAJBU0SSBwBVQyCUhAAhKQgAQkIAEJSEACEpCABAJfwKdLqACkTx8eZU4CEpCABCQgAQlIQAISkIAE/EdAOZWABCQgAWcCCkA6U9E8CUhAAhKQgAQkIAH/FVDOJSABCUhAAhKQgAR8SkABSJ86HMqMBCQggcARUEkkIAEJSEACEpCABCQgAQlIQAIUUACSCoE7qWQSkIAEJCABCUhAAhKQgAQkIAEJBL6ASigBnxZQANKnD48yJwEJSEACEpCABCQgAQn4j4ByKgEJSEACEpCAMwEFIJ2paJ4EJCABCUhAAv4roJxLQAISkIAEJCABCUhAAj4loACkTx0OZUYCgSOgkkhAAhKQgAQkIAEJSEACEpCABCQQ+AIRKaECkBFRUhoJSEACEpCABCQgAQlIQAISkIDvCihnEpCABHxaQAFInz48ypwEJCABCUhAAhKQgP8IKKcSkIAEJCABCUhAAs4EFIB0pqJ5EpCABCTgvwLKuQQkIAEJSEACEpCABCQgAQn4lIACkD51OAInMyqJBCQgAQlIQAISkIAEJCABCUhAAoEvoBJKICICCkBGRElpJCABCUhAAhKQgAQkIAEJ+K6AciYBCUhAAhLwaQEFIH368ChzEpCABCQgAQn4j4ByKgEJSEACEpCABCQgAQk4E1AA0pmK5klAAv4roJxLQAISkIAEJCABCUhAAhKQgAQk4FMCbglA+lQJlRkJSEACEpCABCQgAQlIQAISkIAE3CKgjUpAAhKIiIACkBFRUhoJSEACEpCABCQgAQn4roByJgEJSEACEpCABHxaQAFInz48ypwEJCABCfiPgHIqAQlIQAISkIAEJCABCUhAAs4EFIB0pqJ5/iugnEtAAhKQgAQkIAEJSEACEpCABCQQ+AIqoV8JKADpV4dLmZWABCQgAQlIQAISkIAEJOA7AsqJBCQgAQlIICICCkBGRElpJCABCUhAAhKQgO8KKGcSkIAEJCABCUhAAhLwaQEFIH368ChzEpCA/wgopxKQgAQkIAEJSEACEpCABCQgAQk4EwisAKSzEmqeBCQgAQlIQAISkIAEJCABCUhAAoEloNJIQAJ+JaAApF8dLmVWAhKQgAQkIAEJSEACviOgnEhAAhKQgAQkIIGICPwfAAAA//9y2LheAAAABklEQVQDAKhO770oj9pcAAAAAElFTkSuQmCC"/>
          <p:cNvSpPr>
            <a:spLocks noChangeAspect="1" noChangeArrowheads="1"/>
          </p:cNvSpPr>
          <p:nvPr/>
        </p:nvSpPr>
        <p:spPr bwMode="auto">
          <a:xfrm>
            <a:off x="9228138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1942" y="39291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latin typeface="Constantia" pitchFamily="18" charset="0"/>
              </a:rPr>
              <a:t>1.Geographical Distribution :</a:t>
            </a:r>
            <a:endParaRPr lang="ar-EG" sz="3600" b="1" dirty="0">
              <a:latin typeface="Constantia" pitchFamily="18" charset="0"/>
            </a:endParaRP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64" y="1403648"/>
            <a:ext cx="3185148" cy="493187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941190" y="1844824"/>
            <a:ext cx="4960035" cy="41242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just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The store has 59 customers distributed among 24 countries.</a:t>
            </a:r>
          </a:p>
          <a:p>
            <a:pPr algn="just" rtl="0"/>
            <a:endParaRPr lang="en-US" sz="2000" dirty="0" smtClean="0">
              <a:latin typeface="Constantia" pitchFamily="18" charset="0"/>
            </a:endParaRPr>
          </a:p>
          <a:p>
            <a:pPr marL="285750" indent="-285750" algn="just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The table shows that the store is an intercontinental retailer proven by its global reach to 24 countries across 5 continents .</a:t>
            </a:r>
          </a:p>
          <a:p>
            <a:pPr marL="285750" indent="-285750" algn="just" rtl="0">
              <a:buFont typeface="Arial" pitchFamily="34" charset="0"/>
              <a:buChar char="•"/>
            </a:pPr>
            <a:endParaRPr lang="en-US" sz="2000" dirty="0">
              <a:latin typeface="Constantia" pitchFamily="18" charset="0"/>
            </a:endParaRPr>
          </a:p>
          <a:p>
            <a:pPr marL="285750" indent="-285750" algn="just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While 15 countries having a single customers , It represents a strategic step for scaling the global presence .</a:t>
            </a:r>
          </a:p>
          <a:p>
            <a:pPr algn="just" rtl="0"/>
            <a:endParaRPr lang="en-US" dirty="0" smtClean="0">
              <a:latin typeface="Constantia" pitchFamily="18" charset="0"/>
            </a:endParaRPr>
          </a:p>
          <a:p>
            <a:pPr marL="285750" indent="-285750" algn="r" rtl="0">
              <a:buFont typeface="Arial" pitchFamily="34" charset="0"/>
              <a:buChar char="•"/>
            </a:pPr>
            <a:endParaRPr lang="ar-EG" sz="2400" b="1" dirty="0"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80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smtClean="0">
                <a:latin typeface="Constantia" pitchFamily="18" charset="0"/>
              </a:rPr>
              <a:t>2. Average Order Tracks</a:t>
            </a:r>
            <a:r>
              <a:rPr lang="en-US" b="1" smtClean="0">
                <a:latin typeface="Constantia" pitchFamily="18" charset="0"/>
              </a:rPr>
              <a:t>:</a:t>
            </a:r>
            <a:endParaRPr lang="ar-EG" b="1" dirty="0">
              <a:latin typeface="Constantia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568287"/>
            <a:ext cx="3024336" cy="807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71600" y="2535287"/>
            <a:ext cx="6624736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itchFamily="34" charset="0"/>
              <a:buChar char="•"/>
            </a:pPr>
            <a:r>
              <a:rPr lang="en-US" sz="2000" b="1" dirty="0">
                <a:latin typeface="Constantia" pitchFamily="18" charset="0"/>
              </a:rPr>
              <a:t>Customers buy an average of 5.4 tracks per order, showing a preference for building custom playlists rather than single-track purchases</a:t>
            </a:r>
            <a:r>
              <a:rPr lang="en-US" sz="2000" b="1" dirty="0" smtClean="0">
                <a:latin typeface="Constant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379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23528" y="260648"/>
            <a:ext cx="8003232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smtClean="0">
                <a:latin typeface="Constantia" pitchFamily="18" charset="0"/>
              </a:rPr>
              <a:t>3.Top 10 </a:t>
            </a:r>
            <a:r>
              <a:rPr lang="en-US" sz="3200" smtClean="0">
                <a:latin typeface="Constantia" pitchFamily="18" charset="0"/>
              </a:rPr>
              <a:t>Revenue-Generator Customers</a:t>
            </a:r>
            <a:endParaRPr lang="ar-EG" sz="3200" dirty="0">
              <a:latin typeface="Constantia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967" y="4268670"/>
            <a:ext cx="8666506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just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This table represents the highest 10 customers in terms of revenue .</a:t>
            </a:r>
          </a:p>
          <a:p>
            <a:pPr marL="285750" indent="-285750" algn="just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The total orders of each of the 10 customers is 7 which reflects a consistent buying pattern. </a:t>
            </a:r>
          </a:p>
          <a:p>
            <a:pPr marL="285750" indent="-285750" algn="just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The equality of total orders for all of them shows that the high-value of customers is determined by their cart-value of each time . </a:t>
            </a:r>
          </a:p>
          <a:p>
            <a:pPr marL="285750" indent="-285750" algn="just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Although the store has only 2 customers from ‘Czech Republic’ who are Helena Holy and </a:t>
            </a:r>
            <a:r>
              <a:rPr lang="en-US" sz="2000" dirty="0" err="1" smtClean="0">
                <a:latin typeface="Constantia" pitchFamily="18" charset="0"/>
              </a:rPr>
              <a:t>Ladislav</a:t>
            </a:r>
            <a:r>
              <a:rPr lang="en-US" sz="2000" dirty="0">
                <a:latin typeface="Constantia" pitchFamily="18" charset="0"/>
              </a:rPr>
              <a:t> </a:t>
            </a:r>
            <a:r>
              <a:rPr lang="en-US" sz="2000" dirty="0" smtClean="0">
                <a:latin typeface="Constantia" pitchFamily="18" charset="0"/>
              </a:rPr>
              <a:t>Kovacs , They are the </a:t>
            </a:r>
            <a:r>
              <a:rPr lang="en-US" sz="2000" b="1" dirty="0" smtClean="0">
                <a:latin typeface="Constantia" pitchFamily="18" charset="0"/>
              </a:rPr>
              <a:t>first</a:t>
            </a:r>
            <a:r>
              <a:rPr lang="en-US" sz="2000" dirty="0" smtClean="0">
                <a:latin typeface="Constantia" pitchFamily="18" charset="0"/>
              </a:rPr>
              <a:t> and </a:t>
            </a:r>
            <a:r>
              <a:rPr lang="en-US" sz="2000" b="1" dirty="0" smtClean="0">
                <a:latin typeface="Constantia" pitchFamily="18" charset="0"/>
              </a:rPr>
              <a:t>fourth highest value-customers.</a:t>
            </a:r>
            <a:endParaRPr lang="ar-EG" sz="2000" b="1" dirty="0">
              <a:latin typeface="Constantia" pitchFamily="18" charset="0"/>
            </a:endParaRPr>
          </a:p>
        </p:txBody>
      </p:sp>
      <p:pic>
        <p:nvPicPr>
          <p:cNvPr id="4" name="Content Placeholder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3" y="1241247"/>
            <a:ext cx="6127656" cy="28173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9351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smtClean="0">
                <a:latin typeface="Constantia" pitchFamily="18" charset="0"/>
              </a:rPr>
              <a:t>3.Most Popular Musical Genre by Country</a:t>
            </a:r>
            <a:endParaRPr lang="ar-EG" sz="3200" dirty="0">
              <a:latin typeface="Constantia" pitchFamily="18" charset="0"/>
            </a:endParaRPr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7" y="1268760"/>
            <a:ext cx="4021247" cy="50405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220072" y="2348880"/>
            <a:ext cx="3600400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itchFamily="34" charset="0"/>
              <a:buChar char="•"/>
            </a:pPr>
            <a:r>
              <a:rPr lang="en-US" dirty="0" smtClean="0">
                <a:latin typeface="Constantia" pitchFamily="18" charset="0"/>
              </a:rPr>
              <a:t>Rock Tracks are the most popular among all countries </a:t>
            </a:r>
            <a:r>
              <a:rPr lang="en-US" b="1" dirty="0" smtClean="0">
                <a:latin typeface="Constantia" pitchFamily="18" charset="0"/>
              </a:rPr>
              <a:t>except for Argentina and Sweden .</a:t>
            </a:r>
          </a:p>
          <a:p>
            <a:pPr marL="285750" indent="-285750" algn="l" rtl="0">
              <a:buFont typeface="Arial" pitchFamily="34" charset="0"/>
              <a:buChar char="•"/>
            </a:pPr>
            <a:endParaRPr lang="en-US" b="1" dirty="0">
              <a:latin typeface="Constantia" pitchFamily="18" charset="0"/>
            </a:endParaRPr>
          </a:p>
          <a:p>
            <a:pPr marL="285750" indent="-285750" algn="l" rtl="0">
              <a:buFont typeface="Arial" pitchFamily="34" charset="0"/>
              <a:buChar char="•"/>
            </a:pPr>
            <a:r>
              <a:rPr lang="en-US" dirty="0" smtClean="0">
                <a:latin typeface="Constantia" pitchFamily="18" charset="0"/>
              </a:rPr>
              <a:t>Alternative &amp; Punk tracks are the most popular for the Argentinian  customer while the Sweden customer’s best genre is Latin . </a:t>
            </a:r>
            <a:endParaRPr lang="ar-EG" dirty="0"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733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476672"/>
            <a:ext cx="8229600" cy="5649491"/>
          </a:xfrm>
          <a:prstGeom prst="rect">
            <a:avLst/>
          </a:prstGeom>
        </p:spPr>
        <p:txBody>
          <a:bodyPr/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mtClean="0">
                <a:latin typeface="Constantia" pitchFamily="18" charset="0"/>
              </a:rPr>
              <a:t>4. Best-Seller Tracks </a:t>
            </a:r>
            <a:endParaRPr lang="ar-EG" dirty="0">
              <a:latin typeface="Constantia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268760"/>
            <a:ext cx="4896544" cy="29523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80429" y="4555442"/>
            <a:ext cx="6984776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itchFamily="34" charset="0"/>
              <a:buChar char="•"/>
            </a:pPr>
            <a:r>
              <a:rPr lang="en-US" b="1" dirty="0">
                <a:latin typeface="Constantia" pitchFamily="18" charset="0"/>
              </a:rPr>
              <a:t>Rock Leads Sales Volume While Global Genres Maintain Competitive </a:t>
            </a:r>
            <a:r>
              <a:rPr lang="en-US" b="1" dirty="0" smtClean="0">
                <a:latin typeface="Constantia" pitchFamily="18" charset="0"/>
              </a:rPr>
              <a:t>Performance .</a:t>
            </a:r>
          </a:p>
          <a:p>
            <a:pPr marL="285750" indent="-285750" algn="l" rtl="0">
              <a:buFont typeface="Arial" pitchFamily="34" charset="0"/>
              <a:buChar char="•"/>
            </a:pPr>
            <a:r>
              <a:rPr lang="en-US" b="1" dirty="0" smtClean="0">
                <a:latin typeface="Constantia" pitchFamily="18" charset="0"/>
              </a:rPr>
              <a:t>Although Rock tracks lead the sales volume , The Latin and Metal tracks </a:t>
            </a:r>
          </a:p>
          <a:p>
            <a:pPr marL="285750" indent="-285750" algn="l" rtl="0">
              <a:buFont typeface="Arial" pitchFamily="34" charset="0"/>
              <a:buChar char="•"/>
            </a:pPr>
            <a:r>
              <a:rPr lang="en-US" b="1" dirty="0" smtClean="0">
                <a:latin typeface="Constantia" pitchFamily="18" charset="0"/>
              </a:rPr>
              <a:t>Presence show that  Chinook is NOT a one-stop-shop  </a:t>
            </a:r>
            <a:r>
              <a:rPr lang="en-US" b="1" dirty="0" err="1" smtClean="0">
                <a:latin typeface="Constantia" pitchFamily="18" charset="0"/>
              </a:rPr>
              <a:t>provin</a:t>
            </a:r>
            <a:r>
              <a:rPr lang="en-US" b="1" dirty="0" smtClean="0">
                <a:latin typeface="Constantia" pitchFamily="18" charset="0"/>
              </a:rPr>
              <a:t> the diversity of its catalog.</a:t>
            </a:r>
            <a:endParaRPr lang="ar-EG" dirty="0"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644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b="1" smtClean="0">
                <a:latin typeface="Constantia" pitchFamily="18" charset="0"/>
              </a:rPr>
              <a:t>5.Slow-Mo</a:t>
            </a:r>
            <a:r>
              <a:rPr lang="en-US" smtClean="0">
                <a:latin typeface="Constantia" pitchFamily="18" charset="0"/>
              </a:rPr>
              <a:t>ver Tracks </a:t>
            </a:r>
            <a:endParaRPr lang="ar-EG" dirty="0">
              <a:latin typeface="Constantia" pitchFamily="18" charset="0"/>
            </a:endParaRPr>
          </a:p>
        </p:txBody>
      </p:sp>
      <p:pic>
        <p:nvPicPr>
          <p:cNvPr id="3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484784"/>
            <a:ext cx="3816424" cy="2706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31377" y="4711231"/>
            <a:ext cx="746901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itchFamily="34" charset="0"/>
              <a:buChar char="•"/>
            </a:pPr>
            <a:r>
              <a:rPr lang="en-US" b="1" dirty="0">
                <a:latin typeface="Constantia" pitchFamily="18" charset="0"/>
              </a:rPr>
              <a:t>Catalog Depth: Capturing the Long Tail </a:t>
            </a:r>
            <a:r>
              <a:rPr lang="en-US" b="1" dirty="0" smtClean="0">
                <a:latin typeface="Constantia" pitchFamily="18" charset="0"/>
              </a:rPr>
              <a:t>Market</a:t>
            </a:r>
          </a:p>
          <a:p>
            <a:pPr algn="l" rtl="0"/>
            <a:r>
              <a:rPr lang="en-US" b="1" dirty="0" smtClean="0">
                <a:latin typeface="Constantia" pitchFamily="18" charset="0"/>
              </a:rPr>
              <a:t>The Store has a deep catalog in which some customers may buy an unknown track .</a:t>
            </a:r>
            <a:endParaRPr lang="ar-EG" dirty="0"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238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7" y="550"/>
            <a:ext cx="8892480" cy="792088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Constantia" pitchFamily="18" charset="0"/>
              </a:rPr>
              <a:t>Top 10 Revenue-Generators’ Musical Preferences </a:t>
            </a:r>
            <a:endParaRPr lang="ar-EG" sz="3200" dirty="0">
              <a:latin typeface="Constantia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3" y="775473"/>
            <a:ext cx="8345016" cy="3816424"/>
          </a:xfrm>
          <a:ln>
            <a:solidFill>
              <a:schemeClr val="tx1"/>
            </a:solidFill>
          </a:ln>
        </p:spPr>
      </p:pic>
      <p:sp>
        <p:nvSpPr>
          <p:cNvPr id="6" name="Text 2"/>
          <p:cNvSpPr/>
          <p:nvPr/>
        </p:nvSpPr>
        <p:spPr>
          <a:xfrm>
            <a:off x="251520" y="4797152"/>
            <a:ext cx="8568952" cy="22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latin typeface="Constantia" pitchFamily="18" charset="0"/>
                <a:ea typeface="Cambria" pitchFamily="18" charset="0"/>
                <a:cs typeface="Martel Sans Light" pitchFamily="34" charset="-120"/>
              </a:rPr>
              <a:t>Rock dominates as the most popular genre among Chinook's top-spending customers</a:t>
            </a:r>
            <a:endParaRPr lang="en-US" sz="1600" b="1" dirty="0">
              <a:latin typeface="Constantia" pitchFamily="18" charset="0"/>
              <a:ea typeface="Cambria" pitchFamily="18" charset="0"/>
            </a:endParaRPr>
          </a:p>
          <a:p>
            <a:pPr marL="342900" indent="-342900" algn="l" rtl="0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latin typeface="Constantia" pitchFamily="18" charset="0"/>
                <a:ea typeface="Cambria" pitchFamily="18" charset="0"/>
                <a:cs typeface="Martel Sans Light" pitchFamily="34" charset="-120"/>
              </a:rPr>
              <a:t>Alternative &amp; Punk follows as the second-most favored genre</a:t>
            </a:r>
            <a:endParaRPr lang="en-US" sz="1600" b="1" dirty="0">
              <a:latin typeface="Constantia" pitchFamily="18" charset="0"/>
              <a:ea typeface="Cambria" pitchFamily="18" charset="0"/>
            </a:endParaRPr>
          </a:p>
          <a:p>
            <a:pPr marL="342900" indent="-342900" algn="l" rtl="0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latin typeface="Constantia" pitchFamily="18" charset="0"/>
                <a:ea typeface="Cambria" pitchFamily="18" charset="0"/>
                <a:cs typeface="Martel Sans Light" pitchFamily="34" charset="-120"/>
              </a:rPr>
              <a:t>Top customers display high genre diversity — from Rock and Punk to Latin and TV show soundtracks</a:t>
            </a:r>
            <a:endParaRPr lang="en-US" sz="1600" b="1" dirty="0">
              <a:latin typeface="Constantia" pitchFamily="18" charset="0"/>
              <a:ea typeface="Cambria" pitchFamily="18" charset="0"/>
            </a:endParaRPr>
          </a:p>
          <a:p>
            <a:pPr marL="342900" indent="-342900" algn="l" rtl="0">
              <a:lnSpc>
                <a:spcPts val="2300"/>
              </a:lnSpc>
              <a:buSzPct val="100000"/>
              <a:buChar char="•"/>
            </a:pPr>
            <a:r>
              <a:rPr lang="en-US" sz="1600" b="1" dirty="0">
                <a:latin typeface="Constantia" pitchFamily="18" charset="0"/>
                <a:ea typeface="Cambria" pitchFamily="18" charset="0"/>
                <a:cs typeface="Martel Sans Light" pitchFamily="34" charset="-120"/>
              </a:rPr>
              <a:t>This diversity suggests premium buyers are eclectic listeners, not single-genre loyalists</a:t>
            </a:r>
            <a:endParaRPr lang="en-US" sz="1600" b="1" dirty="0">
              <a:latin typeface="Constant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23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06879" y="2204864"/>
            <a:ext cx="4896544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latin typeface="Constantia" pitchFamily="18" charset="0"/>
                <a:ea typeface="Cambria" pitchFamily="18" charset="0"/>
              </a:rPr>
              <a:t>Employee Performance Analysis</a:t>
            </a:r>
            <a:endParaRPr lang="ar-EG" sz="3600" dirty="0">
              <a:latin typeface="Constantia" pitchFamily="18" charset="0"/>
              <a:ea typeface="Cambr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92" y="3933056"/>
            <a:ext cx="4248472" cy="1752600"/>
          </a:xfrm>
        </p:spPr>
        <p:txBody>
          <a:bodyPr/>
          <a:lstStyle/>
          <a:p>
            <a:pPr algn="l"/>
            <a:r>
              <a:rPr lang="en-US" sz="2400" b="1" i="1" dirty="0" smtClean="0">
                <a:solidFill>
                  <a:schemeClr val="tx1"/>
                </a:solidFill>
                <a:latin typeface="Constantia" pitchFamily="18" charset="0"/>
                <a:ea typeface="Cambria" pitchFamily="18" charset="0"/>
              </a:rPr>
              <a:t>Sales Representative Agents</a:t>
            </a:r>
            <a:endParaRPr lang="en-US" sz="2400" b="1" dirty="0" smtClean="0">
              <a:solidFill>
                <a:schemeClr val="tx1"/>
              </a:solidFill>
              <a:latin typeface="Constantia" pitchFamily="18" charset="0"/>
              <a:ea typeface="Cambria" pitchFamily="18" charset="0"/>
            </a:endParaRPr>
          </a:p>
          <a:p>
            <a:endParaRPr lang="ar-EG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0648"/>
            <a:ext cx="4398235" cy="65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2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620688"/>
            <a:ext cx="7632848" cy="922114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2800" b="1" dirty="0" smtClean="0">
                <a:latin typeface="Constantia" pitchFamily="18" charset="0"/>
              </a:rPr>
              <a:t/>
            </a:r>
            <a:br>
              <a:rPr lang="en-US" sz="2800" b="1" dirty="0" smtClean="0">
                <a:latin typeface="Constantia" pitchFamily="18" charset="0"/>
              </a:rPr>
            </a:br>
            <a:r>
              <a:rPr lang="en-US" sz="2800" b="1" dirty="0" smtClean="0">
                <a:latin typeface="Constantia" pitchFamily="18" charset="0"/>
              </a:rPr>
              <a:t>This Sections aims to Evaluate Support Team Efficiency &amp; Sales Contribution.</a:t>
            </a:r>
            <a:br>
              <a:rPr lang="en-US" sz="2800" b="1" dirty="0" smtClean="0">
                <a:latin typeface="Constantia" pitchFamily="18" charset="0"/>
              </a:rPr>
            </a:br>
            <a:endParaRPr lang="ar-EG" sz="2800" dirty="0">
              <a:latin typeface="Constantia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00808"/>
            <a:ext cx="7258727" cy="1459040"/>
          </a:xfr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7584" y="3717032"/>
            <a:ext cx="7128792" cy="252376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>
              <a:buFont typeface="Arial" pitchFamily="34" charset="0"/>
              <a:buChar char="•"/>
            </a:pPr>
            <a:r>
              <a:rPr lang="en-US" sz="2000" dirty="0" smtClean="0">
                <a:latin typeface="Constantia" pitchFamily="18" charset="0"/>
              </a:rPr>
              <a:t>Generally : The performance gab between the three employees is marginal , reflecting a well-balanced workload distribution and consistent service quality among the support team . </a:t>
            </a:r>
          </a:p>
          <a:p>
            <a:pPr algn="l" rtl="0"/>
            <a:endParaRPr lang="en-US" sz="2000" dirty="0" smtClean="0">
              <a:latin typeface="Constantia" pitchFamily="18" charset="0"/>
            </a:endParaRPr>
          </a:p>
          <a:p>
            <a:pPr marL="285750" indent="-285750" algn="l" rtl="0">
              <a:buFont typeface="Arial" pitchFamily="34" charset="0"/>
              <a:buChar char="•"/>
            </a:pPr>
            <a:r>
              <a:rPr lang="en-US" sz="2000" b="1" dirty="0" smtClean="0">
                <a:latin typeface="Constantia" pitchFamily="18" charset="0"/>
              </a:rPr>
              <a:t>Jane Peacock </a:t>
            </a:r>
            <a:r>
              <a:rPr lang="en-US" sz="2000" dirty="0" smtClean="0">
                <a:latin typeface="Constantia" pitchFamily="18" charset="0"/>
              </a:rPr>
              <a:t>is the best employee in terms of all key metrics generated .</a:t>
            </a:r>
          </a:p>
          <a:p>
            <a:pPr marL="285750" indent="-285750" algn="l" rtl="0">
              <a:buFont typeface="Arial" pitchFamily="34" charset="0"/>
              <a:buChar char="•"/>
            </a:pP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390743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4800" b="1" dirty="0" smtClean="0">
                <a:solidFill>
                  <a:srgbClr val="FF0000"/>
                </a:solidFill>
                <a:latin typeface="Constantia" pitchFamily="18" charset="0"/>
              </a:rPr>
              <a:t>Final Conclusion : </a:t>
            </a:r>
            <a:endParaRPr lang="ar-EG" sz="4800" b="1" dirty="0">
              <a:solidFill>
                <a:srgbClr val="FF0000"/>
              </a:solidFill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 rtl="0">
              <a:buNone/>
            </a:pPr>
            <a:r>
              <a:rPr lang="en-US" dirty="0">
                <a:latin typeface="Constantia" pitchFamily="18" charset="0"/>
              </a:rPr>
              <a:t>Chinook demonstrates a </a:t>
            </a:r>
            <a:r>
              <a:rPr lang="en-US" b="1" dirty="0">
                <a:latin typeface="Constantia" pitchFamily="18" charset="0"/>
              </a:rPr>
              <a:t>resilient financial foundation</a:t>
            </a:r>
            <a:r>
              <a:rPr lang="en-US" dirty="0">
                <a:latin typeface="Constantia" pitchFamily="18" charset="0"/>
              </a:rPr>
              <a:t> with a robust global footprint spanning 24 countries</a:t>
            </a:r>
            <a:r>
              <a:rPr lang="en-US" dirty="0" smtClean="0">
                <a:latin typeface="Constantia" pitchFamily="18" charset="0"/>
              </a:rPr>
              <a:t>.</a:t>
            </a:r>
          </a:p>
          <a:p>
            <a:pPr marL="0" indent="0" algn="l" rtl="0">
              <a:buNone/>
            </a:pPr>
            <a:endParaRPr lang="en-US" dirty="0">
              <a:latin typeface="Constantia" pitchFamily="18" charset="0"/>
            </a:endParaRPr>
          </a:p>
          <a:p>
            <a:pPr algn="l" rtl="0"/>
            <a:r>
              <a:rPr lang="en-US" dirty="0">
                <a:latin typeface="Constantia" pitchFamily="18" charset="0"/>
              </a:rPr>
              <a:t>North America remains the primary revenue driver, contributing over 60% of total </a:t>
            </a:r>
            <a:r>
              <a:rPr lang="en-US" dirty="0" smtClean="0">
                <a:latin typeface="Constantia" pitchFamily="18" charset="0"/>
              </a:rPr>
              <a:t>sales.</a:t>
            </a:r>
          </a:p>
          <a:p>
            <a:pPr marL="0" indent="0" algn="l" rtl="0">
              <a:buNone/>
            </a:pPr>
            <a:endParaRPr lang="en-US" dirty="0">
              <a:latin typeface="Constantia" pitchFamily="18" charset="0"/>
            </a:endParaRPr>
          </a:p>
          <a:p>
            <a:pPr algn="l" rtl="0"/>
            <a:r>
              <a:rPr lang="en-US" dirty="0">
                <a:latin typeface="Constantia" pitchFamily="18" charset="0"/>
              </a:rPr>
              <a:t>The current Average Order Value (AOV) of </a:t>
            </a:r>
            <a:r>
              <a:rPr lang="en-US" b="1" dirty="0">
                <a:latin typeface="Constantia" pitchFamily="18" charset="0"/>
              </a:rPr>
              <a:t>$5.65</a:t>
            </a:r>
            <a:r>
              <a:rPr lang="en-US" dirty="0">
                <a:latin typeface="Constantia" pitchFamily="18" charset="0"/>
              </a:rPr>
              <a:t> indicates a significant opportunity to convert single-track buyers into bulk album purchasers</a:t>
            </a:r>
            <a:r>
              <a:rPr lang="en-US" dirty="0" smtClean="0">
                <a:latin typeface="Constantia" pitchFamily="18" charset="0"/>
              </a:rPr>
              <a:t>.</a:t>
            </a:r>
          </a:p>
          <a:p>
            <a:pPr marL="0" indent="0" algn="l" rtl="0">
              <a:buNone/>
            </a:pPr>
            <a:endParaRPr lang="en-US" dirty="0">
              <a:latin typeface="Constantia" pitchFamily="18" charset="0"/>
            </a:endParaRPr>
          </a:p>
          <a:p>
            <a:pPr algn="l" rtl="0"/>
            <a:r>
              <a:rPr lang="en-US" dirty="0">
                <a:latin typeface="Constantia" pitchFamily="18" charset="0"/>
              </a:rPr>
              <a:t>Operational efficiency is high, evidenced by the balanced workload and consistent performance of the sales support team.</a:t>
            </a:r>
          </a:p>
          <a:p>
            <a:pPr algn="l" rtl="0"/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921655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l" rtl="0">
              <a:buNone/>
            </a:pPr>
            <a:r>
              <a:rPr lang="en-US" b="1" dirty="0">
                <a:solidFill>
                  <a:srgbClr val="FF0000"/>
                </a:solidFill>
                <a:latin typeface="Constantia" pitchFamily="18" charset="0"/>
              </a:rPr>
              <a:t>Maximize </a:t>
            </a:r>
            <a:r>
              <a:rPr lang="en-US" b="1" dirty="0" smtClean="0">
                <a:solidFill>
                  <a:srgbClr val="FF0000"/>
                </a:solidFill>
                <a:latin typeface="Constantia" pitchFamily="18" charset="0"/>
              </a:rPr>
              <a:t>AOV  with smart bundling  Implementation :</a:t>
            </a:r>
          </a:p>
          <a:p>
            <a:pPr marL="0" indent="0" algn="l" rtl="0">
              <a:buNone/>
            </a:pPr>
            <a:endParaRPr lang="en-US" b="1" dirty="0">
              <a:solidFill>
                <a:srgbClr val="FF3399"/>
              </a:solidFill>
              <a:latin typeface="Constantia" pitchFamily="18" charset="0"/>
            </a:endParaRPr>
          </a:p>
          <a:p>
            <a:pPr algn="just" rtl="0"/>
            <a:r>
              <a:rPr lang="en-US" sz="2000" b="1" dirty="0">
                <a:latin typeface="Constantia" pitchFamily="18" charset="0"/>
              </a:rPr>
              <a:t>Investment:</a:t>
            </a:r>
            <a:r>
              <a:rPr lang="en-US" sz="2000" dirty="0">
                <a:latin typeface="Constantia" pitchFamily="18" charset="0"/>
              </a:rPr>
              <a:t> Capital allocation for web platform updates to enable automated bundling features and targeted promotional marketing campaigns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pPr marL="0" indent="0" algn="just" rtl="0">
              <a:buNone/>
            </a:pPr>
            <a:endParaRPr lang="en-US" sz="2000" dirty="0">
              <a:latin typeface="Constantia" pitchFamily="18" charset="0"/>
            </a:endParaRPr>
          </a:p>
          <a:p>
            <a:pPr algn="just" rtl="0"/>
            <a:r>
              <a:rPr lang="en-US" sz="2000" b="1" dirty="0">
                <a:latin typeface="Constantia" pitchFamily="18" charset="0"/>
              </a:rPr>
              <a:t>Return:</a:t>
            </a:r>
            <a:r>
              <a:rPr lang="en-US" sz="2000" dirty="0">
                <a:latin typeface="Constantia" pitchFamily="18" charset="0"/>
              </a:rPr>
              <a:t> A projected 77% increase in Average Order Value (from $5.65 to $10.00) and accelerated liquidation of "Dead-Stock" digital inventory</a:t>
            </a:r>
            <a:r>
              <a:rPr lang="en-US" sz="2000" dirty="0" smtClean="0">
                <a:latin typeface="Constantia" pitchFamily="18" charset="0"/>
              </a:rPr>
              <a:t>.</a:t>
            </a:r>
          </a:p>
          <a:p>
            <a:pPr marL="0" indent="0" algn="just" rtl="0">
              <a:buNone/>
            </a:pPr>
            <a:endParaRPr lang="en-US" sz="2000" dirty="0">
              <a:latin typeface="Constantia" pitchFamily="18" charset="0"/>
            </a:endParaRPr>
          </a:p>
          <a:p>
            <a:pPr algn="just" rtl="0"/>
            <a:r>
              <a:rPr lang="en-US" sz="2000" b="1" dirty="0">
                <a:latin typeface="Constantia" pitchFamily="18" charset="0"/>
              </a:rPr>
              <a:t>Net Impact:</a:t>
            </a:r>
            <a:r>
              <a:rPr lang="en-US" sz="2000" dirty="0">
                <a:latin typeface="Constantia" pitchFamily="18" charset="0"/>
              </a:rPr>
              <a:t> Higher profit margins per transaction by offsetting fixed payment processing fees through increased volume per customer.</a:t>
            </a:r>
          </a:p>
          <a:p>
            <a:pPr algn="just" rtl="0"/>
            <a:endParaRPr lang="ar-EG" dirty="0">
              <a:latin typeface="Constantia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4800" b="1" dirty="0" smtClean="0">
                <a:solidFill>
                  <a:srgbClr val="FF0000"/>
                </a:solidFill>
                <a:latin typeface="Constantia" pitchFamily="18" charset="0"/>
              </a:rPr>
              <a:t>Business Recommendations : </a:t>
            </a:r>
            <a:endParaRPr lang="ar-EG" sz="4800" b="1" dirty="0">
              <a:solidFill>
                <a:srgbClr val="FF0000"/>
              </a:solidFill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837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 rtl="0">
              <a:buNone/>
            </a:pPr>
            <a:r>
              <a:rPr lang="en-US" b="1" dirty="0">
                <a:solidFill>
                  <a:srgbClr val="FF0000"/>
                </a:solidFill>
                <a:latin typeface="Constantia" pitchFamily="18" charset="0"/>
              </a:rPr>
              <a:t>The VIP-Referral Growth </a:t>
            </a:r>
            <a:r>
              <a:rPr lang="en-US" b="1" dirty="0" smtClean="0">
                <a:solidFill>
                  <a:srgbClr val="FF0000"/>
                </a:solidFill>
                <a:latin typeface="Constantia" pitchFamily="18" charset="0"/>
              </a:rPr>
              <a:t>Engine:</a:t>
            </a:r>
          </a:p>
          <a:p>
            <a:pPr marL="0" indent="0" algn="l" rtl="0">
              <a:buNone/>
            </a:pPr>
            <a:endParaRPr lang="en-US" b="1" dirty="0" smtClean="0">
              <a:solidFill>
                <a:srgbClr val="FF3399"/>
              </a:solidFill>
              <a:latin typeface="Constantia" pitchFamily="18" charset="0"/>
            </a:endParaRPr>
          </a:p>
          <a:p>
            <a:pPr marL="0" indent="0" algn="just" rtl="0">
              <a:buNone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Transform 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our </a:t>
            </a:r>
            <a:r>
              <a:rPr lang="en-US" sz="2400" b="1" dirty="0">
                <a:latin typeface="Cambria" pitchFamily="18" charset="0"/>
                <a:ea typeface="Cambria" pitchFamily="18" charset="0"/>
              </a:rPr>
              <a:t>Top 10 Revenue Generators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into active Brand Ambassadors through a structured </a:t>
            </a:r>
            <a:r>
              <a:rPr lang="en-US" sz="2400" b="1" dirty="0">
                <a:latin typeface="Cambria" pitchFamily="18" charset="0"/>
                <a:ea typeface="Cambria" pitchFamily="18" charset="0"/>
              </a:rPr>
              <a:t>Tiered Incentive Model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:</a:t>
            </a:r>
          </a:p>
          <a:p>
            <a:pPr marL="0" indent="0" algn="just" rtl="0">
              <a:buNone/>
            </a:pPr>
            <a:endParaRPr lang="en-US" sz="2400" dirty="0"/>
          </a:p>
          <a:p>
            <a:pPr algn="l" rtl="0"/>
            <a:r>
              <a:rPr lang="en-US" sz="2400" b="1" dirty="0">
                <a:latin typeface="Cambria" pitchFamily="18" charset="0"/>
                <a:ea typeface="Cambria" pitchFamily="18" charset="0"/>
              </a:rPr>
              <a:t>The Offer: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A </a:t>
            </a:r>
            <a:r>
              <a:rPr lang="en-US" sz="2400" b="1" dirty="0">
                <a:latin typeface="Cambria" pitchFamily="18" charset="0"/>
                <a:ea typeface="Cambria" pitchFamily="18" charset="0"/>
              </a:rPr>
              <a:t>30% Loyalty Discount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on curated "Genre-Specific Packages" for the existing customer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 algn="l" rtl="0">
              <a:buNone/>
            </a:pPr>
            <a:endParaRPr lang="en-US" sz="2400" dirty="0"/>
          </a:p>
          <a:p>
            <a:pPr algn="l" rtl="0"/>
            <a:r>
              <a:rPr lang="en-US" sz="2400" b="1" dirty="0">
                <a:latin typeface="Cambria" pitchFamily="18" charset="0"/>
                <a:ea typeface="Cambria" pitchFamily="18" charset="0"/>
              </a:rPr>
              <a:t>The Trigger: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Reward is unlocked for each successful new customer referral (Referral-for-Purchase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).</a:t>
            </a:r>
          </a:p>
          <a:p>
            <a:pPr marL="0" indent="0" algn="l" rtl="0">
              <a:buNone/>
            </a:pPr>
            <a:endParaRPr lang="en-US" sz="2400" dirty="0"/>
          </a:p>
          <a:p>
            <a:pPr algn="l" rtl="0"/>
            <a:r>
              <a:rPr lang="en-US" sz="2400" b="1" dirty="0">
                <a:latin typeface="Cambria" pitchFamily="18" charset="0"/>
                <a:ea typeface="Cambria" pitchFamily="18" charset="0"/>
              </a:rPr>
              <a:t>The Strategy: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Replicating the </a:t>
            </a:r>
            <a:r>
              <a:rPr lang="en-US" sz="2400" b="1" dirty="0">
                <a:latin typeface="Cambria" pitchFamily="18" charset="0"/>
                <a:ea typeface="Cambria" pitchFamily="18" charset="0"/>
              </a:rPr>
              <a:t>"High-Value Customer Profile"</a:t>
            </a:r>
            <a:r>
              <a:rPr lang="en-US" sz="2400" dirty="0">
                <a:latin typeface="Cambria" pitchFamily="18" charset="0"/>
                <a:ea typeface="Cambria" pitchFamily="18" charset="0"/>
              </a:rPr>
              <a:t> in our most profitable markets (USA, Czech Republic, Canada).</a:t>
            </a:r>
          </a:p>
          <a:p>
            <a:pPr marL="0" indent="0" algn="just" rtl="0">
              <a:buNone/>
            </a:pPr>
            <a:endParaRPr lang="en-US" sz="2400" b="1" dirty="0">
              <a:latin typeface="Constantia" pitchFamily="18" charset="0"/>
            </a:endParaRPr>
          </a:p>
          <a:p>
            <a:pPr marL="0" indent="0" algn="l" rtl="0">
              <a:buNone/>
            </a:pPr>
            <a:endParaRPr lang="en-US" b="1" dirty="0">
              <a:solidFill>
                <a:srgbClr val="FF3399"/>
              </a:solidFill>
              <a:latin typeface="Constantia" pitchFamily="18" charset="0"/>
            </a:endParaRPr>
          </a:p>
          <a:p>
            <a:pPr marL="0" indent="0" algn="l" rtl="0">
              <a:buNone/>
            </a:pPr>
            <a:endParaRPr lang="ar-EG" b="1" dirty="0">
              <a:solidFill>
                <a:srgbClr val="FF3399"/>
              </a:solidFill>
              <a:latin typeface="Constantia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rtl="0"/>
            <a:r>
              <a:rPr lang="en-US" sz="4800" b="1" dirty="0" smtClean="0">
                <a:solidFill>
                  <a:srgbClr val="FF0000"/>
                </a:solidFill>
                <a:latin typeface="Constantia" pitchFamily="18" charset="0"/>
              </a:rPr>
              <a:t>Business Recommendations : </a:t>
            </a:r>
            <a:endParaRPr lang="ar-EG" sz="4800" b="1" dirty="0">
              <a:solidFill>
                <a:srgbClr val="FF0000"/>
              </a:solidFill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698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60648"/>
            <a:ext cx="8496944" cy="5760640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16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Short-Term Impact (Immediate Gains</a:t>
            </a:r>
            <a:r>
              <a:rPr lang="en-US" sz="16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):</a:t>
            </a:r>
          </a:p>
          <a:p>
            <a:pPr marL="0" indent="0" algn="l" rtl="0">
              <a:buNone/>
            </a:pPr>
            <a:endParaRPr lang="en-US" sz="1600" b="1" dirty="0">
              <a:latin typeface="Cambria" pitchFamily="18" charset="0"/>
              <a:ea typeface="Cambria" pitchFamily="18" charset="0"/>
            </a:endParaRPr>
          </a:p>
          <a:p>
            <a:pPr algn="l" rtl="0"/>
            <a:r>
              <a:rPr lang="en-US" sz="1600" b="1" dirty="0">
                <a:latin typeface="Cambria" pitchFamily="18" charset="0"/>
                <a:ea typeface="Cambria" pitchFamily="18" charset="0"/>
              </a:rPr>
              <a:t>High-Yield ROI: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Achieving an immediate </a:t>
            </a:r>
            <a:r>
              <a:rPr lang="en-US" sz="1600" b="1" dirty="0">
                <a:latin typeface="Cambria" pitchFamily="18" charset="0"/>
                <a:ea typeface="Cambria" pitchFamily="18" charset="0"/>
              </a:rPr>
              <a:t>153% Return on Investment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per referral, covering the discount cost from the very first transaction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 algn="l" rtl="0">
              <a:buNone/>
            </a:pPr>
            <a:endParaRPr lang="en-US" sz="1600" dirty="0">
              <a:latin typeface="Cambria" pitchFamily="18" charset="0"/>
              <a:ea typeface="Cambria" pitchFamily="18" charset="0"/>
            </a:endParaRPr>
          </a:p>
          <a:p>
            <a:pPr algn="l" rtl="0"/>
            <a:r>
              <a:rPr lang="en-US" sz="1600" b="1" dirty="0">
                <a:latin typeface="Cambria" pitchFamily="18" charset="0"/>
                <a:ea typeface="Cambria" pitchFamily="18" charset="0"/>
              </a:rPr>
              <a:t>Rapid Market Penetration: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Targeted expansion of the customer base in top-tier regions with zero upfront advertising spend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 algn="l" rtl="0">
              <a:buNone/>
            </a:pPr>
            <a:endParaRPr lang="en-US" sz="1600" dirty="0">
              <a:latin typeface="Cambria" pitchFamily="18" charset="0"/>
              <a:ea typeface="Cambria" pitchFamily="18" charset="0"/>
            </a:endParaRPr>
          </a:p>
          <a:p>
            <a:pPr algn="l" rtl="0"/>
            <a:r>
              <a:rPr lang="en-US" sz="1600" b="1" dirty="0">
                <a:latin typeface="Cambria" pitchFamily="18" charset="0"/>
                <a:ea typeface="Cambria" pitchFamily="18" charset="0"/>
              </a:rPr>
              <a:t>Boosted Average Order Value (AOV):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Encouraging the purchase of full albums and "TV Show" bundles instead of single tracks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 algn="l" rtl="0">
              <a:buNone/>
            </a:pPr>
            <a:endParaRPr lang="en-US" sz="1600" dirty="0">
              <a:latin typeface="Cambria" pitchFamily="18" charset="0"/>
              <a:ea typeface="Cambria" pitchFamily="18" charset="0"/>
            </a:endParaRPr>
          </a:p>
          <a:p>
            <a:pPr marL="0" indent="0" algn="l" rtl="0">
              <a:buNone/>
            </a:pPr>
            <a:r>
              <a:rPr lang="en-US" sz="16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Long-Term </a:t>
            </a:r>
            <a:r>
              <a:rPr lang="en-US" sz="1600" b="1" dirty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Impact (Future Value</a:t>
            </a:r>
            <a:r>
              <a:rPr lang="en-US" sz="1600" b="1" dirty="0" smtClean="0">
                <a:solidFill>
                  <a:srgbClr val="FF0000"/>
                </a:solidFill>
                <a:latin typeface="Cambria" pitchFamily="18" charset="0"/>
                <a:ea typeface="Cambria" pitchFamily="18" charset="0"/>
              </a:rPr>
              <a:t>):</a:t>
            </a:r>
          </a:p>
          <a:p>
            <a:pPr marL="0" indent="0" algn="l" rtl="0">
              <a:buNone/>
            </a:pPr>
            <a:endParaRPr lang="en-US" sz="1600" b="1" dirty="0">
              <a:latin typeface="Cambria" pitchFamily="18" charset="0"/>
              <a:ea typeface="Cambria" pitchFamily="18" charset="0"/>
            </a:endParaRPr>
          </a:p>
          <a:p>
            <a:pPr algn="l" rtl="0"/>
            <a:r>
              <a:rPr lang="en-US" sz="1600" b="1" dirty="0">
                <a:latin typeface="Cambria" pitchFamily="18" charset="0"/>
                <a:ea typeface="Cambria" pitchFamily="18" charset="0"/>
              </a:rPr>
              <a:t>Compounded Lifetime Value (LTV):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Converting a one-time </a:t>
            </a:r>
            <a:r>
              <a:rPr lang="en-US" sz="1600" b="1" dirty="0">
                <a:latin typeface="Cambria" pitchFamily="18" charset="0"/>
                <a:ea typeface="Cambria" pitchFamily="18" charset="0"/>
              </a:rPr>
              <a:t>$2.23 discount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into a projected </a:t>
            </a:r>
            <a:r>
              <a:rPr lang="en-US" sz="1600" b="1" dirty="0">
                <a:latin typeface="Cambria" pitchFamily="18" charset="0"/>
                <a:ea typeface="Cambria" pitchFamily="18" charset="0"/>
              </a:rPr>
              <a:t>$39.55 in total revenue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per new customer over their lifecycle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0" indent="0" algn="l" rtl="0">
              <a:buNone/>
            </a:pPr>
            <a:endParaRPr lang="en-US" sz="1600" dirty="0">
              <a:latin typeface="Cambria" pitchFamily="18" charset="0"/>
              <a:ea typeface="Cambria" pitchFamily="18" charset="0"/>
            </a:endParaRPr>
          </a:p>
          <a:p>
            <a:pPr algn="l" rtl="0"/>
            <a:r>
              <a:rPr lang="en-US" sz="1600" b="1" dirty="0">
                <a:latin typeface="Cambria" pitchFamily="18" charset="0"/>
                <a:ea typeface="Cambria" pitchFamily="18" charset="0"/>
              </a:rPr>
              <a:t>Organic Growth Ecosystem: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Establishing a self-sustaining </a:t>
            </a:r>
            <a:r>
              <a:rPr lang="en-US" sz="1600" b="1" dirty="0">
                <a:latin typeface="Cambria" pitchFamily="18" charset="0"/>
                <a:ea typeface="Cambria" pitchFamily="18" charset="0"/>
              </a:rPr>
              <a:t>"Referral Loop"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that reduces long-term Customer Acquisition Costs (CAC</a:t>
            </a:r>
            <a:r>
              <a:rPr lang="en-US" sz="1600" dirty="0" smtClean="0">
                <a:latin typeface="Cambria" pitchFamily="18" charset="0"/>
                <a:ea typeface="Cambria" pitchFamily="18" charset="0"/>
              </a:rPr>
              <a:t>).</a:t>
            </a:r>
          </a:p>
          <a:p>
            <a:pPr marL="0" indent="0" algn="l" rtl="0">
              <a:buNone/>
            </a:pPr>
            <a:endParaRPr lang="en-US" sz="1600" dirty="0">
              <a:latin typeface="Cambria" pitchFamily="18" charset="0"/>
              <a:ea typeface="Cambria" pitchFamily="18" charset="0"/>
            </a:endParaRPr>
          </a:p>
          <a:p>
            <a:pPr algn="l" rtl="0"/>
            <a:r>
              <a:rPr lang="en-US" sz="1600" b="1" dirty="0">
                <a:latin typeface="Cambria" pitchFamily="18" charset="0"/>
                <a:ea typeface="Cambria" pitchFamily="18" charset="0"/>
              </a:rPr>
              <a:t>Market Leadership: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Solidifying Chinook’s position as a </a:t>
            </a:r>
            <a:r>
              <a:rPr lang="en-US" sz="1600" b="1" dirty="0">
                <a:latin typeface="Cambria" pitchFamily="18" charset="0"/>
                <a:ea typeface="Cambria" pitchFamily="18" charset="0"/>
              </a:rPr>
              <a:t>"One-Stop Shop"</a:t>
            </a:r>
            <a:r>
              <a:rPr lang="en-US" sz="1600" dirty="0">
                <a:latin typeface="Cambria" pitchFamily="18" charset="0"/>
                <a:ea typeface="Cambria" pitchFamily="18" charset="0"/>
              </a:rPr>
              <a:t> by building loyal micro-communities around specific musical genres.</a:t>
            </a:r>
          </a:p>
          <a:p>
            <a:pPr algn="l" rtl="0"/>
            <a:endParaRPr lang="ar-EG" sz="600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5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ysClr val="windowText" lastClr="000000"/>
      </a:dk1>
      <a:lt1>
        <a:sysClr val="window" lastClr="FFFFFF"/>
      </a:lt1>
      <a:dk2>
        <a:srgbClr val="1B1E3D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882</Words>
  <Application>Microsoft Office PowerPoint</Application>
  <PresentationFormat>On-screen Show (4:3)</PresentationFormat>
  <Paragraphs>105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Chinook Music Online Store Performance Analysis </vt:lpstr>
      <vt:lpstr>Sales Performance Analysis</vt:lpstr>
      <vt:lpstr>1.Sales by Year</vt:lpstr>
      <vt:lpstr>2.Sales by Quarter  </vt:lpstr>
      <vt:lpstr>3.Sales by Country </vt:lpstr>
      <vt:lpstr>PowerPoint Presentation</vt:lpstr>
      <vt:lpstr>PowerPoint Presentation</vt:lpstr>
      <vt:lpstr>PowerPoint Presentation</vt:lpstr>
      <vt:lpstr>Customer Behavior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 10 Revenue-Generators’ Musical Preferences </vt:lpstr>
      <vt:lpstr>Employee Performance Analysis</vt:lpstr>
      <vt:lpstr> This Sections aims to Evaluate Support Team Efficiency &amp; Sales Contribution. </vt:lpstr>
      <vt:lpstr>Final Conclusion : </vt:lpstr>
      <vt:lpstr>Business Recommendations : </vt:lpstr>
      <vt:lpstr>Business Recommendations :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Elashry</dc:creator>
  <cp:lastModifiedBy>Ahmed Elashry</cp:lastModifiedBy>
  <cp:revision>129</cp:revision>
  <dcterms:created xsi:type="dcterms:W3CDTF">2026-04-16T18:06:50Z</dcterms:created>
  <dcterms:modified xsi:type="dcterms:W3CDTF">2026-05-17T16:50:50Z</dcterms:modified>
</cp:coreProperties>
</file>